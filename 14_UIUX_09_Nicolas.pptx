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notesSlide+xml" PartName="/ppt/notesSlides/notesSlide61.xml"/>
  <Override ContentType="application/vnd.openxmlformats-officedocument.presentationml.notesSlide+xml" PartName="/ppt/notesSlides/notesSlide62.xml"/>
  <Override ContentType="application/vnd.openxmlformats-officedocument.presentationml.notesSlide+xml" PartName="/ppt/notesSlides/notesSlide63.xml"/>
  <Override ContentType="application/vnd.openxmlformats-officedocument.presentationml.notesSlide+xml" PartName="/ppt/notesSlides/notesSlide64.xml"/>
  <Override ContentType="application/vnd.openxmlformats-officedocument.presentationml.notesSlide+xml" PartName="/ppt/notesSlides/notesSlide6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x="18288000" cy="10287000"/>
  <p:notesSz cx="6858000" cy="9144000"/>
  <p:embeddedFontLst>
    <p:embeddedFont>
      <p:font typeface="Poppins Bold" charset="1" panose="00000800000000000000"/>
      <p:regular r:id="rId75"/>
    </p:embeddedFont>
    <p:embeddedFont>
      <p:font typeface="Arimo Bold" charset="1" panose="020B0704020202020204"/>
      <p:regular r:id="rId76"/>
    </p:embeddedFont>
    <p:embeddedFont>
      <p:font typeface="Ubuntu Bold" charset="1" panose="020B0804030602030204"/>
      <p:regular r:id="rId78"/>
    </p:embeddedFont>
    <p:embeddedFont>
      <p:font typeface="Open Sans Bold" charset="1" panose="020B0806030504020204"/>
      <p:regular r:id="rId80"/>
    </p:embeddedFont>
    <p:embeddedFont>
      <p:font typeface="Arimo" charset="1" panose="020B0604020202020204"/>
      <p:regular r:id="rId81"/>
    </p:embeddedFont>
    <p:embeddedFont>
      <p:font typeface="Open Sans" charset="1" panose="020B0606030504020204"/>
      <p:regular r:id="rId82"/>
    </p:embeddedFont>
    <p:embeddedFont>
      <p:font typeface="Ubuntu" charset="1" panose="020B0504030602030204"/>
      <p:regular r:id="rId85"/>
    </p:embeddedFont>
    <p:embeddedFont>
      <p:font typeface="Questrial" charset="1" panose="00000000000000000000"/>
      <p:regular r:id="rId95"/>
    </p:embeddedFont>
    <p:embeddedFont>
      <p:font typeface="League Spartan" charset="1" panose="00000800000000000000"/>
      <p:regular r:id="rId130"/>
    </p:embeddedFont>
    <p:embeddedFont>
      <p:font typeface="More Sugar" charset="1" panose="00000000000000000000"/>
      <p:regular r:id="rId131"/>
    </p:embeddedFont>
    <p:embeddedFont>
      <p:font typeface="Times New Roman" charset="1" panose="02020603050405020304"/>
      <p:regular r:id="rId1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19.xml" Type="http://schemas.openxmlformats.org/officeDocument/2006/relationships/notesSlide"/><Relationship Id="rId101" Target="notesSlides/notesSlide20.xml" Type="http://schemas.openxmlformats.org/officeDocument/2006/relationships/notesSlide"/><Relationship Id="rId102" Target="notesSlides/notesSlide21.xml" Type="http://schemas.openxmlformats.org/officeDocument/2006/relationships/notesSlide"/><Relationship Id="rId103" Target="notesSlides/notesSlide22.xml" Type="http://schemas.openxmlformats.org/officeDocument/2006/relationships/notesSlide"/><Relationship Id="rId104" Target="notesSlides/notesSlide23.xml" Type="http://schemas.openxmlformats.org/officeDocument/2006/relationships/notesSlide"/><Relationship Id="rId105" Target="notesSlides/notesSlide24.xml" Type="http://schemas.openxmlformats.org/officeDocument/2006/relationships/notesSlide"/><Relationship Id="rId106" Target="notesSlides/notesSlide25.xml" Type="http://schemas.openxmlformats.org/officeDocument/2006/relationships/notesSlide"/><Relationship Id="rId107" Target="notesSlides/notesSlide26.xml" Type="http://schemas.openxmlformats.org/officeDocument/2006/relationships/notesSlide"/><Relationship Id="rId108" Target="notesSlides/notesSlide27.xml" Type="http://schemas.openxmlformats.org/officeDocument/2006/relationships/notesSlide"/><Relationship Id="rId109" Target="notesSlides/notesSlide28.xml" Type="http://schemas.openxmlformats.org/officeDocument/2006/relationships/notesSlide"/><Relationship Id="rId11" Target="slides/slide6.xml" Type="http://schemas.openxmlformats.org/officeDocument/2006/relationships/slide"/><Relationship Id="rId110" Target="notesSlides/notesSlide29.xml" Type="http://schemas.openxmlformats.org/officeDocument/2006/relationships/notesSlide"/><Relationship Id="rId111" Target="notesSlides/notesSlide30.xml" Type="http://schemas.openxmlformats.org/officeDocument/2006/relationships/notesSlide"/><Relationship Id="rId112" Target="notesSlides/notesSlide31.xml" Type="http://schemas.openxmlformats.org/officeDocument/2006/relationships/notesSlide"/><Relationship Id="rId113" Target="notesSlides/notesSlide32.xml" Type="http://schemas.openxmlformats.org/officeDocument/2006/relationships/notesSlide"/><Relationship Id="rId114" Target="notesSlides/notesSlide33.xml" Type="http://schemas.openxmlformats.org/officeDocument/2006/relationships/notesSlide"/><Relationship Id="rId115" Target="notesSlides/notesSlide34.xml" Type="http://schemas.openxmlformats.org/officeDocument/2006/relationships/notesSlide"/><Relationship Id="rId116" Target="notesSlides/notesSlide35.xml" Type="http://schemas.openxmlformats.org/officeDocument/2006/relationships/notesSlide"/><Relationship Id="rId117" Target="notesSlides/notesSlide36.xml" Type="http://schemas.openxmlformats.org/officeDocument/2006/relationships/notesSlide"/><Relationship Id="rId118" Target="notesSlides/notesSlide37.xml" Type="http://schemas.openxmlformats.org/officeDocument/2006/relationships/notesSlide"/><Relationship Id="rId119" Target="notesSlides/notesSlide38.xml" Type="http://schemas.openxmlformats.org/officeDocument/2006/relationships/notesSlide"/><Relationship Id="rId12" Target="slides/slide7.xml" Type="http://schemas.openxmlformats.org/officeDocument/2006/relationships/slide"/><Relationship Id="rId120" Target="notesSlides/notesSlide39.xml" Type="http://schemas.openxmlformats.org/officeDocument/2006/relationships/notesSlide"/><Relationship Id="rId121" Target="notesSlides/notesSlide40.xml" Type="http://schemas.openxmlformats.org/officeDocument/2006/relationships/notesSlide"/><Relationship Id="rId122" Target="notesSlides/notesSlide41.xml" Type="http://schemas.openxmlformats.org/officeDocument/2006/relationships/notesSlide"/><Relationship Id="rId123" Target="notesSlides/notesSlide42.xml" Type="http://schemas.openxmlformats.org/officeDocument/2006/relationships/notesSlide"/><Relationship Id="rId124" Target="notesSlides/notesSlide43.xml" Type="http://schemas.openxmlformats.org/officeDocument/2006/relationships/notesSlide"/><Relationship Id="rId125" Target="notesSlides/notesSlide44.xml" Type="http://schemas.openxmlformats.org/officeDocument/2006/relationships/notesSlide"/><Relationship Id="rId126" Target="notesSlides/notesSlide45.xml" Type="http://schemas.openxmlformats.org/officeDocument/2006/relationships/notesSlide"/><Relationship Id="rId127" Target="notesSlides/notesSlide46.xml" Type="http://schemas.openxmlformats.org/officeDocument/2006/relationships/notesSlide"/><Relationship Id="rId128" Target="notesSlides/notesSlide47.xml" Type="http://schemas.openxmlformats.org/officeDocument/2006/relationships/notesSlide"/><Relationship Id="rId129" Target="notesSlides/notesSlide48.xml" Type="http://schemas.openxmlformats.org/officeDocument/2006/relationships/notesSlide"/><Relationship Id="rId13" Target="slides/slide8.xml" Type="http://schemas.openxmlformats.org/officeDocument/2006/relationships/slide"/><Relationship Id="rId130" Target="fonts/font130.fntdata" Type="http://schemas.openxmlformats.org/officeDocument/2006/relationships/font"/><Relationship Id="rId131" Target="fonts/font131.fntdata" Type="http://schemas.openxmlformats.org/officeDocument/2006/relationships/font"/><Relationship Id="rId132" Target="notesSlides/notesSlide49.xml" Type="http://schemas.openxmlformats.org/officeDocument/2006/relationships/notesSlide"/><Relationship Id="rId133" Target="notesSlides/notesSlide50.xml" Type="http://schemas.openxmlformats.org/officeDocument/2006/relationships/notesSlide"/><Relationship Id="rId134" Target="notesSlides/notesSlide51.xml" Type="http://schemas.openxmlformats.org/officeDocument/2006/relationships/notesSlide"/><Relationship Id="rId135" Target="notesSlides/notesSlide52.xml" Type="http://schemas.openxmlformats.org/officeDocument/2006/relationships/notesSlide"/><Relationship Id="rId136" Target="notesSlides/notesSlide53.xml" Type="http://schemas.openxmlformats.org/officeDocument/2006/relationships/notesSlide"/><Relationship Id="rId137" Target="notesSlides/notesSlide54.xml" Type="http://schemas.openxmlformats.org/officeDocument/2006/relationships/notesSlide"/><Relationship Id="rId138" Target="notesSlides/notesSlide55.xml" Type="http://schemas.openxmlformats.org/officeDocument/2006/relationships/notesSlide"/><Relationship Id="rId139" Target="notesSlides/notesSlide56.xml" Type="http://schemas.openxmlformats.org/officeDocument/2006/relationships/notesSlide"/><Relationship Id="rId14" Target="slides/slide9.xml" Type="http://schemas.openxmlformats.org/officeDocument/2006/relationships/slide"/><Relationship Id="rId140" Target="notesSlides/notesSlide57.xml" Type="http://schemas.openxmlformats.org/officeDocument/2006/relationships/notesSlide"/><Relationship Id="rId141" Target="notesSlides/notesSlide58.xml" Type="http://schemas.openxmlformats.org/officeDocument/2006/relationships/notesSlide"/><Relationship Id="rId142" Target="notesSlides/notesSlide59.xml" Type="http://schemas.openxmlformats.org/officeDocument/2006/relationships/notesSlide"/><Relationship Id="rId143" Target="notesSlides/notesSlide60.xml" Type="http://schemas.openxmlformats.org/officeDocument/2006/relationships/notesSlide"/><Relationship Id="rId144" Target="notesSlides/notesSlide61.xml" Type="http://schemas.openxmlformats.org/officeDocument/2006/relationships/notesSlide"/><Relationship Id="rId145" Target="notesSlides/notesSlide62.xml" Type="http://schemas.openxmlformats.org/officeDocument/2006/relationships/notesSlide"/><Relationship Id="rId146" Target="notesSlides/notesSlide63.xml" Type="http://schemas.openxmlformats.org/officeDocument/2006/relationships/notesSlide"/><Relationship Id="rId147" Target="notesSlides/notesSlide64.xml" Type="http://schemas.openxmlformats.org/officeDocument/2006/relationships/notesSlide"/><Relationship Id="rId148" Target="fonts/font148.fntdata" Type="http://schemas.openxmlformats.org/officeDocument/2006/relationships/font"/><Relationship Id="rId149" Target="notesSlides/notesSlide65.xml" Type="http://schemas.openxmlformats.org/officeDocument/2006/relationships/note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notesMasters/notesMaster1.xml" Type="http://schemas.openxmlformats.org/officeDocument/2006/relationships/notesMaster"/><Relationship Id="rId73" Target="theme/theme2.xml" Type="http://schemas.openxmlformats.org/officeDocument/2006/relationships/theme"/><Relationship Id="rId74" Target="notesSlides/notesSlide1.xml" Type="http://schemas.openxmlformats.org/officeDocument/2006/relationships/notesSlide"/><Relationship Id="rId75" Target="fonts/font75.fntdata" Type="http://schemas.openxmlformats.org/officeDocument/2006/relationships/font"/><Relationship Id="rId76" Target="fonts/font76.fntdata" Type="http://schemas.openxmlformats.org/officeDocument/2006/relationships/font"/><Relationship Id="rId77" Target="notesSlides/notesSlide2.xml" Type="http://schemas.openxmlformats.org/officeDocument/2006/relationships/notesSlide"/><Relationship Id="rId78" Target="fonts/font78.fntdata" Type="http://schemas.openxmlformats.org/officeDocument/2006/relationships/font"/><Relationship Id="rId79" Target="notesSlides/notesSlide3.xml" Type="http://schemas.openxmlformats.org/officeDocument/2006/relationships/notesSlide"/><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notesSlides/notesSlide4.xml" Type="http://schemas.openxmlformats.org/officeDocument/2006/relationships/notesSlide"/><Relationship Id="rId84" Target="notesSlides/notesSlide5.xml" Type="http://schemas.openxmlformats.org/officeDocument/2006/relationships/notesSlide"/><Relationship Id="rId85" Target="fonts/font85.fntdata" Type="http://schemas.openxmlformats.org/officeDocument/2006/relationships/font"/><Relationship Id="rId86" Target="notesSlides/notesSlide6.xml" Type="http://schemas.openxmlformats.org/officeDocument/2006/relationships/notesSlide"/><Relationship Id="rId87" Target="notesSlides/notesSlide7.xml" Type="http://schemas.openxmlformats.org/officeDocument/2006/relationships/notesSlide"/><Relationship Id="rId88" Target="notesSlides/notesSlide8.xml" Type="http://schemas.openxmlformats.org/officeDocument/2006/relationships/notesSlide"/><Relationship Id="rId89" Target="notesSlides/notesSlide9.xml" Type="http://schemas.openxmlformats.org/officeDocument/2006/relationships/notesSlide"/><Relationship Id="rId9" Target="slides/slide4.xml" Type="http://schemas.openxmlformats.org/officeDocument/2006/relationships/slide"/><Relationship Id="rId90" Target="notesSlides/notesSlide10.xml" Type="http://schemas.openxmlformats.org/officeDocument/2006/relationships/notesSlide"/><Relationship Id="rId91" Target="notesSlides/notesSlide11.xml" Type="http://schemas.openxmlformats.org/officeDocument/2006/relationships/notesSlide"/><Relationship Id="rId92" Target="notesSlides/notesSlide12.xml" Type="http://schemas.openxmlformats.org/officeDocument/2006/relationships/notesSlide"/><Relationship Id="rId93" Target="notesSlides/notesSlide13.xml" Type="http://schemas.openxmlformats.org/officeDocument/2006/relationships/notesSlide"/><Relationship Id="rId94" Target="notesSlides/notesSlide14.xml" Type="http://schemas.openxmlformats.org/officeDocument/2006/relationships/notesSlide"/><Relationship Id="rId95" Target="fonts/font95.fntdata" Type="http://schemas.openxmlformats.org/officeDocument/2006/relationships/font"/><Relationship Id="rId96" Target="notesSlides/notesSlide15.xml" Type="http://schemas.openxmlformats.org/officeDocument/2006/relationships/notesSlide"/><Relationship Id="rId97" Target="notesSlides/notesSlide16.xml" Type="http://schemas.openxmlformats.org/officeDocument/2006/relationships/notesSlide"/><Relationship Id="rId98" Target="notesSlides/notesSlide17.xml" Type="http://schemas.openxmlformats.org/officeDocument/2006/relationships/notesSlide"/><Relationship Id="rId99" Target="notesSlides/notesSlide18.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6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_rels/notesSlide6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3.xml" Type="http://schemas.openxmlformats.org/officeDocument/2006/relationships/slide"/></Relationships>
</file>

<file path=ppt/notesSlides/_rels/notesSlide6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4.xml" Type="http://schemas.openxmlformats.org/officeDocument/2006/relationships/slide"/></Relationships>
</file>

<file path=ppt/notesSlides/_rels/notesSlide6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5.xml" Type="http://schemas.openxmlformats.org/officeDocument/2006/relationships/slide"/></Relationships>
</file>

<file path=ppt/notesSlides/_rels/notesSlide6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17.png" Type="http://schemas.openxmlformats.org/officeDocument/2006/relationships/image"/><Relationship Id="rId2" Target="../notesSlides/notesSlide1.xml" Type="http://schemas.openxmlformats.org/officeDocument/2006/relationships/notesSlide"/><Relationship Id="rId20" Target="../media/image18.svg" Type="http://schemas.openxmlformats.org/officeDocument/2006/relationships/image"/><Relationship Id="rId21" Target="../media/image19.png" Type="http://schemas.openxmlformats.org/officeDocument/2006/relationships/image"/><Relationship Id="rId22" Target="../media/image20.svg" Type="http://schemas.openxmlformats.org/officeDocument/2006/relationships/image"/><Relationship Id="rId23" Target="../media/image21.png" Type="http://schemas.openxmlformats.org/officeDocument/2006/relationships/image"/><Relationship Id="rId24" Target="../media/image22.svg" Type="http://schemas.openxmlformats.org/officeDocument/2006/relationships/image"/><Relationship Id="rId25" Target="../media/image23.png" Type="http://schemas.openxmlformats.org/officeDocument/2006/relationships/image"/><Relationship Id="rId26" Target="../media/image24.svg" Type="http://schemas.openxmlformats.org/officeDocument/2006/relationships/image"/><Relationship Id="rId27" Target="../media/image25.png" Type="http://schemas.openxmlformats.org/officeDocument/2006/relationships/image"/><Relationship Id="rId28" Target="../media/image26.svg" Type="http://schemas.openxmlformats.org/officeDocument/2006/relationships/image"/><Relationship Id="rId29" Target="../media/image27.png" Type="http://schemas.openxmlformats.org/officeDocument/2006/relationships/image"/><Relationship Id="rId3" Target="../media/image1.png" Type="http://schemas.openxmlformats.org/officeDocument/2006/relationships/image"/><Relationship Id="rId30" Target="../media/image28.svg" Type="http://schemas.openxmlformats.org/officeDocument/2006/relationships/image"/><Relationship Id="rId31" Target="../media/image29.png" Type="http://schemas.openxmlformats.org/officeDocument/2006/relationships/image"/><Relationship Id="rId32" Target="../media/image30.sv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svg" Type="http://schemas.openxmlformats.org/officeDocument/2006/relationships/image"/><Relationship Id="rId11" Target="../media/image5.png" Type="http://schemas.openxmlformats.org/officeDocument/2006/relationships/image"/><Relationship Id="rId12" Target="../media/image39.svg" Type="http://schemas.openxmlformats.org/officeDocument/2006/relationships/image"/><Relationship Id="rId13" Target="../media/image6.svg" Type="http://schemas.openxmlformats.org/officeDocument/2006/relationships/image"/><Relationship Id="rId14" Target="../media/image40.png" Type="http://schemas.openxmlformats.org/officeDocument/2006/relationships/image"/><Relationship Id="rId15" Target="../media/image41.svg" Type="http://schemas.openxmlformats.org/officeDocument/2006/relationships/image"/><Relationship Id="rId16" Target="../media/image42.png" Type="http://schemas.openxmlformats.org/officeDocument/2006/relationships/image"/><Relationship Id="rId17" Target="../media/image43.svg" Type="http://schemas.openxmlformats.org/officeDocument/2006/relationships/image"/><Relationship Id="rId18" Target="../media/image44.png" Type="http://schemas.openxmlformats.org/officeDocument/2006/relationships/image"/><Relationship Id="rId19" Target="../media/image45.svg" Type="http://schemas.openxmlformats.org/officeDocument/2006/relationships/image"/><Relationship Id="rId2" Target="../notesSlides/notesSlide2.xml" Type="http://schemas.openxmlformats.org/officeDocument/2006/relationships/notesSlid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13" Target="../media/image50.png" Type="http://schemas.openxmlformats.org/officeDocument/2006/relationships/image"/><Relationship Id="rId14" Target="../media/image51.svg" Type="http://schemas.openxmlformats.org/officeDocument/2006/relationships/image"/><Relationship Id="rId15" Target="../media/image52.png" Type="http://schemas.openxmlformats.org/officeDocument/2006/relationships/image"/><Relationship Id="rId16" Target="../media/image53.svg" Type="http://schemas.openxmlformats.org/officeDocument/2006/relationships/image"/><Relationship Id="rId17" Target="../media/image54.png" Type="http://schemas.openxmlformats.org/officeDocument/2006/relationships/image"/><Relationship Id="rId18" Target="../media/image55.svg" Type="http://schemas.openxmlformats.org/officeDocument/2006/relationships/image"/><Relationship Id="rId19" Target="../media/image56.png" Type="http://schemas.openxmlformats.org/officeDocument/2006/relationships/image"/><Relationship Id="rId2" Target="../notesSlides/notesSlide3.xml" Type="http://schemas.openxmlformats.org/officeDocument/2006/relationships/notesSlide"/><Relationship Id="rId20" Target="../media/image57.svg" Type="http://schemas.openxmlformats.org/officeDocument/2006/relationships/image"/><Relationship Id="rId21" Target="../media/image39.svg" Type="http://schemas.openxmlformats.org/officeDocument/2006/relationships/image"/><Relationship Id="rId22" Target="../media/image58.png" Type="http://schemas.openxmlformats.org/officeDocument/2006/relationships/image"/><Relationship Id="rId23" Target="../media/image59.svg" Type="http://schemas.openxmlformats.org/officeDocument/2006/relationships/image"/><Relationship Id="rId24" Target="../media/image60.png" Type="http://schemas.openxmlformats.org/officeDocument/2006/relationships/image"/><Relationship Id="rId25" Target="../media/image61.svg" Type="http://schemas.openxmlformats.org/officeDocument/2006/relationships/image"/><Relationship Id="rId26" Target="../media/image62.png" Type="http://schemas.openxmlformats.org/officeDocument/2006/relationships/image"/><Relationship Id="rId27" Target="../media/image63.svg" Type="http://schemas.openxmlformats.org/officeDocument/2006/relationships/image"/><Relationship Id="rId28" Target="../media/image64.png" Type="http://schemas.openxmlformats.org/officeDocument/2006/relationships/image"/><Relationship Id="rId29" Target="../media/image65.sv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svg" Type="http://schemas.openxmlformats.org/officeDocument/2006/relationships/image"/><Relationship Id="rId12" Target="../media/image72.png" Type="http://schemas.openxmlformats.org/officeDocument/2006/relationships/image"/><Relationship Id="rId13" Target="../media/image73.svg" Type="http://schemas.openxmlformats.org/officeDocument/2006/relationships/image"/><Relationship Id="rId14" Target="../media/image74.png" Type="http://schemas.openxmlformats.org/officeDocument/2006/relationships/image"/><Relationship Id="rId15" Target="../media/image75.svg" Type="http://schemas.openxmlformats.org/officeDocument/2006/relationships/image"/><Relationship Id="rId16" Target="../media/image76.png" Type="http://schemas.openxmlformats.org/officeDocument/2006/relationships/image"/><Relationship Id="rId17" Target="../media/image77.png" Type="http://schemas.openxmlformats.org/officeDocument/2006/relationships/image"/><Relationship Id="rId2" Target="../notesSlides/notesSlide4.xml" Type="http://schemas.openxmlformats.org/officeDocument/2006/relationships/notesSlide"/><Relationship Id="rId3" Target="../media/image66.png" Type="http://schemas.openxmlformats.org/officeDocument/2006/relationships/image"/><Relationship Id="rId4" Target="../media/image67.svg" Type="http://schemas.openxmlformats.org/officeDocument/2006/relationships/image"/><Relationship Id="rId5" Target="../media/image5.png" Type="http://schemas.openxmlformats.org/officeDocument/2006/relationships/image"/><Relationship Id="rId6" Target="../media/image39.svg" Type="http://schemas.openxmlformats.org/officeDocument/2006/relationships/image"/><Relationship Id="rId7" Target="../media/image6.svg" Type="http://schemas.openxmlformats.org/officeDocument/2006/relationships/image"/><Relationship Id="rId8" Target="../media/image68.png" Type="http://schemas.openxmlformats.org/officeDocument/2006/relationships/image"/><Relationship Id="rId9" Target="../media/image6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svg" Type="http://schemas.openxmlformats.org/officeDocument/2006/relationships/image"/><Relationship Id="rId12" Target="../media/image72.png" Type="http://schemas.openxmlformats.org/officeDocument/2006/relationships/image"/><Relationship Id="rId13" Target="../media/image73.svg" Type="http://schemas.openxmlformats.org/officeDocument/2006/relationships/image"/><Relationship Id="rId14" Target="../media/image74.png" Type="http://schemas.openxmlformats.org/officeDocument/2006/relationships/image"/><Relationship Id="rId15" Target="../media/image75.svg" Type="http://schemas.openxmlformats.org/officeDocument/2006/relationships/image"/><Relationship Id="rId16" Target="../media/image78.png" Type="http://schemas.openxmlformats.org/officeDocument/2006/relationships/image"/><Relationship Id="rId2" Target="../notesSlides/notesSlide5.xml" Type="http://schemas.openxmlformats.org/officeDocument/2006/relationships/notesSlide"/><Relationship Id="rId3" Target="../media/image66.png" Type="http://schemas.openxmlformats.org/officeDocument/2006/relationships/image"/><Relationship Id="rId4" Target="../media/image67.svg" Type="http://schemas.openxmlformats.org/officeDocument/2006/relationships/image"/><Relationship Id="rId5" Target="../media/image5.png" Type="http://schemas.openxmlformats.org/officeDocument/2006/relationships/image"/><Relationship Id="rId6" Target="../media/image39.svg" Type="http://schemas.openxmlformats.org/officeDocument/2006/relationships/image"/><Relationship Id="rId7" Target="../media/image6.svg" Type="http://schemas.openxmlformats.org/officeDocument/2006/relationships/image"/><Relationship Id="rId8" Target="../media/image68.png" Type="http://schemas.openxmlformats.org/officeDocument/2006/relationships/image"/><Relationship Id="rId9" Target="../media/image6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svg" Type="http://schemas.openxmlformats.org/officeDocument/2006/relationships/image"/><Relationship Id="rId12" Target="../media/image72.png" Type="http://schemas.openxmlformats.org/officeDocument/2006/relationships/image"/><Relationship Id="rId13" Target="../media/image73.svg" Type="http://schemas.openxmlformats.org/officeDocument/2006/relationships/image"/><Relationship Id="rId14" Target="../media/image74.png" Type="http://schemas.openxmlformats.org/officeDocument/2006/relationships/image"/><Relationship Id="rId15" Target="../media/image75.svg" Type="http://schemas.openxmlformats.org/officeDocument/2006/relationships/image"/><Relationship Id="rId2" Target="../notesSlides/notesSlide6.xml" Type="http://schemas.openxmlformats.org/officeDocument/2006/relationships/notesSlide"/><Relationship Id="rId3" Target="../media/image66.png" Type="http://schemas.openxmlformats.org/officeDocument/2006/relationships/image"/><Relationship Id="rId4" Target="../media/image67.svg" Type="http://schemas.openxmlformats.org/officeDocument/2006/relationships/image"/><Relationship Id="rId5" Target="../media/image5.png" Type="http://schemas.openxmlformats.org/officeDocument/2006/relationships/image"/><Relationship Id="rId6" Target="../media/image39.svg" Type="http://schemas.openxmlformats.org/officeDocument/2006/relationships/image"/><Relationship Id="rId7" Target="../media/image6.svg" Type="http://schemas.openxmlformats.org/officeDocument/2006/relationships/image"/><Relationship Id="rId8" Target="../media/image68.png" Type="http://schemas.openxmlformats.org/officeDocument/2006/relationships/image"/><Relationship Id="rId9" Target="../media/image6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39.svg" Type="http://schemas.openxmlformats.org/officeDocument/2006/relationships/image"/><Relationship Id="rId12" Target="../media/image85.png" Type="http://schemas.openxmlformats.org/officeDocument/2006/relationships/image"/><Relationship Id="rId13" Target="../media/image86.svg" Type="http://schemas.openxmlformats.org/officeDocument/2006/relationships/image"/><Relationship Id="rId14" Target="../media/image87.png" Type="http://schemas.openxmlformats.org/officeDocument/2006/relationships/image"/><Relationship Id="rId15" Target="../media/image88.svg" Type="http://schemas.openxmlformats.org/officeDocument/2006/relationships/image"/><Relationship Id="rId16" Target="../media/image89.png" Type="http://schemas.openxmlformats.org/officeDocument/2006/relationships/image"/><Relationship Id="rId17" Target="../media/image90.svg" Type="http://schemas.openxmlformats.org/officeDocument/2006/relationships/image"/><Relationship Id="rId18" Target="../media/image91.png" Type="http://schemas.openxmlformats.org/officeDocument/2006/relationships/image"/><Relationship Id="rId19" Target="../media/image92.svg" Type="http://schemas.openxmlformats.org/officeDocument/2006/relationships/image"/><Relationship Id="rId2" Target="../notesSlides/notesSlide7.xml" Type="http://schemas.openxmlformats.org/officeDocument/2006/relationships/notesSlide"/><Relationship Id="rId20" Target="../media/image93.png" Type="http://schemas.openxmlformats.org/officeDocument/2006/relationships/image"/><Relationship Id="rId21" Target="../media/image94.svg" Type="http://schemas.openxmlformats.org/officeDocument/2006/relationships/image"/><Relationship Id="rId22" Target="../media/image95.png" Type="http://schemas.openxmlformats.org/officeDocument/2006/relationships/image"/><Relationship Id="rId23" Target="../media/image96.svg" Type="http://schemas.openxmlformats.org/officeDocument/2006/relationships/image"/><Relationship Id="rId24" Target="../media/image97.png" Type="http://schemas.openxmlformats.org/officeDocument/2006/relationships/image"/><Relationship Id="rId25" Target="../media/image98.svg" Type="http://schemas.openxmlformats.org/officeDocument/2006/relationships/image"/><Relationship Id="rId26" Target="../media/image99.png" Type="http://schemas.openxmlformats.org/officeDocument/2006/relationships/image"/><Relationship Id="rId27" Target="../media/image100.svg" Type="http://schemas.openxmlformats.org/officeDocument/2006/relationships/image"/><Relationship Id="rId28" Target="../media/image101.png" Type="http://schemas.openxmlformats.org/officeDocument/2006/relationships/image"/><Relationship Id="rId29" Target="../media/image102.svg" Type="http://schemas.openxmlformats.org/officeDocument/2006/relationships/image"/><Relationship Id="rId3" Target="../media/image79.png" Type="http://schemas.openxmlformats.org/officeDocument/2006/relationships/image"/><Relationship Id="rId30" Target="../media/image103.png" Type="http://schemas.openxmlformats.org/officeDocument/2006/relationships/image"/><Relationship Id="rId4" Target="../media/image80.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83.png" Type="http://schemas.openxmlformats.org/officeDocument/2006/relationships/image"/><Relationship Id="rId8" Target="../media/image84.svg" Type="http://schemas.openxmlformats.org/officeDocument/2006/relationships/image"/><Relationship Id="rId9"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9.svg" Type="http://schemas.openxmlformats.org/officeDocument/2006/relationships/image"/><Relationship Id="rId11" Target="../media/image110.png" Type="http://schemas.openxmlformats.org/officeDocument/2006/relationships/image"/><Relationship Id="rId12" Target="../media/image111.svg" Type="http://schemas.openxmlformats.org/officeDocument/2006/relationships/image"/><Relationship Id="rId13" Target="../media/image112.png" Type="http://schemas.openxmlformats.org/officeDocument/2006/relationships/image"/><Relationship Id="rId14" Target="../media/image113.svg" Type="http://schemas.openxmlformats.org/officeDocument/2006/relationships/image"/><Relationship Id="rId15" Target="../media/image114.png" Type="http://schemas.openxmlformats.org/officeDocument/2006/relationships/image"/><Relationship Id="rId16" Target="../media/image115.svg" Type="http://schemas.openxmlformats.org/officeDocument/2006/relationships/image"/><Relationship Id="rId17" Target="../media/image116.png" Type="http://schemas.openxmlformats.org/officeDocument/2006/relationships/image"/><Relationship Id="rId18" Target="../media/image117.svg" Type="http://schemas.openxmlformats.org/officeDocument/2006/relationships/image"/><Relationship Id="rId19" Target="../media/image118.png" Type="http://schemas.openxmlformats.org/officeDocument/2006/relationships/image"/><Relationship Id="rId2" Target="../notesSlides/notesSlide8.xml" Type="http://schemas.openxmlformats.org/officeDocument/2006/relationships/notesSlide"/><Relationship Id="rId20" Target="../media/image119.svg" Type="http://schemas.openxmlformats.org/officeDocument/2006/relationships/image"/><Relationship Id="rId21" Target="../media/image120.png" Type="http://schemas.openxmlformats.org/officeDocument/2006/relationships/image"/><Relationship Id="rId22" Target="../media/image121.svg" Type="http://schemas.openxmlformats.org/officeDocument/2006/relationships/image"/><Relationship Id="rId23" Target="../media/image122.png" Type="http://schemas.openxmlformats.org/officeDocument/2006/relationships/image"/><Relationship Id="rId24" Target="../media/image123.png" Type="http://schemas.openxmlformats.org/officeDocument/2006/relationships/image"/><Relationship Id="rId25" Target="../media/image124.png" Type="http://schemas.openxmlformats.org/officeDocument/2006/relationships/image"/><Relationship Id="rId26" Target="../media/image125.png" Type="http://schemas.openxmlformats.org/officeDocument/2006/relationships/image"/><Relationship Id="rId3" Target="../media/image104.png" Type="http://schemas.openxmlformats.org/officeDocument/2006/relationships/image"/><Relationship Id="rId4" Target="../media/image105.svg" Type="http://schemas.openxmlformats.org/officeDocument/2006/relationships/image"/><Relationship Id="rId5" Target="../media/image106.png" Type="http://schemas.openxmlformats.org/officeDocument/2006/relationships/image"/><Relationship Id="rId6" Target="../media/image107.svg" Type="http://schemas.openxmlformats.org/officeDocument/2006/relationships/image"/><Relationship Id="rId7" Target="../media/image5.png" Type="http://schemas.openxmlformats.org/officeDocument/2006/relationships/image"/><Relationship Id="rId8" Target="../media/image39.svg" Type="http://schemas.openxmlformats.org/officeDocument/2006/relationships/image"/><Relationship Id="rId9" Target="../media/image10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6.png" Type="http://schemas.openxmlformats.org/officeDocument/2006/relationships/image"/><Relationship Id="rId11" Target="../media/image127.svg" Type="http://schemas.openxmlformats.org/officeDocument/2006/relationships/image"/><Relationship Id="rId12" Target="../media/image128.png" Type="http://schemas.openxmlformats.org/officeDocument/2006/relationships/image"/><Relationship Id="rId13" Target="../media/image129.svg" Type="http://schemas.openxmlformats.org/officeDocument/2006/relationships/image"/><Relationship Id="rId14" Target="../media/image130.png" Type="http://schemas.openxmlformats.org/officeDocument/2006/relationships/image"/><Relationship Id="rId15" Target="../media/image131.svg" Type="http://schemas.openxmlformats.org/officeDocument/2006/relationships/image"/><Relationship Id="rId16" Target="../media/image132.png" Type="http://schemas.openxmlformats.org/officeDocument/2006/relationships/image"/><Relationship Id="rId17" Target="../media/image133.svg" Type="http://schemas.openxmlformats.org/officeDocument/2006/relationships/image"/><Relationship Id="rId18" Target="../media/image134.png" Type="http://schemas.openxmlformats.org/officeDocument/2006/relationships/image"/><Relationship Id="rId19" Target="../media/image135.svg" Type="http://schemas.openxmlformats.org/officeDocument/2006/relationships/image"/><Relationship Id="rId2" Target="../notesSlides/notesSlide9.xml" Type="http://schemas.openxmlformats.org/officeDocument/2006/relationships/notesSlide"/><Relationship Id="rId20" Target="../media/image116.png" Type="http://schemas.openxmlformats.org/officeDocument/2006/relationships/image"/><Relationship Id="rId21" Target="../media/image117.svg" Type="http://schemas.openxmlformats.org/officeDocument/2006/relationships/image"/><Relationship Id="rId22" Target="../media/image136.png" Type="http://schemas.openxmlformats.org/officeDocument/2006/relationships/image"/><Relationship Id="rId23" Target="../media/image137.png" Type="http://schemas.openxmlformats.org/officeDocument/2006/relationships/image"/><Relationship Id="rId3" Target="../media/image5.png" Type="http://schemas.openxmlformats.org/officeDocument/2006/relationships/image"/><Relationship Id="rId4" Target="../media/image39.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13" Target="../media/image142.png" Type="http://schemas.openxmlformats.org/officeDocument/2006/relationships/image"/><Relationship Id="rId14" Target="../media/image143.svg" Type="http://schemas.openxmlformats.org/officeDocument/2006/relationships/image"/><Relationship Id="rId15" Target="../media/image48.png" Type="http://schemas.openxmlformats.org/officeDocument/2006/relationships/image"/><Relationship Id="rId16" Target="../media/image49.svg" Type="http://schemas.openxmlformats.org/officeDocument/2006/relationships/image"/><Relationship Id="rId17" Target="../media/image50.png" Type="http://schemas.openxmlformats.org/officeDocument/2006/relationships/image"/><Relationship Id="rId18" Target="../media/image51.svg" Type="http://schemas.openxmlformats.org/officeDocument/2006/relationships/image"/><Relationship Id="rId19" Target="../media/image52.png" Type="http://schemas.openxmlformats.org/officeDocument/2006/relationships/image"/><Relationship Id="rId2" Target="../notesSlides/notesSlide10.xml" Type="http://schemas.openxmlformats.org/officeDocument/2006/relationships/notesSlide"/><Relationship Id="rId20" Target="../media/image53.svg" Type="http://schemas.openxmlformats.org/officeDocument/2006/relationships/image"/><Relationship Id="rId21" Target="../media/image54.png" Type="http://schemas.openxmlformats.org/officeDocument/2006/relationships/image"/><Relationship Id="rId22" Target="../media/image55.svg" Type="http://schemas.openxmlformats.org/officeDocument/2006/relationships/image"/><Relationship Id="rId23" Target="../media/image56.png" Type="http://schemas.openxmlformats.org/officeDocument/2006/relationships/image"/><Relationship Id="rId24" Target="../media/image57.svg" Type="http://schemas.openxmlformats.org/officeDocument/2006/relationships/image"/><Relationship Id="rId25" Target="../media/image39.svg" Type="http://schemas.openxmlformats.org/officeDocument/2006/relationships/image"/><Relationship Id="rId26" Target="../media/image144.png" Type="http://schemas.openxmlformats.org/officeDocument/2006/relationships/image"/><Relationship Id="rId27" Target="../media/image145.svg" Type="http://schemas.openxmlformats.org/officeDocument/2006/relationships/image"/><Relationship Id="rId28" Target="../media/image146.png" Type="http://schemas.openxmlformats.org/officeDocument/2006/relationships/image"/><Relationship Id="rId29" Target="../media/image147.svg" Type="http://schemas.openxmlformats.org/officeDocument/2006/relationships/image"/><Relationship Id="rId3" Target="../media/image138.png" Type="http://schemas.openxmlformats.org/officeDocument/2006/relationships/image"/><Relationship Id="rId30" Target="../media/image148.png" Type="http://schemas.openxmlformats.org/officeDocument/2006/relationships/image"/><Relationship Id="rId31" Target="../media/image149.svg" Type="http://schemas.openxmlformats.org/officeDocument/2006/relationships/image"/><Relationship Id="rId4" Target="../media/image139.svg" Type="http://schemas.openxmlformats.org/officeDocument/2006/relationships/image"/><Relationship Id="rId5" Target="../media/image140.png" Type="http://schemas.openxmlformats.org/officeDocument/2006/relationships/image"/><Relationship Id="rId6" Target="../media/image141.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13" Target="../media/image142.png" Type="http://schemas.openxmlformats.org/officeDocument/2006/relationships/image"/><Relationship Id="rId14" Target="../media/image143.svg" Type="http://schemas.openxmlformats.org/officeDocument/2006/relationships/image"/><Relationship Id="rId15" Target="../media/image48.png" Type="http://schemas.openxmlformats.org/officeDocument/2006/relationships/image"/><Relationship Id="rId16" Target="../media/image49.svg" Type="http://schemas.openxmlformats.org/officeDocument/2006/relationships/image"/><Relationship Id="rId17" Target="../media/image50.png" Type="http://schemas.openxmlformats.org/officeDocument/2006/relationships/image"/><Relationship Id="rId18" Target="../media/image51.svg" Type="http://schemas.openxmlformats.org/officeDocument/2006/relationships/image"/><Relationship Id="rId19" Target="../media/image52.png" Type="http://schemas.openxmlformats.org/officeDocument/2006/relationships/image"/><Relationship Id="rId2" Target="../notesSlides/notesSlide11.xml" Type="http://schemas.openxmlformats.org/officeDocument/2006/relationships/notesSlide"/><Relationship Id="rId20" Target="../media/image53.svg" Type="http://schemas.openxmlformats.org/officeDocument/2006/relationships/image"/><Relationship Id="rId21" Target="../media/image54.png" Type="http://schemas.openxmlformats.org/officeDocument/2006/relationships/image"/><Relationship Id="rId22" Target="../media/image55.svg" Type="http://schemas.openxmlformats.org/officeDocument/2006/relationships/image"/><Relationship Id="rId23" Target="../media/image56.png" Type="http://schemas.openxmlformats.org/officeDocument/2006/relationships/image"/><Relationship Id="rId24" Target="../media/image57.svg" Type="http://schemas.openxmlformats.org/officeDocument/2006/relationships/image"/><Relationship Id="rId25" Target="../media/image39.svg" Type="http://schemas.openxmlformats.org/officeDocument/2006/relationships/image"/><Relationship Id="rId26" Target="../media/image144.png" Type="http://schemas.openxmlformats.org/officeDocument/2006/relationships/image"/><Relationship Id="rId27" Target="../media/image145.svg" Type="http://schemas.openxmlformats.org/officeDocument/2006/relationships/image"/><Relationship Id="rId28" Target="../media/image146.png" Type="http://schemas.openxmlformats.org/officeDocument/2006/relationships/image"/><Relationship Id="rId29" Target="../media/image147.svg" Type="http://schemas.openxmlformats.org/officeDocument/2006/relationships/image"/><Relationship Id="rId3" Target="../media/image138.png" Type="http://schemas.openxmlformats.org/officeDocument/2006/relationships/image"/><Relationship Id="rId30" Target="../media/image148.png" Type="http://schemas.openxmlformats.org/officeDocument/2006/relationships/image"/><Relationship Id="rId31" Target="../media/image149.svg" Type="http://schemas.openxmlformats.org/officeDocument/2006/relationships/image"/><Relationship Id="rId32" Target="../media/image150.png" Type="http://schemas.openxmlformats.org/officeDocument/2006/relationships/image"/><Relationship Id="rId33" Target="../media/image151.png" Type="http://schemas.openxmlformats.org/officeDocument/2006/relationships/image"/><Relationship Id="rId4" Target="../media/image139.svg" Type="http://schemas.openxmlformats.org/officeDocument/2006/relationships/image"/><Relationship Id="rId5" Target="../media/image140.png" Type="http://schemas.openxmlformats.org/officeDocument/2006/relationships/image"/><Relationship Id="rId6" Target="../media/image141.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6.png" Type="http://schemas.openxmlformats.org/officeDocument/2006/relationships/image"/><Relationship Id="rId11" Target="../media/image157.svg" Type="http://schemas.openxmlformats.org/officeDocument/2006/relationships/image"/><Relationship Id="rId12" Target="../media/image158.png" Type="http://schemas.openxmlformats.org/officeDocument/2006/relationships/image"/><Relationship Id="rId13" Target="../media/image159.svg" Type="http://schemas.openxmlformats.org/officeDocument/2006/relationships/image"/><Relationship Id="rId14" Target="../media/image160.png" Type="http://schemas.openxmlformats.org/officeDocument/2006/relationships/image"/><Relationship Id="rId15" Target="../media/image161.svg" Type="http://schemas.openxmlformats.org/officeDocument/2006/relationships/image"/><Relationship Id="rId16" Target="../media/image162.png" Type="http://schemas.openxmlformats.org/officeDocument/2006/relationships/image"/><Relationship Id="rId17" Target="../media/image163.svg" Type="http://schemas.openxmlformats.org/officeDocument/2006/relationships/image"/><Relationship Id="rId18" Target="../media/image164.png" Type="http://schemas.openxmlformats.org/officeDocument/2006/relationships/image"/><Relationship Id="rId19" Target="../media/image165.png" Type="http://schemas.openxmlformats.org/officeDocument/2006/relationships/image"/><Relationship Id="rId2" Target="../notesSlides/notesSlide12.xml" Type="http://schemas.openxmlformats.org/officeDocument/2006/relationships/notesSlide"/><Relationship Id="rId20" Target="../media/image166.png" Type="http://schemas.openxmlformats.org/officeDocument/2006/relationships/image"/><Relationship Id="rId3" Target="../media/image152.png" Type="http://schemas.openxmlformats.org/officeDocument/2006/relationships/image"/><Relationship Id="rId4" Target="../media/image153.svg" Type="http://schemas.openxmlformats.org/officeDocument/2006/relationships/image"/><Relationship Id="rId5" Target="../media/image154.png" Type="http://schemas.openxmlformats.org/officeDocument/2006/relationships/image"/><Relationship Id="rId6" Target="../media/image155.svg" Type="http://schemas.openxmlformats.org/officeDocument/2006/relationships/image"/><Relationship Id="rId7" Target="../media/image5.png" Type="http://schemas.openxmlformats.org/officeDocument/2006/relationships/image"/><Relationship Id="rId8" Target="../media/image39.svg" Type="http://schemas.openxmlformats.org/officeDocument/2006/relationships/image"/><Relationship Id="rId9"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svg" Type="http://schemas.openxmlformats.org/officeDocument/2006/relationships/image"/><Relationship Id="rId12" Target="../media/image172.png" Type="http://schemas.openxmlformats.org/officeDocument/2006/relationships/image"/><Relationship Id="rId13" Target="../media/image173.svg" Type="http://schemas.openxmlformats.org/officeDocument/2006/relationships/image"/><Relationship Id="rId14" Target="../media/image174.png" Type="http://schemas.openxmlformats.org/officeDocument/2006/relationships/image"/><Relationship Id="rId15" Target="../media/image175.svg" Type="http://schemas.openxmlformats.org/officeDocument/2006/relationships/image"/><Relationship Id="rId16" Target="../media/image176.png" Type="http://schemas.openxmlformats.org/officeDocument/2006/relationships/image"/><Relationship Id="rId17" Target="../media/image177.svg" Type="http://schemas.openxmlformats.org/officeDocument/2006/relationships/image"/><Relationship Id="rId18" Target="../media/image178.png" Type="http://schemas.openxmlformats.org/officeDocument/2006/relationships/image"/><Relationship Id="rId19" Target="../media/image179.svg" Type="http://schemas.openxmlformats.org/officeDocument/2006/relationships/image"/><Relationship Id="rId2" Target="../notesSlides/notesSlide13.xml" Type="http://schemas.openxmlformats.org/officeDocument/2006/relationships/notesSlide"/><Relationship Id="rId20" Target="../media/image180.png" Type="http://schemas.openxmlformats.org/officeDocument/2006/relationships/image"/><Relationship Id="rId21" Target="../media/image181.svg" Type="http://schemas.openxmlformats.org/officeDocument/2006/relationships/image"/><Relationship Id="rId22" Target="../media/image116.png" Type="http://schemas.openxmlformats.org/officeDocument/2006/relationships/image"/><Relationship Id="rId23" Target="../media/image117.svg" Type="http://schemas.openxmlformats.org/officeDocument/2006/relationships/image"/><Relationship Id="rId24" Target="../media/image54.png" Type="http://schemas.openxmlformats.org/officeDocument/2006/relationships/image"/><Relationship Id="rId25" Target="../media/image55.svg" Type="http://schemas.openxmlformats.org/officeDocument/2006/relationships/image"/><Relationship Id="rId26" Target="../media/image182.png" Type="http://schemas.openxmlformats.org/officeDocument/2006/relationships/image"/><Relationship Id="rId27" Target="../media/image183.svg" Type="http://schemas.openxmlformats.org/officeDocument/2006/relationships/image"/><Relationship Id="rId28" Target="../media/image184.png" Type="http://schemas.openxmlformats.org/officeDocument/2006/relationships/image"/><Relationship Id="rId29" Target="../media/image185.svg" Type="http://schemas.openxmlformats.org/officeDocument/2006/relationships/image"/><Relationship Id="rId3" Target="../media/image167.png" Type="http://schemas.openxmlformats.org/officeDocument/2006/relationships/image"/><Relationship Id="rId30" Target="../media/image186.png" Type="http://schemas.openxmlformats.org/officeDocument/2006/relationships/image"/><Relationship Id="rId31" Target="../media/image187.png" Type="http://schemas.openxmlformats.org/officeDocument/2006/relationships/image"/><Relationship Id="rId4" Target="../media/image168.svg" Type="http://schemas.openxmlformats.org/officeDocument/2006/relationships/image"/><Relationship Id="rId5" Target="../media/image169.png" Type="http://schemas.openxmlformats.org/officeDocument/2006/relationships/image"/><Relationship Id="rId6" Target="../media/image170.svg" Type="http://schemas.openxmlformats.org/officeDocument/2006/relationships/image"/><Relationship Id="rId7" Target="../media/image5.png" Type="http://schemas.openxmlformats.org/officeDocument/2006/relationships/image"/><Relationship Id="rId8" Target="../media/image171.svg" Type="http://schemas.openxmlformats.org/officeDocument/2006/relationships/image"/><Relationship Id="rId9" Target="../media/image3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1.svg" Type="http://schemas.openxmlformats.org/officeDocument/2006/relationships/image"/><Relationship Id="rId11" Target="../media/image194.png" Type="http://schemas.openxmlformats.org/officeDocument/2006/relationships/image"/><Relationship Id="rId12" Target="../media/image195.svg" Type="http://schemas.openxmlformats.org/officeDocument/2006/relationships/image"/><Relationship Id="rId13" Target="../media/image196.png" Type="http://schemas.openxmlformats.org/officeDocument/2006/relationships/image"/><Relationship Id="rId14" Target="../media/image197.svg" Type="http://schemas.openxmlformats.org/officeDocument/2006/relationships/image"/><Relationship Id="rId15" Target="../media/image198.png" Type="http://schemas.openxmlformats.org/officeDocument/2006/relationships/image"/><Relationship Id="rId16" Target="../media/image199.svg" Type="http://schemas.openxmlformats.org/officeDocument/2006/relationships/image"/><Relationship Id="rId17" Target="../media/image200.png" Type="http://schemas.openxmlformats.org/officeDocument/2006/relationships/image"/><Relationship Id="rId18" Target="../media/image201.svg" Type="http://schemas.openxmlformats.org/officeDocument/2006/relationships/image"/><Relationship Id="rId19" Target="../media/image202.png" Type="http://schemas.openxmlformats.org/officeDocument/2006/relationships/image"/><Relationship Id="rId2" Target="../notesSlides/notesSlide14.xml" Type="http://schemas.openxmlformats.org/officeDocument/2006/relationships/notesSlide"/><Relationship Id="rId20" Target="../media/image203.svg" Type="http://schemas.openxmlformats.org/officeDocument/2006/relationships/image"/><Relationship Id="rId21" Target="../media/image204.svg" Type="http://schemas.openxmlformats.org/officeDocument/2006/relationships/image"/><Relationship Id="rId22" Target="../media/image205.png" Type="http://schemas.openxmlformats.org/officeDocument/2006/relationships/image"/><Relationship Id="rId23" Target="../media/image206.svg" Type="http://schemas.openxmlformats.org/officeDocument/2006/relationships/image"/><Relationship Id="rId24" Target="../media/image207.png" Type="http://schemas.openxmlformats.org/officeDocument/2006/relationships/image"/><Relationship Id="rId25" Target="../media/image208.svg" Type="http://schemas.openxmlformats.org/officeDocument/2006/relationships/image"/><Relationship Id="rId3" Target="../media/image188.png" Type="http://schemas.openxmlformats.org/officeDocument/2006/relationships/image"/><Relationship Id="rId4" Target="../media/image189.svg" Type="http://schemas.openxmlformats.org/officeDocument/2006/relationships/image"/><Relationship Id="rId5" Target="../media/image190.png" Type="http://schemas.openxmlformats.org/officeDocument/2006/relationships/image"/><Relationship Id="rId6" Target="../media/image191.svg" Type="http://schemas.openxmlformats.org/officeDocument/2006/relationships/image"/><Relationship Id="rId7" Target="../media/image192.png" Type="http://schemas.openxmlformats.org/officeDocument/2006/relationships/image"/><Relationship Id="rId8" Target="../media/image193.svg" Type="http://schemas.openxmlformats.org/officeDocument/2006/relationships/image"/><Relationship Id="rId9"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4.png" Type="http://schemas.openxmlformats.org/officeDocument/2006/relationships/image"/><Relationship Id="rId11" Target="../media/image215.svg" Type="http://schemas.openxmlformats.org/officeDocument/2006/relationships/image"/><Relationship Id="rId12" Target="../media/image216.png" Type="http://schemas.openxmlformats.org/officeDocument/2006/relationships/image"/><Relationship Id="rId13" Target="../media/image217.png" Type="http://schemas.openxmlformats.org/officeDocument/2006/relationships/image"/><Relationship Id="rId2" Target="../notesSlides/notesSlide15.xml" Type="http://schemas.openxmlformats.org/officeDocument/2006/relationships/notesSlide"/><Relationship Id="rId3" Target="../media/image209.png" Type="http://schemas.openxmlformats.org/officeDocument/2006/relationships/image"/><Relationship Id="rId4" Target="../media/image210.svg" Type="http://schemas.openxmlformats.org/officeDocument/2006/relationships/image"/><Relationship Id="rId5" Target="../media/image5.png" Type="http://schemas.openxmlformats.org/officeDocument/2006/relationships/image"/><Relationship Id="rId6" Target="../media/image211.svg" Type="http://schemas.openxmlformats.org/officeDocument/2006/relationships/image"/><Relationship Id="rId7" Target="../media/image39.svg" Type="http://schemas.openxmlformats.org/officeDocument/2006/relationships/image"/><Relationship Id="rId8" Target="../media/image212.png" Type="http://schemas.openxmlformats.org/officeDocument/2006/relationships/image"/><Relationship Id="rId9" Target="../media/image21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3.svg" Type="http://schemas.openxmlformats.org/officeDocument/2006/relationships/image"/><Relationship Id="rId11" Target="../media/image214.png" Type="http://schemas.openxmlformats.org/officeDocument/2006/relationships/image"/><Relationship Id="rId12" Target="../media/image215.svg" Type="http://schemas.openxmlformats.org/officeDocument/2006/relationships/image"/><Relationship Id="rId2" Target="../notesSlides/notesSlide16.xml" Type="http://schemas.openxmlformats.org/officeDocument/2006/relationships/notesSlide"/><Relationship Id="rId3" Target="../media/image218.jpeg" Type="http://schemas.openxmlformats.org/officeDocument/2006/relationships/image"/><Relationship Id="rId4" Target="../media/image209.png" Type="http://schemas.openxmlformats.org/officeDocument/2006/relationships/image"/><Relationship Id="rId5" Target="../media/image210.svg" Type="http://schemas.openxmlformats.org/officeDocument/2006/relationships/image"/><Relationship Id="rId6" Target="../media/image5.png" Type="http://schemas.openxmlformats.org/officeDocument/2006/relationships/image"/><Relationship Id="rId7" Target="../media/image211.svg" Type="http://schemas.openxmlformats.org/officeDocument/2006/relationships/image"/><Relationship Id="rId8" Target="../media/image39.svg" Type="http://schemas.openxmlformats.org/officeDocument/2006/relationships/image"/><Relationship Id="rId9" Target="../media/image2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9.png" Type="http://schemas.openxmlformats.org/officeDocument/2006/relationships/image"/><Relationship Id="rId11" Target="../media/image220.svg" Type="http://schemas.openxmlformats.org/officeDocument/2006/relationships/image"/><Relationship Id="rId12" Target="../media/image221.png" Type="http://schemas.openxmlformats.org/officeDocument/2006/relationships/image"/><Relationship Id="rId13" Target="../media/image222.svg" Type="http://schemas.openxmlformats.org/officeDocument/2006/relationships/image"/><Relationship Id="rId2" Target="../notesSlides/notesSlide17.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9.png" Type="http://schemas.openxmlformats.org/officeDocument/2006/relationships/image"/><Relationship Id="rId11" Target="../media/image220.svg" Type="http://schemas.openxmlformats.org/officeDocument/2006/relationships/image"/><Relationship Id="rId12" Target="../media/image221.png" Type="http://schemas.openxmlformats.org/officeDocument/2006/relationships/image"/><Relationship Id="rId13" Target="../media/image222.svg" Type="http://schemas.openxmlformats.org/officeDocument/2006/relationships/image"/><Relationship Id="rId2" Target="../notesSlides/notesSlide18.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9.png" Type="http://schemas.openxmlformats.org/officeDocument/2006/relationships/image"/><Relationship Id="rId11" Target="../media/image220.svg" Type="http://schemas.openxmlformats.org/officeDocument/2006/relationships/image"/><Relationship Id="rId12" Target="../media/image221.png" Type="http://schemas.openxmlformats.org/officeDocument/2006/relationships/image"/><Relationship Id="rId13" Target="../media/image222.svg" Type="http://schemas.openxmlformats.org/officeDocument/2006/relationships/image"/><Relationship Id="rId2" Target="../notesSlides/notesSlide19.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9.png" Type="http://schemas.openxmlformats.org/officeDocument/2006/relationships/image"/><Relationship Id="rId11" Target="../media/image220.svg" Type="http://schemas.openxmlformats.org/officeDocument/2006/relationships/image"/><Relationship Id="rId12" Target="../media/image221.png" Type="http://schemas.openxmlformats.org/officeDocument/2006/relationships/image"/><Relationship Id="rId13" Target="../media/image222.svg" Type="http://schemas.openxmlformats.org/officeDocument/2006/relationships/image"/><Relationship Id="rId2" Target="../notesSlides/notesSlide20.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9.png" Type="http://schemas.openxmlformats.org/officeDocument/2006/relationships/image"/><Relationship Id="rId11" Target="../media/image220.svg" Type="http://schemas.openxmlformats.org/officeDocument/2006/relationships/image"/><Relationship Id="rId12" Target="../media/image221.png" Type="http://schemas.openxmlformats.org/officeDocument/2006/relationships/image"/><Relationship Id="rId13" Target="../media/image222.svg" Type="http://schemas.openxmlformats.org/officeDocument/2006/relationships/image"/><Relationship Id="rId2" Target="../notesSlides/notesSlide21.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2.png" Type="http://schemas.openxmlformats.org/officeDocument/2006/relationships/image"/><Relationship Id="rId11" Target="../media/image173.svg" Type="http://schemas.openxmlformats.org/officeDocument/2006/relationships/image"/><Relationship Id="rId12" Target="../media/image174.png" Type="http://schemas.openxmlformats.org/officeDocument/2006/relationships/image"/><Relationship Id="rId13" Target="../media/image175.svg" Type="http://schemas.openxmlformats.org/officeDocument/2006/relationships/image"/><Relationship Id="rId14" Target="../media/image178.png" Type="http://schemas.openxmlformats.org/officeDocument/2006/relationships/image"/><Relationship Id="rId15" Target="../media/image179.svg" Type="http://schemas.openxmlformats.org/officeDocument/2006/relationships/image"/><Relationship Id="rId16" Target="../media/image180.png" Type="http://schemas.openxmlformats.org/officeDocument/2006/relationships/image"/><Relationship Id="rId17" Target="../media/image181.svg" Type="http://schemas.openxmlformats.org/officeDocument/2006/relationships/image"/><Relationship Id="rId18" Target="../media/image182.png" Type="http://schemas.openxmlformats.org/officeDocument/2006/relationships/image"/><Relationship Id="rId19" Target="../media/image183.svg" Type="http://schemas.openxmlformats.org/officeDocument/2006/relationships/image"/><Relationship Id="rId2" Target="../notesSlides/notesSlide22.xml" Type="http://schemas.openxmlformats.org/officeDocument/2006/relationships/notesSlide"/><Relationship Id="rId20" Target="../media/image184.png" Type="http://schemas.openxmlformats.org/officeDocument/2006/relationships/image"/><Relationship Id="rId21" Target="../media/image185.svg" Type="http://schemas.openxmlformats.org/officeDocument/2006/relationships/image"/><Relationship Id="rId3" Target="../media/image169.png" Type="http://schemas.openxmlformats.org/officeDocument/2006/relationships/image"/><Relationship Id="rId4" Target="../media/image170.svg" Type="http://schemas.openxmlformats.org/officeDocument/2006/relationships/image"/><Relationship Id="rId5" Target="../media/image5.png" Type="http://schemas.openxmlformats.org/officeDocument/2006/relationships/image"/><Relationship Id="rId6" Target="../media/image171.svg" Type="http://schemas.openxmlformats.org/officeDocument/2006/relationships/image"/><Relationship Id="rId7" Target="../media/image39.svg" Type="http://schemas.openxmlformats.org/officeDocument/2006/relationships/image"/><Relationship Id="rId8" Target="../media/image85.png" Type="http://schemas.openxmlformats.org/officeDocument/2006/relationships/image"/><Relationship Id="rId9" Target="../media/image8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2.png" Type="http://schemas.openxmlformats.org/officeDocument/2006/relationships/image"/><Relationship Id="rId11" Target="../media/image173.svg" Type="http://schemas.openxmlformats.org/officeDocument/2006/relationships/image"/><Relationship Id="rId12" Target="../media/image174.png" Type="http://schemas.openxmlformats.org/officeDocument/2006/relationships/image"/><Relationship Id="rId13" Target="../media/image175.svg" Type="http://schemas.openxmlformats.org/officeDocument/2006/relationships/image"/><Relationship Id="rId14" Target="../media/image178.png" Type="http://schemas.openxmlformats.org/officeDocument/2006/relationships/image"/><Relationship Id="rId15" Target="../media/image179.svg" Type="http://schemas.openxmlformats.org/officeDocument/2006/relationships/image"/><Relationship Id="rId16" Target="../media/image180.png" Type="http://schemas.openxmlformats.org/officeDocument/2006/relationships/image"/><Relationship Id="rId17" Target="../media/image181.svg" Type="http://schemas.openxmlformats.org/officeDocument/2006/relationships/image"/><Relationship Id="rId18" Target="../media/image182.png" Type="http://schemas.openxmlformats.org/officeDocument/2006/relationships/image"/><Relationship Id="rId19" Target="../media/image183.svg" Type="http://schemas.openxmlformats.org/officeDocument/2006/relationships/image"/><Relationship Id="rId2" Target="../notesSlides/notesSlide23.xml" Type="http://schemas.openxmlformats.org/officeDocument/2006/relationships/notesSlide"/><Relationship Id="rId20" Target="../media/image184.png" Type="http://schemas.openxmlformats.org/officeDocument/2006/relationships/image"/><Relationship Id="rId21" Target="../media/image185.svg" Type="http://schemas.openxmlformats.org/officeDocument/2006/relationships/image"/><Relationship Id="rId3" Target="../media/image169.png" Type="http://schemas.openxmlformats.org/officeDocument/2006/relationships/image"/><Relationship Id="rId4" Target="../media/image170.svg" Type="http://schemas.openxmlformats.org/officeDocument/2006/relationships/image"/><Relationship Id="rId5" Target="../media/image5.png" Type="http://schemas.openxmlformats.org/officeDocument/2006/relationships/image"/><Relationship Id="rId6" Target="../media/image171.svg" Type="http://schemas.openxmlformats.org/officeDocument/2006/relationships/image"/><Relationship Id="rId7" Target="../media/image39.svg" Type="http://schemas.openxmlformats.org/officeDocument/2006/relationships/image"/><Relationship Id="rId8" Target="../media/image85.png" Type="http://schemas.openxmlformats.org/officeDocument/2006/relationships/image"/><Relationship Id="rId9" Target="../media/image8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2.png" Type="http://schemas.openxmlformats.org/officeDocument/2006/relationships/image"/><Relationship Id="rId11" Target="../media/image173.svg" Type="http://schemas.openxmlformats.org/officeDocument/2006/relationships/image"/><Relationship Id="rId12" Target="../media/image174.png" Type="http://schemas.openxmlformats.org/officeDocument/2006/relationships/image"/><Relationship Id="rId13" Target="../media/image175.svg" Type="http://schemas.openxmlformats.org/officeDocument/2006/relationships/image"/><Relationship Id="rId14" Target="../media/image178.png" Type="http://schemas.openxmlformats.org/officeDocument/2006/relationships/image"/><Relationship Id="rId15" Target="../media/image179.svg" Type="http://schemas.openxmlformats.org/officeDocument/2006/relationships/image"/><Relationship Id="rId16" Target="../media/image180.png" Type="http://schemas.openxmlformats.org/officeDocument/2006/relationships/image"/><Relationship Id="rId17" Target="../media/image181.svg" Type="http://schemas.openxmlformats.org/officeDocument/2006/relationships/image"/><Relationship Id="rId18" Target="../media/image182.png" Type="http://schemas.openxmlformats.org/officeDocument/2006/relationships/image"/><Relationship Id="rId19" Target="../media/image183.svg" Type="http://schemas.openxmlformats.org/officeDocument/2006/relationships/image"/><Relationship Id="rId2" Target="../notesSlides/notesSlide24.xml" Type="http://schemas.openxmlformats.org/officeDocument/2006/relationships/notesSlide"/><Relationship Id="rId20" Target="../media/image184.png" Type="http://schemas.openxmlformats.org/officeDocument/2006/relationships/image"/><Relationship Id="rId21" Target="../media/image185.svg" Type="http://schemas.openxmlformats.org/officeDocument/2006/relationships/image"/><Relationship Id="rId3" Target="../media/image169.png" Type="http://schemas.openxmlformats.org/officeDocument/2006/relationships/image"/><Relationship Id="rId4" Target="../media/image170.svg" Type="http://schemas.openxmlformats.org/officeDocument/2006/relationships/image"/><Relationship Id="rId5" Target="../media/image5.png" Type="http://schemas.openxmlformats.org/officeDocument/2006/relationships/image"/><Relationship Id="rId6" Target="../media/image171.svg" Type="http://schemas.openxmlformats.org/officeDocument/2006/relationships/image"/><Relationship Id="rId7" Target="../media/image39.svg" Type="http://schemas.openxmlformats.org/officeDocument/2006/relationships/image"/><Relationship Id="rId8" Target="../media/image85.png" Type="http://schemas.openxmlformats.org/officeDocument/2006/relationships/image"/><Relationship Id="rId9" Target="../media/image8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2.png" Type="http://schemas.openxmlformats.org/officeDocument/2006/relationships/image"/><Relationship Id="rId11" Target="../media/image173.svg" Type="http://schemas.openxmlformats.org/officeDocument/2006/relationships/image"/><Relationship Id="rId12" Target="../media/image174.png" Type="http://schemas.openxmlformats.org/officeDocument/2006/relationships/image"/><Relationship Id="rId13" Target="../media/image175.svg" Type="http://schemas.openxmlformats.org/officeDocument/2006/relationships/image"/><Relationship Id="rId14" Target="../media/image178.png" Type="http://schemas.openxmlformats.org/officeDocument/2006/relationships/image"/><Relationship Id="rId15" Target="../media/image179.svg" Type="http://schemas.openxmlformats.org/officeDocument/2006/relationships/image"/><Relationship Id="rId16" Target="../media/image180.png" Type="http://schemas.openxmlformats.org/officeDocument/2006/relationships/image"/><Relationship Id="rId17" Target="../media/image181.svg" Type="http://schemas.openxmlformats.org/officeDocument/2006/relationships/image"/><Relationship Id="rId18" Target="../media/image182.png" Type="http://schemas.openxmlformats.org/officeDocument/2006/relationships/image"/><Relationship Id="rId19" Target="../media/image183.svg" Type="http://schemas.openxmlformats.org/officeDocument/2006/relationships/image"/><Relationship Id="rId2" Target="../notesSlides/notesSlide25.xml" Type="http://schemas.openxmlformats.org/officeDocument/2006/relationships/notesSlide"/><Relationship Id="rId20" Target="../media/image184.png" Type="http://schemas.openxmlformats.org/officeDocument/2006/relationships/image"/><Relationship Id="rId21" Target="../media/image185.svg" Type="http://schemas.openxmlformats.org/officeDocument/2006/relationships/image"/><Relationship Id="rId3" Target="../media/image169.png" Type="http://schemas.openxmlformats.org/officeDocument/2006/relationships/image"/><Relationship Id="rId4" Target="../media/image170.svg" Type="http://schemas.openxmlformats.org/officeDocument/2006/relationships/image"/><Relationship Id="rId5" Target="../media/image5.png" Type="http://schemas.openxmlformats.org/officeDocument/2006/relationships/image"/><Relationship Id="rId6" Target="../media/image171.svg" Type="http://schemas.openxmlformats.org/officeDocument/2006/relationships/image"/><Relationship Id="rId7" Target="../media/image39.svg" Type="http://schemas.openxmlformats.org/officeDocument/2006/relationships/image"/><Relationship Id="rId8" Target="../media/image85.png" Type="http://schemas.openxmlformats.org/officeDocument/2006/relationships/image"/><Relationship Id="rId9" Target="../media/image8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2.png" Type="http://schemas.openxmlformats.org/officeDocument/2006/relationships/image"/><Relationship Id="rId11" Target="../media/image173.svg" Type="http://schemas.openxmlformats.org/officeDocument/2006/relationships/image"/><Relationship Id="rId12" Target="../media/image174.png" Type="http://schemas.openxmlformats.org/officeDocument/2006/relationships/image"/><Relationship Id="rId13" Target="../media/image175.svg" Type="http://schemas.openxmlformats.org/officeDocument/2006/relationships/image"/><Relationship Id="rId14" Target="../media/image178.png" Type="http://schemas.openxmlformats.org/officeDocument/2006/relationships/image"/><Relationship Id="rId15" Target="../media/image179.svg" Type="http://schemas.openxmlformats.org/officeDocument/2006/relationships/image"/><Relationship Id="rId16" Target="../media/image180.png" Type="http://schemas.openxmlformats.org/officeDocument/2006/relationships/image"/><Relationship Id="rId17" Target="../media/image181.svg" Type="http://schemas.openxmlformats.org/officeDocument/2006/relationships/image"/><Relationship Id="rId18" Target="../media/image182.png" Type="http://schemas.openxmlformats.org/officeDocument/2006/relationships/image"/><Relationship Id="rId19" Target="../media/image183.svg" Type="http://schemas.openxmlformats.org/officeDocument/2006/relationships/image"/><Relationship Id="rId2" Target="../notesSlides/notesSlide26.xml" Type="http://schemas.openxmlformats.org/officeDocument/2006/relationships/notesSlide"/><Relationship Id="rId20" Target="../media/image184.png" Type="http://schemas.openxmlformats.org/officeDocument/2006/relationships/image"/><Relationship Id="rId21" Target="../media/image185.svg" Type="http://schemas.openxmlformats.org/officeDocument/2006/relationships/image"/><Relationship Id="rId3" Target="../media/image169.png" Type="http://schemas.openxmlformats.org/officeDocument/2006/relationships/image"/><Relationship Id="rId4" Target="../media/image170.svg" Type="http://schemas.openxmlformats.org/officeDocument/2006/relationships/image"/><Relationship Id="rId5" Target="../media/image5.png" Type="http://schemas.openxmlformats.org/officeDocument/2006/relationships/image"/><Relationship Id="rId6" Target="../media/image171.svg" Type="http://schemas.openxmlformats.org/officeDocument/2006/relationships/image"/><Relationship Id="rId7" Target="../media/image39.svg" Type="http://schemas.openxmlformats.org/officeDocument/2006/relationships/image"/><Relationship Id="rId8" Target="../media/image85.png" Type="http://schemas.openxmlformats.org/officeDocument/2006/relationships/image"/><Relationship Id="rId9" Target="../media/image8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211.svg" Type="http://schemas.openxmlformats.org/officeDocument/2006/relationships/image"/><Relationship Id="rId12" Target="../media/image228.png" Type="http://schemas.openxmlformats.org/officeDocument/2006/relationships/image"/><Relationship Id="rId13" Target="../media/image229.svg" Type="http://schemas.openxmlformats.org/officeDocument/2006/relationships/image"/><Relationship Id="rId14" Target="../media/image230.png" Type="http://schemas.openxmlformats.org/officeDocument/2006/relationships/image"/><Relationship Id="rId15" Target="../media/image231.png" Type="http://schemas.openxmlformats.org/officeDocument/2006/relationships/image"/><Relationship Id="rId16" Target="../media/image232.png" Type="http://schemas.openxmlformats.org/officeDocument/2006/relationships/image"/><Relationship Id="rId17" Target="../media/image233.png" Type="http://schemas.openxmlformats.org/officeDocument/2006/relationships/image"/><Relationship Id="rId2" Target="../notesSlides/notesSlide27.xml" Type="http://schemas.openxmlformats.org/officeDocument/2006/relationships/notesSlide"/><Relationship Id="rId3" Target="../media/image223.png" Type="http://schemas.openxmlformats.org/officeDocument/2006/relationships/image"/><Relationship Id="rId4" Target="../media/image224.svg" Type="http://schemas.openxmlformats.org/officeDocument/2006/relationships/image"/><Relationship Id="rId5" Target="../media/image225.png" Type="http://schemas.openxmlformats.org/officeDocument/2006/relationships/image"/><Relationship Id="rId6" Target="../media/image226.svg" Type="http://schemas.openxmlformats.org/officeDocument/2006/relationships/image"/><Relationship Id="rId7" Target="../media/image5.png" Type="http://schemas.openxmlformats.org/officeDocument/2006/relationships/image"/><Relationship Id="rId8" Target="../media/image171.svg" Type="http://schemas.openxmlformats.org/officeDocument/2006/relationships/image"/><Relationship Id="rId9" Target="../media/image22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228.png" Type="http://schemas.openxmlformats.org/officeDocument/2006/relationships/image"/><Relationship Id="rId12" Target="../media/image229.svg" Type="http://schemas.openxmlformats.org/officeDocument/2006/relationships/image"/><Relationship Id="rId13" Target="../media/image234.png" Type="http://schemas.openxmlformats.org/officeDocument/2006/relationships/image"/><Relationship Id="rId2" Target="../notesSlides/notesSlide28.xml" Type="http://schemas.openxmlformats.org/officeDocument/2006/relationships/notesSlide"/><Relationship Id="rId3" Target="../media/image223.png" Type="http://schemas.openxmlformats.org/officeDocument/2006/relationships/image"/><Relationship Id="rId4" Target="../media/image224.svg" Type="http://schemas.openxmlformats.org/officeDocument/2006/relationships/image"/><Relationship Id="rId5" Target="../media/image225.png" Type="http://schemas.openxmlformats.org/officeDocument/2006/relationships/image"/><Relationship Id="rId6" Target="../media/image226.svg" Type="http://schemas.openxmlformats.org/officeDocument/2006/relationships/image"/><Relationship Id="rId7" Target="../media/image5.png" Type="http://schemas.openxmlformats.org/officeDocument/2006/relationships/image"/><Relationship Id="rId8" Target="../media/image171.svg" Type="http://schemas.openxmlformats.org/officeDocument/2006/relationships/image"/><Relationship Id="rId9" Target="../media/image227.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8.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223.png" Type="http://schemas.openxmlformats.org/officeDocument/2006/relationships/image"/><Relationship Id="rId14" Target="../media/image224.svg" Type="http://schemas.openxmlformats.org/officeDocument/2006/relationships/image"/><Relationship Id="rId15" Target="../media/image225.png" Type="http://schemas.openxmlformats.org/officeDocument/2006/relationships/image"/><Relationship Id="rId16" Target="../media/image226.svg" Type="http://schemas.openxmlformats.org/officeDocument/2006/relationships/image"/><Relationship Id="rId2" Target="../notesSlides/notesSlide29.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211.svg" Type="http://schemas.openxmlformats.org/officeDocument/2006/relationships/image"/><Relationship Id="rId6" Target="../media/image171.svg" Type="http://schemas.openxmlformats.org/officeDocument/2006/relationships/image"/><Relationship Id="rId7" Target="../media/image235.png" Type="http://schemas.openxmlformats.org/officeDocument/2006/relationships/image"/><Relationship Id="rId8" Target="../media/image236.svg" Type="http://schemas.openxmlformats.org/officeDocument/2006/relationships/image"/><Relationship Id="rId9" Target="../media/image23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5.png" Type="http://schemas.openxmlformats.org/officeDocument/2006/relationships/image"/><Relationship Id="rId11" Target="../media/image226.svg" Type="http://schemas.openxmlformats.org/officeDocument/2006/relationships/image"/><Relationship Id="rId12" Target="../media/image239.png" Type="http://schemas.openxmlformats.org/officeDocument/2006/relationships/image"/><Relationship Id="rId2" Target="../media/image205.png" Type="http://schemas.openxmlformats.org/officeDocument/2006/relationships/image"/><Relationship Id="rId3" Target="../media/image206.svg" Type="http://schemas.openxmlformats.org/officeDocument/2006/relationships/image"/><Relationship Id="rId4" Target="../media/image207.png" Type="http://schemas.openxmlformats.org/officeDocument/2006/relationships/image"/><Relationship Id="rId5" Target="../media/image208.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223.png" Type="http://schemas.openxmlformats.org/officeDocument/2006/relationships/image"/><Relationship Id="rId9" Target="../media/image22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4.png" Type="http://schemas.openxmlformats.org/officeDocument/2006/relationships/image"/><Relationship Id="rId11" Target="../media/image215.svg" Type="http://schemas.openxmlformats.org/officeDocument/2006/relationships/image"/><Relationship Id="rId12" Target="../media/image85.png" Type="http://schemas.openxmlformats.org/officeDocument/2006/relationships/image"/><Relationship Id="rId13" Target="../media/image86.svg" Type="http://schemas.openxmlformats.org/officeDocument/2006/relationships/image"/><Relationship Id="rId14" Target="../media/image172.png" Type="http://schemas.openxmlformats.org/officeDocument/2006/relationships/image"/><Relationship Id="rId15" Target="../media/image173.svg" Type="http://schemas.openxmlformats.org/officeDocument/2006/relationships/image"/><Relationship Id="rId16" Target="../media/image174.png" Type="http://schemas.openxmlformats.org/officeDocument/2006/relationships/image"/><Relationship Id="rId17" Target="../media/image175.svg" Type="http://schemas.openxmlformats.org/officeDocument/2006/relationships/image"/><Relationship Id="rId18" Target="../media/image178.png" Type="http://schemas.openxmlformats.org/officeDocument/2006/relationships/image"/><Relationship Id="rId19" Target="../media/image179.svg" Type="http://schemas.openxmlformats.org/officeDocument/2006/relationships/image"/><Relationship Id="rId2" Target="../notesSlides/notesSlide30.xml" Type="http://schemas.openxmlformats.org/officeDocument/2006/relationships/notesSlide"/><Relationship Id="rId20" Target="../media/image180.png" Type="http://schemas.openxmlformats.org/officeDocument/2006/relationships/image"/><Relationship Id="rId21" Target="../media/image181.svg" Type="http://schemas.openxmlformats.org/officeDocument/2006/relationships/image"/><Relationship Id="rId22" Target="../media/image182.png" Type="http://schemas.openxmlformats.org/officeDocument/2006/relationships/image"/><Relationship Id="rId23" Target="../media/image183.svg" Type="http://schemas.openxmlformats.org/officeDocument/2006/relationships/image"/><Relationship Id="rId24" Target="../media/image184.png" Type="http://schemas.openxmlformats.org/officeDocument/2006/relationships/image"/><Relationship Id="rId25" Target="../media/image185.svg" Type="http://schemas.openxmlformats.org/officeDocument/2006/relationships/image"/><Relationship Id="rId3" Target="../media/image209.png" Type="http://schemas.openxmlformats.org/officeDocument/2006/relationships/image"/><Relationship Id="rId4" Target="../media/image210.svg" Type="http://schemas.openxmlformats.org/officeDocument/2006/relationships/image"/><Relationship Id="rId5" Target="../media/image5.png" Type="http://schemas.openxmlformats.org/officeDocument/2006/relationships/image"/><Relationship Id="rId6" Target="../media/image211.svg" Type="http://schemas.openxmlformats.org/officeDocument/2006/relationships/image"/><Relationship Id="rId7" Target="../media/image39.svg" Type="http://schemas.openxmlformats.org/officeDocument/2006/relationships/image"/><Relationship Id="rId8" Target="../media/image212.png" Type="http://schemas.openxmlformats.org/officeDocument/2006/relationships/image"/><Relationship Id="rId9" Target="../media/image213.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8.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223.png" Type="http://schemas.openxmlformats.org/officeDocument/2006/relationships/image"/><Relationship Id="rId14" Target="../media/image224.svg" Type="http://schemas.openxmlformats.org/officeDocument/2006/relationships/image"/><Relationship Id="rId15" Target="../media/image225.png" Type="http://schemas.openxmlformats.org/officeDocument/2006/relationships/image"/><Relationship Id="rId16" Target="../media/image226.svg" Type="http://schemas.openxmlformats.org/officeDocument/2006/relationships/image"/><Relationship Id="rId17" Target="../media/image240.png" Type="http://schemas.openxmlformats.org/officeDocument/2006/relationships/image"/><Relationship Id="rId2" Target="../notesSlides/notesSlide31.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211.svg" Type="http://schemas.openxmlformats.org/officeDocument/2006/relationships/image"/><Relationship Id="rId6" Target="../media/image171.svg" Type="http://schemas.openxmlformats.org/officeDocument/2006/relationships/image"/><Relationship Id="rId7" Target="../media/image235.png" Type="http://schemas.openxmlformats.org/officeDocument/2006/relationships/image"/><Relationship Id="rId8" Target="../media/image236.svg" Type="http://schemas.openxmlformats.org/officeDocument/2006/relationships/image"/><Relationship Id="rId9" Target="../media/image23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8.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223.png" Type="http://schemas.openxmlformats.org/officeDocument/2006/relationships/image"/><Relationship Id="rId14" Target="../media/image224.svg" Type="http://schemas.openxmlformats.org/officeDocument/2006/relationships/image"/><Relationship Id="rId15" Target="../media/image225.png" Type="http://schemas.openxmlformats.org/officeDocument/2006/relationships/image"/><Relationship Id="rId16" Target="../media/image226.svg" Type="http://schemas.openxmlformats.org/officeDocument/2006/relationships/image"/><Relationship Id="rId17" Target="../media/image241.png" Type="http://schemas.openxmlformats.org/officeDocument/2006/relationships/image"/><Relationship Id="rId2" Target="../notesSlides/notesSlide32.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211.svg" Type="http://schemas.openxmlformats.org/officeDocument/2006/relationships/image"/><Relationship Id="rId6" Target="../media/image171.svg" Type="http://schemas.openxmlformats.org/officeDocument/2006/relationships/image"/><Relationship Id="rId7" Target="../media/image235.png" Type="http://schemas.openxmlformats.org/officeDocument/2006/relationships/image"/><Relationship Id="rId8" Target="../media/image236.svg" Type="http://schemas.openxmlformats.org/officeDocument/2006/relationships/image"/><Relationship Id="rId9" Target="../media/image23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8.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223.png" Type="http://schemas.openxmlformats.org/officeDocument/2006/relationships/image"/><Relationship Id="rId14" Target="../media/image224.svg" Type="http://schemas.openxmlformats.org/officeDocument/2006/relationships/image"/><Relationship Id="rId15" Target="../media/image225.png" Type="http://schemas.openxmlformats.org/officeDocument/2006/relationships/image"/><Relationship Id="rId16" Target="../media/image226.svg" Type="http://schemas.openxmlformats.org/officeDocument/2006/relationships/image"/><Relationship Id="rId17" Target="../media/image242.png" Type="http://schemas.openxmlformats.org/officeDocument/2006/relationships/image"/><Relationship Id="rId2" Target="../notesSlides/notesSlide33.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211.svg" Type="http://schemas.openxmlformats.org/officeDocument/2006/relationships/image"/><Relationship Id="rId6" Target="../media/image171.svg" Type="http://schemas.openxmlformats.org/officeDocument/2006/relationships/image"/><Relationship Id="rId7" Target="../media/image235.png" Type="http://schemas.openxmlformats.org/officeDocument/2006/relationships/image"/><Relationship Id="rId8" Target="../media/image236.svg" Type="http://schemas.openxmlformats.org/officeDocument/2006/relationships/image"/><Relationship Id="rId9" Target="../media/image23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8.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223.png" Type="http://schemas.openxmlformats.org/officeDocument/2006/relationships/image"/><Relationship Id="rId14" Target="../media/image224.svg" Type="http://schemas.openxmlformats.org/officeDocument/2006/relationships/image"/><Relationship Id="rId15" Target="../media/image225.png" Type="http://schemas.openxmlformats.org/officeDocument/2006/relationships/image"/><Relationship Id="rId16" Target="../media/image226.svg" Type="http://schemas.openxmlformats.org/officeDocument/2006/relationships/image"/><Relationship Id="rId2" Target="../notesSlides/notesSlide34.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211.svg" Type="http://schemas.openxmlformats.org/officeDocument/2006/relationships/image"/><Relationship Id="rId6" Target="../media/image171.svg" Type="http://schemas.openxmlformats.org/officeDocument/2006/relationships/image"/><Relationship Id="rId7" Target="../media/image235.png" Type="http://schemas.openxmlformats.org/officeDocument/2006/relationships/image"/><Relationship Id="rId8" Target="../media/image236.svg" Type="http://schemas.openxmlformats.org/officeDocument/2006/relationships/image"/><Relationship Id="rId9" Target="../media/image237.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8.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223.png" Type="http://schemas.openxmlformats.org/officeDocument/2006/relationships/image"/><Relationship Id="rId14" Target="../media/image224.svg" Type="http://schemas.openxmlformats.org/officeDocument/2006/relationships/image"/><Relationship Id="rId15" Target="../media/image225.png" Type="http://schemas.openxmlformats.org/officeDocument/2006/relationships/image"/><Relationship Id="rId16" Target="../media/image226.svg" Type="http://schemas.openxmlformats.org/officeDocument/2006/relationships/image"/><Relationship Id="rId2" Target="../notesSlides/notesSlide35.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211.svg" Type="http://schemas.openxmlformats.org/officeDocument/2006/relationships/image"/><Relationship Id="rId6" Target="../media/image171.svg" Type="http://schemas.openxmlformats.org/officeDocument/2006/relationships/image"/><Relationship Id="rId7" Target="../media/image235.png" Type="http://schemas.openxmlformats.org/officeDocument/2006/relationships/image"/><Relationship Id="rId8" Target="../media/image236.svg" Type="http://schemas.openxmlformats.org/officeDocument/2006/relationships/image"/><Relationship Id="rId9" Target="../media/image23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4.png" Type="http://schemas.openxmlformats.org/officeDocument/2006/relationships/image"/><Relationship Id="rId11" Target="../media/image215.svg" Type="http://schemas.openxmlformats.org/officeDocument/2006/relationships/image"/><Relationship Id="rId12" Target="../media/image85.png" Type="http://schemas.openxmlformats.org/officeDocument/2006/relationships/image"/><Relationship Id="rId13" Target="../media/image86.svg" Type="http://schemas.openxmlformats.org/officeDocument/2006/relationships/image"/><Relationship Id="rId14" Target="../media/image172.png" Type="http://schemas.openxmlformats.org/officeDocument/2006/relationships/image"/><Relationship Id="rId15" Target="../media/image173.svg" Type="http://schemas.openxmlformats.org/officeDocument/2006/relationships/image"/><Relationship Id="rId16" Target="../media/image174.png" Type="http://schemas.openxmlformats.org/officeDocument/2006/relationships/image"/><Relationship Id="rId17" Target="../media/image175.svg" Type="http://schemas.openxmlformats.org/officeDocument/2006/relationships/image"/><Relationship Id="rId18" Target="../media/image178.png" Type="http://schemas.openxmlformats.org/officeDocument/2006/relationships/image"/><Relationship Id="rId19" Target="../media/image179.svg" Type="http://schemas.openxmlformats.org/officeDocument/2006/relationships/image"/><Relationship Id="rId2" Target="../notesSlides/notesSlide36.xml" Type="http://schemas.openxmlformats.org/officeDocument/2006/relationships/notesSlide"/><Relationship Id="rId20" Target="../media/image180.png" Type="http://schemas.openxmlformats.org/officeDocument/2006/relationships/image"/><Relationship Id="rId21" Target="../media/image181.svg" Type="http://schemas.openxmlformats.org/officeDocument/2006/relationships/image"/><Relationship Id="rId22" Target="../media/image182.png" Type="http://schemas.openxmlformats.org/officeDocument/2006/relationships/image"/><Relationship Id="rId23" Target="../media/image183.svg" Type="http://schemas.openxmlformats.org/officeDocument/2006/relationships/image"/><Relationship Id="rId24" Target="../media/image184.png" Type="http://schemas.openxmlformats.org/officeDocument/2006/relationships/image"/><Relationship Id="rId25" Target="../media/image185.svg" Type="http://schemas.openxmlformats.org/officeDocument/2006/relationships/image"/><Relationship Id="rId3" Target="../media/image209.png" Type="http://schemas.openxmlformats.org/officeDocument/2006/relationships/image"/><Relationship Id="rId4" Target="../media/image210.svg" Type="http://schemas.openxmlformats.org/officeDocument/2006/relationships/image"/><Relationship Id="rId5" Target="../media/image5.png" Type="http://schemas.openxmlformats.org/officeDocument/2006/relationships/image"/><Relationship Id="rId6" Target="../media/image211.svg" Type="http://schemas.openxmlformats.org/officeDocument/2006/relationships/image"/><Relationship Id="rId7" Target="../media/image39.svg" Type="http://schemas.openxmlformats.org/officeDocument/2006/relationships/image"/><Relationship Id="rId8" Target="../media/image212.png" Type="http://schemas.openxmlformats.org/officeDocument/2006/relationships/image"/><Relationship Id="rId9" Target="../media/image213.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4.svg" Type="http://schemas.openxmlformats.org/officeDocument/2006/relationships/image"/><Relationship Id="rId11" Target="../media/image243.png" Type="http://schemas.openxmlformats.org/officeDocument/2006/relationships/image"/><Relationship Id="rId12" Target="../media/image39.svg" Type="http://schemas.openxmlformats.org/officeDocument/2006/relationships/image"/><Relationship Id="rId13" Target="../media/image225.png" Type="http://schemas.openxmlformats.org/officeDocument/2006/relationships/image"/><Relationship Id="rId14" Target="../media/image226.svg" Type="http://schemas.openxmlformats.org/officeDocument/2006/relationships/image"/><Relationship Id="rId15" Target="../media/image182.png" Type="http://schemas.openxmlformats.org/officeDocument/2006/relationships/image"/><Relationship Id="rId16" Target="../media/image183.svg" Type="http://schemas.openxmlformats.org/officeDocument/2006/relationships/image"/><Relationship Id="rId17" Target="../media/image184.png" Type="http://schemas.openxmlformats.org/officeDocument/2006/relationships/image"/><Relationship Id="rId18" Target="../media/image185.svg" Type="http://schemas.openxmlformats.org/officeDocument/2006/relationships/image"/><Relationship Id="rId19" Target="../media/image205.png" Type="http://schemas.openxmlformats.org/officeDocument/2006/relationships/image"/><Relationship Id="rId2" Target="../notesSlides/notesSlide37.xml" Type="http://schemas.openxmlformats.org/officeDocument/2006/relationships/notesSlide"/><Relationship Id="rId20" Target="../media/image206.svg" Type="http://schemas.openxmlformats.org/officeDocument/2006/relationships/image"/><Relationship Id="rId21" Target="../media/image207.png" Type="http://schemas.openxmlformats.org/officeDocument/2006/relationships/image"/><Relationship Id="rId22" Target="../media/image208.sv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22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3.png" Type="http://schemas.openxmlformats.org/officeDocument/2006/relationships/image"/><Relationship Id="rId11" Target="../media/image224.svg" Type="http://schemas.openxmlformats.org/officeDocument/2006/relationships/image"/><Relationship Id="rId12" Target="../media/image225.png" Type="http://schemas.openxmlformats.org/officeDocument/2006/relationships/image"/><Relationship Id="rId13" Target="../media/image226.svg" Type="http://schemas.openxmlformats.org/officeDocument/2006/relationships/image"/><Relationship Id="rId14" Target="../media/image182.png" Type="http://schemas.openxmlformats.org/officeDocument/2006/relationships/image"/><Relationship Id="rId15" Target="../media/image183.svg" Type="http://schemas.openxmlformats.org/officeDocument/2006/relationships/image"/><Relationship Id="rId16" Target="../media/image184.png" Type="http://schemas.openxmlformats.org/officeDocument/2006/relationships/image"/><Relationship Id="rId17" Target="../media/image185.svg" Type="http://schemas.openxmlformats.org/officeDocument/2006/relationships/image"/><Relationship Id="rId18" Target="../media/image205.png" Type="http://schemas.openxmlformats.org/officeDocument/2006/relationships/image"/><Relationship Id="rId19" Target="../media/image206.svg" Type="http://schemas.openxmlformats.org/officeDocument/2006/relationships/image"/><Relationship Id="rId2" Target="../notesSlides/notesSlide38.xml" Type="http://schemas.openxmlformats.org/officeDocument/2006/relationships/notesSlide"/><Relationship Id="rId20" Target="../media/image207.png" Type="http://schemas.openxmlformats.org/officeDocument/2006/relationships/image"/><Relationship Id="rId21" Target="../media/image208.sv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9.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4.png" Type="http://schemas.openxmlformats.org/officeDocument/2006/relationships/image"/><Relationship Id="rId11" Target="../media/image215.svg" Type="http://schemas.openxmlformats.org/officeDocument/2006/relationships/image"/><Relationship Id="rId12" Target="../media/image85.png" Type="http://schemas.openxmlformats.org/officeDocument/2006/relationships/image"/><Relationship Id="rId13" Target="../media/image86.svg" Type="http://schemas.openxmlformats.org/officeDocument/2006/relationships/image"/><Relationship Id="rId14" Target="../media/image172.png" Type="http://schemas.openxmlformats.org/officeDocument/2006/relationships/image"/><Relationship Id="rId15" Target="../media/image173.svg" Type="http://schemas.openxmlformats.org/officeDocument/2006/relationships/image"/><Relationship Id="rId16" Target="../media/image174.png" Type="http://schemas.openxmlformats.org/officeDocument/2006/relationships/image"/><Relationship Id="rId17" Target="../media/image175.svg" Type="http://schemas.openxmlformats.org/officeDocument/2006/relationships/image"/><Relationship Id="rId18" Target="../media/image178.png" Type="http://schemas.openxmlformats.org/officeDocument/2006/relationships/image"/><Relationship Id="rId19" Target="../media/image179.svg" Type="http://schemas.openxmlformats.org/officeDocument/2006/relationships/image"/><Relationship Id="rId2" Target="../notesSlides/notesSlide39.xml" Type="http://schemas.openxmlformats.org/officeDocument/2006/relationships/notesSlide"/><Relationship Id="rId20" Target="../media/image180.png" Type="http://schemas.openxmlformats.org/officeDocument/2006/relationships/image"/><Relationship Id="rId21" Target="../media/image181.svg" Type="http://schemas.openxmlformats.org/officeDocument/2006/relationships/image"/><Relationship Id="rId22" Target="../media/image182.png" Type="http://schemas.openxmlformats.org/officeDocument/2006/relationships/image"/><Relationship Id="rId23" Target="../media/image183.svg" Type="http://schemas.openxmlformats.org/officeDocument/2006/relationships/image"/><Relationship Id="rId24" Target="../media/image184.png" Type="http://schemas.openxmlformats.org/officeDocument/2006/relationships/image"/><Relationship Id="rId25" Target="../media/image185.svg" Type="http://schemas.openxmlformats.org/officeDocument/2006/relationships/image"/><Relationship Id="rId3" Target="../media/image209.png" Type="http://schemas.openxmlformats.org/officeDocument/2006/relationships/image"/><Relationship Id="rId4" Target="../media/image210.svg" Type="http://schemas.openxmlformats.org/officeDocument/2006/relationships/image"/><Relationship Id="rId5" Target="../media/image5.png" Type="http://schemas.openxmlformats.org/officeDocument/2006/relationships/image"/><Relationship Id="rId6" Target="../media/image211.svg" Type="http://schemas.openxmlformats.org/officeDocument/2006/relationships/image"/><Relationship Id="rId7" Target="../media/image39.svg" Type="http://schemas.openxmlformats.org/officeDocument/2006/relationships/image"/><Relationship Id="rId8" Target="../media/image212.png" Type="http://schemas.openxmlformats.org/officeDocument/2006/relationships/image"/><Relationship Id="rId9" Target="../media/image213.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9.png" Type="http://schemas.openxmlformats.org/officeDocument/2006/relationships/image"/><Relationship Id="rId11" Target="../media/image220.svg" Type="http://schemas.openxmlformats.org/officeDocument/2006/relationships/image"/><Relationship Id="rId12" Target="../media/image221.png" Type="http://schemas.openxmlformats.org/officeDocument/2006/relationships/image"/><Relationship Id="rId13" Target="../media/image222.svg" Type="http://schemas.openxmlformats.org/officeDocument/2006/relationships/image"/><Relationship Id="rId14" Target="../media/image244.png" Type="http://schemas.openxmlformats.org/officeDocument/2006/relationships/image"/><Relationship Id="rId2" Target="../notesSlides/notesSlide40.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9.png" Type="http://schemas.openxmlformats.org/officeDocument/2006/relationships/image"/><Relationship Id="rId11" Target="../media/image220.svg" Type="http://schemas.openxmlformats.org/officeDocument/2006/relationships/image"/><Relationship Id="rId12" Target="../media/image221.png" Type="http://schemas.openxmlformats.org/officeDocument/2006/relationships/image"/><Relationship Id="rId13" Target="../media/image222.svg" Type="http://schemas.openxmlformats.org/officeDocument/2006/relationships/image"/><Relationship Id="rId14" Target="../media/image245.png" Type="http://schemas.openxmlformats.org/officeDocument/2006/relationships/image"/><Relationship Id="rId2" Target="../notesSlides/notesSlide41.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4.png" Type="http://schemas.openxmlformats.org/officeDocument/2006/relationships/image"/><Relationship Id="rId11" Target="../media/image215.svg" Type="http://schemas.openxmlformats.org/officeDocument/2006/relationships/image"/><Relationship Id="rId12" Target="../media/image85.png" Type="http://schemas.openxmlformats.org/officeDocument/2006/relationships/image"/><Relationship Id="rId13" Target="../media/image86.svg" Type="http://schemas.openxmlformats.org/officeDocument/2006/relationships/image"/><Relationship Id="rId14" Target="../media/image172.png" Type="http://schemas.openxmlformats.org/officeDocument/2006/relationships/image"/><Relationship Id="rId15" Target="../media/image173.svg" Type="http://schemas.openxmlformats.org/officeDocument/2006/relationships/image"/><Relationship Id="rId16" Target="../media/image174.png" Type="http://schemas.openxmlformats.org/officeDocument/2006/relationships/image"/><Relationship Id="rId17" Target="../media/image175.svg" Type="http://schemas.openxmlformats.org/officeDocument/2006/relationships/image"/><Relationship Id="rId18" Target="../media/image178.png" Type="http://schemas.openxmlformats.org/officeDocument/2006/relationships/image"/><Relationship Id="rId19" Target="../media/image179.svg" Type="http://schemas.openxmlformats.org/officeDocument/2006/relationships/image"/><Relationship Id="rId2" Target="../notesSlides/notesSlide42.xml" Type="http://schemas.openxmlformats.org/officeDocument/2006/relationships/notesSlide"/><Relationship Id="rId20" Target="../media/image180.png" Type="http://schemas.openxmlformats.org/officeDocument/2006/relationships/image"/><Relationship Id="rId21" Target="../media/image181.svg" Type="http://schemas.openxmlformats.org/officeDocument/2006/relationships/image"/><Relationship Id="rId22" Target="../media/image182.png" Type="http://schemas.openxmlformats.org/officeDocument/2006/relationships/image"/><Relationship Id="rId23" Target="../media/image183.svg" Type="http://schemas.openxmlformats.org/officeDocument/2006/relationships/image"/><Relationship Id="rId24" Target="../media/image184.png" Type="http://schemas.openxmlformats.org/officeDocument/2006/relationships/image"/><Relationship Id="rId25" Target="../media/image185.svg" Type="http://schemas.openxmlformats.org/officeDocument/2006/relationships/image"/><Relationship Id="rId3" Target="../media/image209.png" Type="http://schemas.openxmlformats.org/officeDocument/2006/relationships/image"/><Relationship Id="rId4" Target="../media/image210.svg" Type="http://schemas.openxmlformats.org/officeDocument/2006/relationships/image"/><Relationship Id="rId5" Target="../media/image5.png" Type="http://schemas.openxmlformats.org/officeDocument/2006/relationships/image"/><Relationship Id="rId6" Target="../media/image211.svg" Type="http://schemas.openxmlformats.org/officeDocument/2006/relationships/image"/><Relationship Id="rId7" Target="../media/image39.svg" Type="http://schemas.openxmlformats.org/officeDocument/2006/relationships/image"/><Relationship Id="rId8" Target="../media/image212.png" Type="http://schemas.openxmlformats.org/officeDocument/2006/relationships/image"/><Relationship Id="rId9" Target="../media/image213.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6.png" Type="http://schemas.openxmlformats.org/officeDocument/2006/relationships/image"/><Relationship Id="rId11" Target="../media/image157.svg" Type="http://schemas.openxmlformats.org/officeDocument/2006/relationships/image"/><Relationship Id="rId12" Target="../media/image158.png" Type="http://schemas.openxmlformats.org/officeDocument/2006/relationships/image"/><Relationship Id="rId13" Target="../media/image159.svg" Type="http://schemas.openxmlformats.org/officeDocument/2006/relationships/image"/><Relationship Id="rId14" Target="../media/image160.png" Type="http://schemas.openxmlformats.org/officeDocument/2006/relationships/image"/><Relationship Id="rId15" Target="../media/image161.svg" Type="http://schemas.openxmlformats.org/officeDocument/2006/relationships/image"/><Relationship Id="rId16" Target="../media/image162.png" Type="http://schemas.openxmlformats.org/officeDocument/2006/relationships/image"/><Relationship Id="rId17" Target="../media/image163.svg" Type="http://schemas.openxmlformats.org/officeDocument/2006/relationships/image"/><Relationship Id="rId2" Target="../notesSlides/notesSlide43.xml" Type="http://schemas.openxmlformats.org/officeDocument/2006/relationships/notesSlide"/><Relationship Id="rId3" Target="../media/image152.png" Type="http://schemas.openxmlformats.org/officeDocument/2006/relationships/image"/><Relationship Id="rId4" Target="../media/image153.svg" Type="http://schemas.openxmlformats.org/officeDocument/2006/relationships/image"/><Relationship Id="rId5" Target="../media/image154.png" Type="http://schemas.openxmlformats.org/officeDocument/2006/relationships/image"/><Relationship Id="rId6" Target="../media/image155.svg" Type="http://schemas.openxmlformats.org/officeDocument/2006/relationships/image"/><Relationship Id="rId7" Target="../media/image5.png" Type="http://schemas.openxmlformats.org/officeDocument/2006/relationships/image"/><Relationship Id="rId8" Target="../media/image39.svg" Type="http://schemas.openxmlformats.org/officeDocument/2006/relationships/image"/><Relationship Id="rId9" Target="../media/image6.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6.png" Type="http://schemas.openxmlformats.org/officeDocument/2006/relationships/image"/><Relationship Id="rId11" Target="../media/image157.svg" Type="http://schemas.openxmlformats.org/officeDocument/2006/relationships/image"/><Relationship Id="rId12" Target="../media/image158.png" Type="http://schemas.openxmlformats.org/officeDocument/2006/relationships/image"/><Relationship Id="rId13" Target="../media/image159.svg" Type="http://schemas.openxmlformats.org/officeDocument/2006/relationships/image"/><Relationship Id="rId14" Target="../media/image160.png" Type="http://schemas.openxmlformats.org/officeDocument/2006/relationships/image"/><Relationship Id="rId15" Target="../media/image161.svg" Type="http://schemas.openxmlformats.org/officeDocument/2006/relationships/image"/><Relationship Id="rId16" Target="../media/image162.png" Type="http://schemas.openxmlformats.org/officeDocument/2006/relationships/image"/><Relationship Id="rId17" Target="../media/image163.svg" Type="http://schemas.openxmlformats.org/officeDocument/2006/relationships/image"/><Relationship Id="rId2" Target="../notesSlides/notesSlide44.xml" Type="http://schemas.openxmlformats.org/officeDocument/2006/relationships/notesSlide"/><Relationship Id="rId3" Target="../media/image152.png" Type="http://schemas.openxmlformats.org/officeDocument/2006/relationships/image"/><Relationship Id="rId4" Target="../media/image153.svg" Type="http://schemas.openxmlformats.org/officeDocument/2006/relationships/image"/><Relationship Id="rId5" Target="../media/image154.png" Type="http://schemas.openxmlformats.org/officeDocument/2006/relationships/image"/><Relationship Id="rId6" Target="../media/image155.svg" Type="http://schemas.openxmlformats.org/officeDocument/2006/relationships/image"/><Relationship Id="rId7" Target="../media/image5.png" Type="http://schemas.openxmlformats.org/officeDocument/2006/relationships/image"/><Relationship Id="rId8" Target="../media/image39.svg" Type="http://schemas.openxmlformats.org/officeDocument/2006/relationships/image"/><Relationship Id="rId9" Target="../media/image6.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39.svg" Type="http://schemas.openxmlformats.org/officeDocument/2006/relationships/image"/><Relationship Id="rId12" Target="../media/image85.png" Type="http://schemas.openxmlformats.org/officeDocument/2006/relationships/image"/><Relationship Id="rId13" Target="../media/image86.svg" Type="http://schemas.openxmlformats.org/officeDocument/2006/relationships/image"/><Relationship Id="rId14" Target="../media/image87.png" Type="http://schemas.openxmlformats.org/officeDocument/2006/relationships/image"/><Relationship Id="rId15" Target="../media/image88.svg" Type="http://schemas.openxmlformats.org/officeDocument/2006/relationships/image"/><Relationship Id="rId16" Target="../media/image89.png" Type="http://schemas.openxmlformats.org/officeDocument/2006/relationships/image"/><Relationship Id="rId17" Target="../media/image90.svg" Type="http://schemas.openxmlformats.org/officeDocument/2006/relationships/image"/><Relationship Id="rId18" Target="../media/image91.png" Type="http://schemas.openxmlformats.org/officeDocument/2006/relationships/image"/><Relationship Id="rId19" Target="../media/image92.svg" Type="http://schemas.openxmlformats.org/officeDocument/2006/relationships/image"/><Relationship Id="rId2" Target="../notesSlides/notesSlide45.xml" Type="http://schemas.openxmlformats.org/officeDocument/2006/relationships/notesSlide"/><Relationship Id="rId20" Target="../media/image93.png" Type="http://schemas.openxmlformats.org/officeDocument/2006/relationships/image"/><Relationship Id="rId21" Target="../media/image94.svg" Type="http://schemas.openxmlformats.org/officeDocument/2006/relationships/image"/><Relationship Id="rId22" Target="../media/image97.png" Type="http://schemas.openxmlformats.org/officeDocument/2006/relationships/image"/><Relationship Id="rId23" Target="../media/image98.svg" Type="http://schemas.openxmlformats.org/officeDocument/2006/relationships/image"/><Relationship Id="rId24" Target="../media/image99.png" Type="http://schemas.openxmlformats.org/officeDocument/2006/relationships/image"/><Relationship Id="rId25" Target="../media/image100.svg" Type="http://schemas.openxmlformats.org/officeDocument/2006/relationships/image"/><Relationship Id="rId26" Target="../media/image101.png" Type="http://schemas.openxmlformats.org/officeDocument/2006/relationships/image"/><Relationship Id="rId27" Target="../media/image102.svg" Type="http://schemas.openxmlformats.org/officeDocument/2006/relationships/image"/><Relationship Id="rId28" Target="../media/image246.png" Type="http://schemas.openxmlformats.org/officeDocument/2006/relationships/image"/><Relationship Id="rId29" Target="../media/image247.svg" Type="http://schemas.openxmlformats.org/officeDocument/2006/relationships/image"/><Relationship Id="rId3" Target="../media/image79.png" Type="http://schemas.openxmlformats.org/officeDocument/2006/relationships/image"/><Relationship Id="rId30" Target="../media/image248.png" Type="http://schemas.openxmlformats.org/officeDocument/2006/relationships/image"/><Relationship Id="rId31" Target="../media/image249.svg" Type="http://schemas.openxmlformats.org/officeDocument/2006/relationships/image"/><Relationship Id="rId4" Target="../media/image80.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83.png" Type="http://schemas.openxmlformats.org/officeDocument/2006/relationships/image"/><Relationship Id="rId8" Target="../media/image84.svg" Type="http://schemas.openxmlformats.org/officeDocument/2006/relationships/image"/><Relationship Id="rId9" Target="../media/image5.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8.png" Type="http://schemas.openxmlformats.org/officeDocument/2006/relationships/image"/><Relationship Id="rId11" Target="../media/image249.svg" Type="http://schemas.openxmlformats.org/officeDocument/2006/relationships/image"/><Relationship Id="rId12" Target="../media/image250.png" Type="http://schemas.openxmlformats.org/officeDocument/2006/relationships/image"/><Relationship Id="rId2" Target="../notesSlides/notesSlide46.xml" Type="http://schemas.openxmlformats.org/officeDocument/2006/relationships/notesSlide"/><Relationship Id="rId3" Target="../media/image79.png" Type="http://schemas.openxmlformats.org/officeDocument/2006/relationships/image"/><Relationship Id="rId4" Target="../media/image80.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9.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142.png" Type="http://schemas.openxmlformats.org/officeDocument/2006/relationships/image"/><Relationship Id="rId12" Target="../media/image143.svg" Type="http://schemas.openxmlformats.org/officeDocument/2006/relationships/image"/><Relationship Id="rId13" Target="../media/image48.png" Type="http://schemas.openxmlformats.org/officeDocument/2006/relationships/image"/><Relationship Id="rId14" Target="../media/image49.svg" Type="http://schemas.openxmlformats.org/officeDocument/2006/relationships/image"/><Relationship Id="rId15" Target="../media/image50.png" Type="http://schemas.openxmlformats.org/officeDocument/2006/relationships/image"/><Relationship Id="rId16" Target="../media/image51.svg" Type="http://schemas.openxmlformats.org/officeDocument/2006/relationships/image"/><Relationship Id="rId17" Target="../media/image52.png" Type="http://schemas.openxmlformats.org/officeDocument/2006/relationships/image"/><Relationship Id="rId18" Target="../media/image53.svg" Type="http://schemas.openxmlformats.org/officeDocument/2006/relationships/image"/><Relationship Id="rId19" Target="../media/image54.png" Type="http://schemas.openxmlformats.org/officeDocument/2006/relationships/image"/><Relationship Id="rId2" Target="../notesSlides/notesSlide47.xml" Type="http://schemas.openxmlformats.org/officeDocument/2006/relationships/notesSlide"/><Relationship Id="rId20" Target="../media/image55.svg" Type="http://schemas.openxmlformats.org/officeDocument/2006/relationships/image"/><Relationship Id="rId21" Target="../media/image56.png" Type="http://schemas.openxmlformats.org/officeDocument/2006/relationships/image"/><Relationship Id="rId22" Target="../media/image57.svg" Type="http://schemas.openxmlformats.org/officeDocument/2006/relationships/image"/><Relationship Id="rId23" Target="../media/image39.svg" Type="http://schemas.openxmlformats.org/officeDocument/2006/relationships/image"/><Relationship Id="rId24" Target="../media/image144.png" Type="http://schemas.openxmlformats.org/officeDocument/2006/relationships/image"/><Relationship Id="rId25" Target="../media/image145.svg" Type="http://schemas.openxmlformats.org/officeDocument/2006/relationships/image"/><Relationship Id="rId26" Target="../media/image146.png" Type="http://schemas.openxmlformats.org/officeDocument/2006/relationships/image"/><Relationship Id="rId27" Target="../media/image147.svg" Type="http://schemas.openxmlformats.org/officeDocument/2006/relationships/image"/><Relationship Id="rId28" Target="../media/image148.png" Type="http://schemas.openxmlformats.org/officeDocument/2006/relationships/image"/><Relationship Id="rId29" Target="../media/image149.svg" Type="http://schemas.openxmlformats.org/officeDocument/2006/relationships/image"/><Relationship Id="rId3" Target="../media/image138.png" Type="http://schemas.openxmlformats.org/officeDocument/2006/relationships/image"/><Relationship Id="rId30" Target="../media/image251.jpeg" Type="http://schemas.openxmlformats.org/officeDocument/2006/relationships/image"/><Relationship Id="rId4" Target="../media/image139.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5.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52.png" Type="http://schemas.openxmlformats.org/officeDocument/2006/relationships/image"/><Relationship Id="rId13" Target="../media/image253.svg" Type="http://schemas.openxmlformats.org/officeDocument/2006/relationships/image"/><Relationship Id="rId14" Target="../media/image246.png" Type="http://schemas.openxmlformats.org/officeDocument/2006/relationships/image"/><Relationship Id="rId15" Target="../media/image247.svg" Type="http://schemas.openxmlformats.org/officeDocument/2006/relationships/image"/><Relationship Id="rId16" Target="../media/image254.png" Type="http://schemas.openxmlformats.org/officeDocument/2006/relationships/image"/><Relationship Id="rId2" Target="../notesSlides/notesSlide48.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55.png" Type="http://schemas.openxmlformats.org/officeDocument/2006/relationships/image"/><Relationship Id="rId13" Target="../media/image256.png" Type="http://schemas.openxmlformats.org/officeDocument/2006/relationships/image"/><Relationship Id="rId14" Target="../media/image257.png" Type="http://schemas.openxmlformats.org/officeDocument/2006/relationships/image"/><Relationship Id="rId2" Target="../notesSlides/notesSlide49.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58.png" Type="http://schemas.openxmlformats.org/officeDocument/2006/relationships/image"/><Relationship Id="rId13" Target="../media/image259.png" Type="http://schemas.openxmlformats.org/officeDocument/2006/relationships/image"/><Relationship Id="rId2" Target="../notesSlides/notesSlide50.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58.png" Type="http://schemas.openxmlformats.org/officeDocument/2006/relationships/image"/><Relationship Id="rId13" Target="../media/image260.png" Type="http://schemas.openxmlformats.org/officeDocument/2006/relationships/image"/><Relationship Id="rId2" Target="../notesSlides/notesSlide51.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58.png" Type="http://schemas.openxmlformats.org/officeDocument/2006/relationships/image"/><Relationship Id="rId13" Target="../media/image261.png" Type="http://schemas.openxmlformats.org/officeDocument/2006/relationships/image"/><Relationship Id="rId2" Target="../notesSlides/notesSlide52.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58.png" Type="http://schemas.openxmlformats.org/officeDocument/2006/relationships/image"/><Relationship Id="rId13" Target="../media/image262.png" Type="http://schemas.openxmlformats.org/officeDocument/2006/relationships/image"/><Relationship Id="rId2" Target="../notesSlides/notesSlide53.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3.jpeg" Type="http://schemas.openxmlformats.org/officeDocument/2006/relationships/image"/><Relationship Id="rId11" Target="../media/image225.png" Type="http://schemas.openxmlformats.org/officeDocument/2006/relationships/image"/><Relationship Id="rId12" Target="../media/image226.svg" Type="http://schemas.openxmlformats.org/officeDocument/2006/relationships/image"/><Relationship Id="rId13" Target="../media/image205.png" Type="http://schemas.openxmlformats.org/officeDocument/2006/relationships/image"/><Relationship Id="rId14" Target="../media/image206.svg" Type="http://schemas.openxmlformats.org/officeDocument/2006/relationships/image"/><Relationship Id="rId15" Target="../media/image207.png" Type="http://schemas.openxmlformats.org/officeDocument/2006/relationships/image"/><Relationship Id="rId16" Target="../media/image208.svg" Type="http://schemas.openxmlformats.org/officeDocument/2006/relationships/image"/><Relationship Id="rId17" Target="../media/image182.png" Type="http://schemas.openxmlformats.org/officeDocument/2006/relationships/image"/><Relationship Id="rId18" Target="../media/image183.svg" Type="http://schemas.openxmlformats.org/officeDocument/2006/relationships/image"/><Relationship Id="rId19" Target="../media/image184.png" Type="http://schemas.openxmlformats.org/officeDocument/2006/relationships/image"/><Relationship Id="rId2" Target="../notesSlides/notesSlide54.xml" Type="http://schemas.openxmlformats.org/officeDocument/2006/relationships/notesSlide"/><Relationship Id="rId20" Target="../media/image185.svg" Type="http://schemas.openxmlformats.org/officeDocument/2006/relationships/image"/><Relationship Id="rId21" Target="../media/image228.png" Type="http://schemas.openxmlformats.org/officeDocument/2006/relationships/image"/><Relationship Id="rId22" Target="../media/image229.svg" Type="http://schemas.openxmlformats.org/officeDocument/2006/relationships/imag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5.png" Type="http://schemas.openxmlformats.org/officeDocument/2006/relationships/image"/><Relationship Id="rId11" Target="../media/image226.svg" Type="http://schemas.openxmlformats.org/officeDocument/2006/relationships/image"/><Relationship Id="rId12" Target="../media/image205.png" Type="http://schemas.openxmlformats.org/officeDocument/2006/relationships/image"/><Relationship Id="rId13" Target="../media/image206.svg" Type="http://schemas.openxmlformats.org/officeDocument/2006/relationships/image"/><Relationship Id="rId14" Target="../media/image207.png" Type="http://schemas.openxmlformats.org/officeDocument/2006/relationships/image"/><Relationship Id="rId15" Target="../media/image208.svg" Type="http://schemas.openxmlformats.org/officeDocument/2006/relationships/image"/><Relationship Id="rId16" Target="../media/image182.png" Type="http://schemas.openxmlformats.org/officeDocument/2006/relationships/image"/><Relationship Id="rId17" Target="../media/image183.svg" Type="http://schemas.openxmlformats.org/officeDocument/2006/relationships/image"/><Relationship Id="rId18" Target="../media/image184.png" Type="http://schemas.openxmlformats.org/officeDocument/2006/relationships/image"/><Relationship Id="rId19" Target="../media/image185.svg" Type="http://schemas.openxmlformats.org/officeDocument/2006/relationships/image"/><Relationship Id="rId2" Target="../notesSlides/notesSlide55.xml" Type="http://schemas.openxmlformats.org/officeDocument/2006/relationships/notesSlide"/><Relationship Id="rId20" Target="../media/image228.png" Type="http://schemas.openxmlformats.org/officeDocument/2006/relationships/image"/><Relationship Id="rId21" Target="../media/image229.svg" Type="http://schemas.openxmlformats.org/officeDocument/2006/relationships/image"/><Relationship Id="rId22" Target="../media/image264.jpeg" Type="http://schemas.openxmlformats.org/officeDocument/2006/relationships/imag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5.png" Type="http://schemas.openxmlformats.org/officeDocument/2006/relationships/image"/><Relationship Id="rId11" Target="../media/image226.svg" Type="http://schemas.openxmlformats.org/officeDocument/2006/relationships/image"/><Relationship Id="rId12" Target="../media/image205.png" Type="http://schemas.openxmlformats.org/officeDocument/2006/relationships/image"/><Relationship Id="rId13" Target="../media/image206.svg" Type="http://schemas.openxmlformats.org/officeDocument/2006/relationships/image"/><Relationship Id="rId14" Target="../media/image207.png" Type="http://schemas.openxmlformats.org/officeDocument/2006/relationships/image"/><Relationship Id="rId15" Target="../media/image208.svg" Type="http://schemas.openxmlformats.org/officeDocument/2006/relationships/image"/><Relationship Id="rId16" Target="../media/image182.png" Type="http://schemas.openxmlformats.org/officeDocument/2006/relationships/image"/><Relationship Id="rId17" Target="../media/image183.svg" Type="http://schemas.openxmlformats.org/officeDocument/2006/relationships/image"/><Relationship Id="rId18" Target="../media/image184.png" Type="http://schemas.openxmlformats.org/officeDocument/2006/relationships/image"/><Relationship Id="rId19" Target="../media/image185.svg" Type="http://schemas.openxmlformats.org/officeDocument/2006/relationships/image"/><Relationship Id="rId2" Target="../notesSlides/notesSlide56.xml" Type="http://schemas.openxmlformats.org/officeDocument/2006/relationships/notesSlide"/><Relationship Id="rId20" Target="../media/image228.png" Type="http://schemas.openxmlformats.org/officeDocument/2006/relationships/image"/><Relationship Id="rId21" Target="../media/image229.svg" Type="http://schemas.openxmlformats.org/officeDocument/2006/relationships/image"/><Relationship Id="rId22" Target="../media/image265.jpeg" Type="http://schemas.openxmlformats.org/officeDocument/2006/relationships/image"/><Relationship Id="rId23" Target="../media/image266.jpeg" Type="http://schemas.openxmlformats.org/officeDocument/2006/relationships/imag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5.png" Type="http://schemas.openxmlformats.org/officeDocument/2006/relationships/image"/><Relationship Id="rId11" Target="../media/image226.svg" Type="http://schemas.openxmlformats.org/officeDocument/2006/relationships/image"/><Relationship Id="rId12" Target="../media/image205.png" Type="http://schemas.openxmlformats.org/officeDocument/2006/relationships/image"/><Relationship Id="rId13" Target="../media/image206.svg" Type="http://schemas.openxmlformats.org/officeDocument/2006/relationships/image"/><Relationship Id="rId14" Target="../media/image207.png" Type="http://schemas.openxmlformats.org/officeDocument/2006/relationships/image"/><Relationship Id="rId15" Target="../media/image208.svg" Type="http://schemas.openxmlformats.org/officeDocument/2006/relationships/image"/><Relationship Id="rId16" Target="../media/image182.png" Type="http://schemas.openxmlformats.org/officeDocument/2006/relationships/image"/><Relationship Id="rId17" Target="../media/image183.svg" Type="http://schemas.openxmlformats.org/officeDocument/2006/relationships/image"/><Relationship Id="rId18" Target="../media/image184.png" Type="http://schemas.openxmlformats.org/officeDocument/2006/relationships/image"/><Relationship Id="rId19" Target="../media/image185.svg" Type="http://schemas.openxmlformats.org/officeDocument/2006/relationships/image"/><Relationship Id="rId2" Target="../notesSlides/notesSlide57.xml" Type="http://schemas.openxmlformats.org/officeDocument/2006/relationships/notesSlide"/><Relationship Id="rId20" Target="../media/image228.png" Type="http://schemas.openxmlformats.org/officeDocument/2006/relationships/image"/><Relationship Id="rId21" Target="../media/image229.svg" Type="http://schemas.openxmlformats.org/officeDocument/2006/relationships/image"/><Relationship Id="rId22" Target="../media/image267.jpeg" Type="http://schemas.openxmlformats.org/officeDocument/2006/relationships/image"/><Relationship Id="rId23" Target="../media/image268.jpeg" Type="http://schemas.openxmlformats.org/officeDocument/2006/relationships/imag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5.png" Type="http://schemas.openxmlformats.org/officeDocument/2006/relationships/image"/><Relationship Id="rId11" Target="../media/image226.svg" Type="http://schemas.openxmlformats.org/officeDocument/2006/relationships/image"/><Relationship Id="rId12" Target="../media/image205.png" Type="http://schemas.openxmlformats.org/officeDocument/2006/relationships/image"/><Relationship Id="rId13" Target="../media/image206.svg" Type="http://schemas.openxmlformats.org/officeDocument/2006/relationships/image"/><Relationship Id="rId14" Target="../media/image207.png" Type="http://schemas.openxmlformats.org/officeDocument/2006/relationships/image"/><Relationship Id="rId15" Target="../media/image208.svg" Type="http://schemas.openxmlformats.org/officeDocument/2006/relationships/image"/><Relationship Id="rId16" Target="../media/image182.png" Type="http://schemas.openxmlformats.org/officeDocument/2006/relationships/image"/><Relationship Id="rId17" Target="../media/image183.svg" Type="http://schemas.openxmlformats.org/officeDocument/2006/relationships/image"/><Relationship Id="rId18" Target="../media/image184.png" Type="http://schemas.openxmlformats.org/officeDocument/2006/relationships/image"/><Relationship Id="rId19" Target="../media/image185.svg" Type="http://schemas.openxmlformats.org/officeDocument/2006/relationships/image"/><Relationship Id="rId2" Target="../notesSlides/notesSlide58.xml" Type="http://schemas.openxmlformats.org/officeDocument/2006/relationships/notesSlide"/><Relationship Id="rId20" Target="../media/image228.png" Type="http://schemas.openxmlformats.org/officeDocument/2006/relationships/image"/><Relationship Id="rId21" Target="../media/image229.svg" Type="http://schemas.openxmlformats.org/officeDocument/2006/relationships/image"/><Relationship Id="rId22" Target="../media/image269.jpeg" Type="http://schemas.openxmlformats.org/officeDocument/2006/relationships/imag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70.png" Type="http://schemas.openxmlformats.org/officeDocument/2006/relationships/image"/><Relationship Id="rId2" Target="../notesSlides/notesSlide59.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70.png" Type="http://schemas.openxmlformats.org/officeDocument/2006/relationships/image"/><Relationship Id="rId2" Target="../notesSlides/notesSlide60.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70.png" Type="http://schemas.openxmlformats.org/officeDocument/2006/relationships/image"/><Relationship Id="rId2" Target="../notesSlides/notesSlide61.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https://www.figma.com/design/EUd196AcgzlmVeMxYgauHq/UI-STYLE-GUIDE?node-id=39-2&amp;t=638jm4mwCAKn8ZQa-1" TargetMode="External" Type="http://schemas.openxmlformats.org/officeDocument/2006/relationships/hyperlink"/><Relationship Id="rId2" Target="../notesSlides/notesSlide62.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8.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13" Target="../media/image223.png" Type="http://schemas.openxmlformats.org/officeDocument/2006/relationships/image"/><Relationship Id="rId14" Target="../media/image224.svg" Type="http://schemas.openxmlformats.org/officeDocument/2006/relationships/image"/><Relationship Id="rId15" Target="../media/image225.png" Type="http://schemas.openxmlformats.org/officeDocument/2006/relationships/image"/><Relationship Id="rId16" Target="../media/image226.svg" Type="http://schemas.openxmlformats.org/officeDocument/2006/relationships/image"/><Relationship Id="rId17" Target="https://www.figma.com/design/PyCyMKOQivC12WdPfXpDCa/Untitled?node-id=0-1&amp;t=y0hWkM0pxfe1tHss-1" TargetMode="External" Type="http://schemas.openxmlformats.org/officeDocument/2006/relationships/hyperlink"/><Relationship Id="rId2" Target="../notesSlides/notesSlide63.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211.svg" Type="http://schemas.openxmlformats.org/officeDocument/2006/relationships/image"/><Relationship Id="rId6" Target="../media/image171.svg" Type="http://schemas.openxmlformats.org/officeDocument/2006/relationships/image"/><Relationship Id="rId7" Target="../media/image235.png" Type="http://schemas.openxmlformats.org/officeDocument/2006/relationships/image"/><Relationship Id="rId8" Target="../media/image236.svg" Type="http://schemas.openxmlformats.org/officeDocument/2006/relationships/image"/><Relationship Id="rId9" Target="../media/image237.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71.png" Type="http://schemas.openxmlformats.org/officeDocument/2006/relationships/image"/><Relationship Id="rId2" Target="../notesSlides/notesSlide64.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1.png" Type="http://schemas.openxmlformats.org/officeDocument/2006/relationships/image"/><Relationship Id="rId11" Target="../media/image222.svg" Type="http://schemas.openxmlformats.org/officeDocument/2006/relationships/image"/><Relationship Id="rId12" Target="../media/image272.png" Type="http://schemas.openxmlformats.org/officeDocument/2006/relationships/image"/><Relationship Id="rId2" Target="../notesSlides/notesSlide65.xml" Type="http://schemas.openxmlformats.org/officeDocument/2006/relationships/notesSlide"/><Relationship Id="rId3" Target="../media/image5.png" Type="http://schemas.openxmlformats.org/officeDocument/2006/relationships/image"/><Relationship Id="rId4" Target="../media/image39.svg" Type="http://schemas.openxmlformats.org/officeDocument/2006/relationships/image"/><Relationship Id="rId5" Target="../media/image178.png" Type="http://schemas.openxmlformats.org/officeDocument/2006/relationships/image"/><Relationship Id="rId6" Target="../media/image179.svg" Type="http://schemas.openxmlformats.org/officeDocument/2006/relationships/image"/><Relationship Id="rId7" Target="../media/image180.png" Type="http://schemas.openxmlformats.org/officeDocument/2006/relationships/image"/><Relationship Id="rId8" Target="../media/image181.svg" Type="http://schemas.openxmlformats.org/officeDocument/2006/relationships/image"/><Relationship Id="rId9" Target="../media/image17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1EEDD">
                <a:alpha val="100000"/>
              </a:srgbClr>
            </a:gs>
            <a:gs pos="100000">
              <a:srgbClr val="79D3FE">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6791125" y="265659"/>
            <a:ext cx="4851551" cy="9739307"/>
          </a:xfrm>
          <a:custGeom>
            <a:avLst/>
            <a:gdLst/>
            <a:ahLst/>
            <a:cxnLst/>
            <a:rect r="r" b="b" t="t" l="l"/>
            <a:pathLst>
              <a:path h="9739307" w="4851551">
                <a:moveTo>
                  <a:pt x="0" y="0"/>
                </a:moveTo>
                <a:lnTo>
                  <a:pt x="4851550" y="0"/>
                </a:lnTo>
                <a:lnTo>
                  <a:pt x="4851550" y="9739307"/>
                </a:lnTo>
                <a:lnTo>
                  <a:pt x="0" y="9739307"/>
                </a:lnTo>
                <a:lnTo>
                  <a:pt x="0" y="0"/>
                </a:lnTo>
                <a:close/>
              </a:path>
            </a:pathLst>
          </a:custGeom>
          <a:blipFill>
            <a:blip r:embed="rId3">
              <a:alphaModFix amt="30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71450" y="0"/>
            <a:ext cx="7526666" cy="2845400"/>
            <a:chOff x="0" y="0"/>
            <a:chExt cx="10035555" cy="3793867"/>
          </a:xfrm>
        </p:grpSpPr>
        <p:sp>
          <p:nvSpPr>
            <p:cNvPr name="Freeform 4" id="4"/>
            <p:cNvSpPr/>
            <p:nvPr/>
          </p:nvSpPr>
          <p:spPr>
            <a:xfrm flipH="false" flipV="false" rot="0">
              <a:off x="0" y="0"/>
              <a:ext cx="10035542" cy="3793744"/>
            </a:xfrm>
            <a:custGeom>
              <a:avLst/>
              <a:gdLst/>
              <a:ahLst/>
              <a:cxnLst/>
              <a:rect r="r" b="b" t="t" l="l"/>
              <a:pathLst>
                <a:path h="3793744" w="10035542">
                  <a:moveTo>
                    <a:pt x="0" y="0"/>
                  </a:moveTo>
                  <a:lnTo>
                    <a:pt x="0" y="3197352"/>
                  </a:lnTo>
                  <a:cubicBezTo>
                    <a:pt x="624171" y="3592068"/>
                    <a:pt x="1622584" y="3793744"/>
                    <a:pt x="2646225" y="3793744"/>
                  </a:cubicBezTo>
                  <a:cubicBezTo>
                    <a:pt x="3790105" y="3793744"/>
                    <a:pt x="4965193" y="3542157"/>
                    <a:pt x="5685330" y="3026410"/>
                  </a:cubicBezTo>
                  <a:cubicBezTo>
                    <a:pt x="7171637" y="1962277"/>
                    <a:pt x="7832565" y="512953"/>
                    <a:pt x="10035542" y="0"/>
                  </a:cubicBezTo>
                  <a:close/>
                </a:path>
              </a:pathLst>
            </a:custGeom>
            <a:gradFill rotWithShape="true">
              <a:gsLst>
                <a:gs pos="0">
                  <a:srgbClr val="FFFFFF">
                    <a:alpha val="100000"/>
                  </a:srgbClr>
                </a:gs>
                <a:gs pos="100000">
                  <a:srgbClr val="FFFFFF">
                    <a:alpha val="0"/>
                  </a:srgbClr>
                </a:gs>
              </a:gsLst>
              <a:lin ang="5400012"/>
            </a:gradFill>
          </p:spPr>
        </p:sp>
      </p:grpSp>
      <p:grpSp>
        <p:nvGrpSpPr>
          <p:cNvPr name="Group 5" id="5"/>
          <p:cNvGrpSpPr/>
          <p:nvPr/>
        </p:nvGrpSpPr>
        <p:grpSpPr>
          <a:xfrm rot="0">
            <a:off x="14190850" y="1176226"/>
            <a:ext cx="10773600" cy="7268400"/>
            <a:chOff x="0" y="0"/>
            <a:chExt cx="14364800" cy="9691200"/>
          </a:xfrm>
        </p:grpSpPr>
        <p:sp>
          <p:nvSpPr>
            <p:cNvPr name="Freeform 6" id="6"/>
            <p:cNvSpPr/>
            <p:nvPr/>
          </p:nvSpPr>
          <p:spPr>
            <a:xfrm flipH="false" flipV="false" rot="0">
              <a:off x="676293" y="127"/>
              <a:ext cx="13233330" cy="9690988"/>
            </a:xfrm>
            <a:custGeom>
              <a:avLst/>
              <a:gdLst/>
              <a:ahLst/>
              <a:cxnLst/>
              <a:rect r="r" b="b" t="t" l="l"/>
              <a:pathLst>
                <a:path h="9690988" w="13233330">
                  <a:moveTo>
                    <a:pt x="8293463" y="0"/>
                  </a:moveTo>
                  <a:cubicBezTo>
                    <a:pt x="7715995" y="0"/>
                    <a:pt x="7028797" y="111379"/>
                    <a:pt x="6221077" y="375031"/>
                  </a:cubicBezTo>
                  <a:cubicBezTo>
                    <a:pt x="4478383" y="942086"/>
                    <a:pt x="1345801" y="1888871"/>
                    <a:pt x="335516" y="4228338"/>
                  </a:cubicBezTo>
                  <a:cubicBezTo>
                    <a:pt x="-676166" y="6569329"/>
                    <a:pt x="716643" y="9297162"/>
                    <a:pt x="2952605" y="9622155"/>
                  </a:cubicBezTo>
                  <a:cubicBezTo>
                    <a:pt x="3279757" y="9669653"/>
                    <a:pt x="3579096" y="9690988"/>
                    <a:pt x="3855702" y="9690988"/>
                  </a:cubicBezTo>
                  <a:cubicBezTo>
                    <a:pt x="5957044" y="9690988"/>
                    <a:pt x="6744444" y="8459978"/>
                    <a:pt x="8398111" y="8158480"/>
                  </a:cubicBezTo>
                  <a:cubicBezTo>
                    <a:pt x="9095976" y="8031225"/>
                    <a:pt x="9666587" y="8002905"/>
                    <a:pt x="10153759" y="8002905"/>
                  </a:cubicBezTo>
                  <a:cubicBezTo>
                    <a:pt x="10544284" y="8002905"/>
                    <a:pt x="10881215" y="8021066"/>
                    <a:pt x="11187412" y="8021066"/>
                  </a:cubicBezTo>
                  <a:cubicBezTo>
                    <a:pt x="11718145" y="8021066"/>
                    <a:pt x="12156549" y="7966329"/>
                    <a:pt x="12620607" y="7668133"/>
                  </a:cubicBezTo>
                  <a:cubicBezTo>
                    <a:pt x="13688550" y="6981317"/>
                    <a:pt x="13304502" y="5294757"/>
                    <a:pt x="11902930" y="4376039"/>
                  </a:cubicBezTo>
                  <a:cubicBezTo>
                    <a:pt x="10502755" y="3456051"/>
                    <a:pt x="10956145" y="2032254"/>
                    <a:pt x="10699224" y="1352804"/>
                  </a:cubicBezTo>
                  <a:cubicBezTo>
                    <a:pt x="10426301" y="636270"/>
                    <a:pt x="9673445" y="0"/>
                    <a:pt x="8293463" y="0"/>
                  </a:cubicBezTo>
                  <a:close/>
                </a:path>
              </a:pathLst>
            </a:custGeom>
            <a:gradFill rotWithShape="true">
              <a:gsLst>
                <a:gs pos="0">
                  <a:srgbClr val="FFFFFF">
                    <a:alpha val="0"/>
                  </a:srgbClr>
                </a:gs>
                <a:gs pos="100000">
                  <a:srgbClr val="FFFFFF">
                    <a:alpha val="100000"/>
                  </a:srgbClr>
                </a:gs>
              </a:gsLst>
              <a:lin ang="5400700"/>
            </a:gradFill>
          </p:spPr>
        </p:sp>
      </p:grpSp>
      <p:grpSp>
        <p:nvGrpSpPr>
          <p:cNvPr name="Group 7" id="7"/>
          <p:cNvGrpSpPr/>
          <p:nvPr/>
        </p:nvGrpSpPr>
        <p:grpSpPr>
          <a:xfrm rot="0">
            <a:off x="-71450" y="0"/>
            <a:ext cx="7526666" cy="2320452"/>
            <a:chOff x="0" y="0"/>
            <a:chExt cx="10035555" cy="3093936"/>
          </a:xfrm>
        </p:grpSpPr>
        <p:sp>
          <p:nvSpPr>
            <p:cNvPr name="Freeform 8" id="8"/>
            <p:cNvSpPr/>
            <p:nvPr/>
          </p:nvSpPr>
          <p:spPr>
            <a:xfrm flipH="false" flipV="false" rot="0">
              <a:off x="0" y="0"/>
              <a:ext cx="10035540" cy="3093720"/>
            </a:xfrm>
            <a:custGeom>
              <a:avLst/>
              <a:gdLst/>
              <a:ahLst/>
              <a:cxnLst/>
              <a:rect r="r" b="b" t="t" l="l"/>
              <a:pathLst>
                <a:path h="3093720" w="10035540">
                  <a:moveTo>
                    <a:pt x="0" y="0"/>
                  </a:moveTo>
                  <a:lnTo>
                    <a:pt x="0" y="2607437"/>
                  </a:lnTo>
                  <a:cubicBezTo>
                    <a:pt x="624205" y="2929382"/>
                    <a:pt x="1622552" y="3093720"/>
                    <a:pt x="2646299" y="3093720"/>
                  </a:cubicBezTo>
                  <a:cubicBezTo>
                    <a:pt x="3790188" y="3093720"/>
                    <a:pt x="4965319" y="2888488"/>
                    <a:pt x="5685409" y="2467864"/>
                  </a:cubicBezTo>
                  <a:cubicBezTo>
                    <a:pt x="7171690" y="1600200"/>
                    <a:pt x="7832598" y="418211"/>
                    <a:pt x="10035540" y="0"/>
                  </a:cubicBezTo>
                  <a:close/>
                </a:path>
              </a:pathLst>
            </a:custGeom>
            <a:gradFill rotWithShape="true">
              <a:gsLst>
                <a:gs pos="0">
                  <a:srgbClr val="61EEDD">
                    <a:alpha val="100000"/>
                  </a:srgbClr>
                </a:gs>
                <a:gs pos="100000">
                  <a:srgbClr val="79D3FE">
                    <a:alpha val="100000"/>
                  </a:srgbClr>
                </a:gs>
              </a:gsLst>
              <a:lin ang="5400013"/>
            </a:gradFill>
          </p:spPr>
        </p:sp>
      </p:grpSp>
      <p:grpSp>
        <p:nvGrpSpPr>
          <p:cNvPr name="Group 9" id="9"/>
          <p:cNvGrpSpPr/>
          <p:nvPr/>
        </p:nvGrpSpPr>
        <p:grpSpPr>
          <a:xfrm rot="0">
            <a:off x="5733350" y="4694146"/>
            <a:ext cx="12554528" cy="5592870"/>
            <a:chOff x="0" y="0"/>
            <a:chExt cx="16739371" cy="7457160"/>
          </a:xfrm>
        </p:grpSpPr>
        <p:sp>
          <p:nvSpPr>
            <p:cNvPr name="Freeform 10" id="10"/>
            <p:cNvSpPr/>
            <p:nvPr/>
          </p:nvSpPr>
          <p:spPr>
            <a:xfrm flipH="false" flipV="false" rot="0">
              <a:off x="0" y="127"/>
              <a:ext cx="16739363" cy="7456932"/>
            </a:xfrm>
            <a:custGeom>
              <a:avLst/>
              <a:gdLst/>
              <a:ahLst/>
              <a:cxnLst/>
              <a:rect r="r" b="b" t="t" l="l"/>
              <a:pathLst>
                <a:path h="7456932" w="16739363">
                  <a:moveTo>
                    <a:pt x="16739363" y="0"/>
                  </a:moveTo>
                  <a:cubicBezTo>
                    <a:pt x="15351761" y="1869567"/>
                    <a:pt x="13216128" y="3281045"/>
                    <a:pt x="10625836" y="4070731"/>
                  </a:cubicBezTo>
                  <a:cubicBezTo>
                    <a:pt x="7624318" y="4986655"/>
                    <a:pt x="1954530" y="5524881"/>
                    <a:pt x="0" y="7456932"/>
                  </a:cubicBezTo>
                  <a:lnTo>
                    <a:pt x="16739363" y="7456932"/>
                  </a:lnTo>
                  <a:lnTo>
                    <a:pt x="16739363" y="0"/>
                  </a:lnTo>
                  <a:close/>
                </a:path>
              </a:pathLst>
            </a:custGeom>
            <a:gradFill rotWithShape="true">
              <a:gsLst>
                <a:gs pos="0">
                  <a:srgbClr val="FFFFFF">
                    <a:alpha val="100000"/>
                  </a:srgbClr>
                </a:gs>
                <a:gs pos="100000">
                  <a:srgbClr val="FFFFFF">
                    <a:alpha val="0"/>
                  </a:srgbClr>
                </a:gs>
              </a:gsLst>
              <a:lin ang="5400012"/>
            </a:gradFill>
          </p:spPr>
        </p:sp>
      </p:grpSp>
      <p:sp>
        <p:nvSpPr>
          <p:cNvPr name="Freeform 11" id="11"/>
          <p:cNvSpPr/>
          <p:nvPr/>
        </p:nvSpPr>
        <p:spPr>
          <a:xfrm flipH="false" flipV="false" rot="0">
            <a:off x="-1749024" y="-2325331"/>
            <a:ext cx="5776384" cy="4037938"/>
          </a:xfrm>
          <a:custGeom>
            <a:avLst/>
            <a:gdLst/>
            <a:ahLst/>
            <a:cxnLst/>
            <a:rect r="r" b="b" t="t" l="l"/>
            <a:pathLst>
              <a:path h="4037938" w="5776384">
                <a:moveTo>
                  <a:pt x="0" y="0"/>
                </a:moveTo>
                <a:lnTo>
                  <a:pt x="5776384" y="0"/>
                </a:lnTo>
                <a:lnTo>
                  <a:pt x="5776384" y="4037938"/>
                </a:lnTo>
                <a:lnTo>
                  <a:pt x="0" y="40379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2" id="12"/>
          <p:cNvSpPr/>
          <p:nvPr/>
        </p:nvSpPr>
        <p:spPr>
          <a:xfrm rot="20129">
            <a:off x="2872038" y="5082925"/>
            <a:ext cx="13013623" cy="0"/>
          </a:xfrm>
          <a:prstGeom prst="line">
            <a:avLst/>
          </a:prstGeom>
          <a:ln cap="rnd" w="28575">
            <a:solidFill>
              <a:srgbClr val="FFFFFF"/>
            </a:solidFill>
            <a:prstDash val="solid"/>
            <a:headEnd type="none" len="sm" w="sm"/>
            <a:tailEnd type="none" len="sm" w="sm"/>
          </a:ln>
        </p:spPr>
      </p:sp>
      <p:grpSp>
        <p:nvGrpSpPr>
          <p:cNvPr name="Group 13" id="13"/>
          <p:cNvGrpSpPr/>
          <p:nvPr/>
        </p:nvGrpSpPr>
        <p:grpSpPr>
          <a:xfrm rot="0">
            <a:off x="5733350" y="7054430"/>
            <a:ext cx="12554214" cy="3232614"/>
            <a:chOff x="0" y="0"/>
            <a:chExt cx="16738952" cy="4310152"/>
          </a:xfrm>
        </p:grpSpPr>
        <p:sp>
          <p:nvSpPr>
            <p:cNvPr name="Freeform 14" id="14"/>
            <p:cNvSpPr/>
            <p:nvPr/>
          </p:nvSpPr>
          <p:spPr>
            <a:xfrm flipH="false" flipV="false" rot="0">
              <a:off x="0" y="127"/>
              <a:ext cx="16738915" cy="4309999"/>
            </a:xfrm>
            <a:custGeom>
              <a:avLst/>
              <a:gdLst/>
              <a:ahLst/>
              <a:cxnLst/>
              <a:rect r="r" b="b" t="t" l="l"/>
              <a:pathLst>
                <a:path h="4309999" w="16738915">
                  <a:moveTo>
                    <a:pt x="16738915" y="0"/>
                  </a:moveTo>
                  <a:cubicBezTo>
                    <a:pt x="15351344" y="1080643"/>
                    <a:pt x="13215762" y="1896364"/>
                    <a:pt x="10625562" y="2352802"/>
                  </a:cubicBezTo>
                  <a:cubicBezTo>
                    <a:pt x="7624122" y="2882265"/>
                    <a:pt x="1954543" y="3193288"/>
                    <a:pt x="0" y="4309999"/>
                  </a:cubicBezTo>
                  <a:lnTo>
                    <a:pt x="16738915" y="4309999"/>
                  </a:lnTo>
                  <a:lnTo>
                    <a:pt x="16738915" y="0"/>
                  </a:lnTo>
                  <a:close/>
                </a:path>
              </a:pathLst>
            </a:custGeom>
            <a:gradFill rotWithShape="true">
              <a:gsLst>
                <a:gs pos="0">
                  <a:srgbClr val="61EEDD">
                    <a:alpha val="55686"/>
                  </a:srgbClr>
                </a:gs>
                <a:gs pos="100000">
                  <a:srgbClr val="79D3FE">
                    <a:alpha val="100000"/>
                  </a:srgbClr>
                </a:gs>
              </a:gsLst>
              <a:lin ang="5400012"/>
            </a:gradFill>
          </p:spPr>
        </p:sp>
      </p:grpSp>
      <p:sp>
        <p:nvSpPr>
          <p:cNvPr name="Freeform 15" id="15"/>
          <p:cNvSpPr/>
          <p:nvPr/>
        </p:nvSpPr>
        <p:spPr>
          <a:xfrm flipH="false" flipV="false" rot="0">
            <a:off x="13899326" y="13697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959100" y="3253238"/>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657700" y="64095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1218126" y="2101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3463250" y="4969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8988300" y="91334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16892516" y="8198166"/>
            <a:ext cx="1285221" cy="1183535"/>
          </a:xfrm>
          <a:custGeom>
            <a:avLst/>
            <a:gdLst/>
            <a:ahLst/>
            <a:cxnLst/>
            <a:rect r="r" b="b" t="t" l="l"/>
            <a:pathLst>
              <a:path h="1183535" w="1285221">
                <a:moveTo>
                  <a:pt x="0" y="0"/>
                </a:moveTo>
                <a:lnTo>
                  <a:pt x="1285221" y="0"/>
                </a:lnTo>
                <a:lnTo>
                  <a:pt x="1285221" y="1183535"/>
                </a:lnTo>
                <a:lnTo>
                  <a:pt x="0" y="118353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2" id="22"/>
          <p:cNvSpPr/>
          <p:nvPr/>
        </p:nvSpPr>
        <p:spPr>
          <a:xfrm flipH="false" flipV="false" rot="0">
            <a:off x="16712993" y="9436773"/>
            <a:ext cx="1210354" cy="1272287"/>
          </a:xfrm>
          <a:custGeom>
            <a:avLst/>
            <a:gdLst/>
            <a:ahLst/>
            <a:cxnLst/>
            <a:rect r="r" b="b" t="t" l="l"/>
            <a:pathLst>
              <a:path h="1272287" w="1210354">
                <a:moveTo>
                  <a:pt x="0" y="0"/>
                </a:moveTo>
                <a:lnTo>
                  <a:pt x="1210354" y="0"/>
                </a:lnTo>
                <a:lnTo>
                  <a:pt x="1210354" y="1272287"/>
                </a:lnTo>
                <a:lnTo>
                  <a:pt x="0" y="127228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3" id="23"/>
          <p:cNvSpPr/>
          <p:nvPr/>
        </p:nvSpPr>
        <p:spPr>
          <a:xfrm flipH="false" flipV="false" rot="0">
            <a:off x="17879778" y="8855445"/>
            <a:ext cx="716582" cy="722346"/>
          </a:xfrm>
          <a:custGeom>
            <a:avLst/>
            <a:gdLst/>
            <a:ahLst/>
            <a:cxnLst/>
            <a:rect r="r" b="b" t="t" l="l"/>
            <a:pathLst>
              <a:path h="722346" w="716582">
                <a:moveTo>
                  <a:pt x="0" y="0"/>
                </a:moveTo>
                <a:lnTo>
                  <a:pt x="716582" y="0"/>
                </a:lnTo>
                <a:lnTo>
                  <a:pt x="716582" y="722347"/>
                </a:lnTo>
                <a:lnTo>
                  <a:pt x="0" y="72234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false" flipV="false" rot="0">
            <a:off x="15968213" y="9222406"/>
            <a:ext cx="721091" cy="705540"/>
          </a:xfrm>
          <a:custGeom>
            <a:avLst/>
            <a:gdLst/>
            <a:ahLst/>
            <a:cxnLst/>
            <a:rect r="r" b="b" t="t" l="l"/>
            <a:pathLst>
              <a:path h="705540" w="721091">
                <a:moveTo>
                  <a:pt x="0" y="0"/>
                </a:moveTo>
                <a:lnTo>
                  <a:pt x="721091" y="0"/>
                </a:lnTo>
                <a:lnTo>
                  <a:pt x="721091" y="705540"/>
                </a:lnTo>
                <a:lnTo>
                  <a:pt x="0" y="70554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5" id="25"/>
          <p:cNvSpPr/>
          <p:nvPr/>
        </p:nvSpPr>
        <p:spPr>
          <a:xfrm flipH="false" flipV="false" rot="0">
            <a:off x="-1456116" y="4130609"/>
            <a:ext cx="4421606" cy="1872675"/>
          </a:xfrm>
          <a:custGeom>
            <a:avLst/>
            <a:gdLst/>
            <a:ahLst/>
            <a:cxnLst/>
            <a:rect r="r" b="b" t="t" l="l"/>
            <a:pathLst>
              <a:path h="1872675" w="4421606">
                <a:moveTo>
                  <a:pt x="0" y="0"/>
                </a:moveTo>
                <a:lnTo>
                  <a:pt x="4421606" y="0"/>
                </a:lnTo>
                <a:lnTo>
                  <a:pt x="4421606" y="1872675"/>
                </a:lnTo>
                <a:lnTo>
                  <a:pt x="0" y="187267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426910" y="312651"/>
            <a:ext cx="1245157" cy="1245198"/>
          </a:xfrm>
          <a:custGeom>
            <a:avLst/>
            <a:gdLst/>
            <a:ahLst/>
            <a:cxnLst/>
            <a:rect r="r" b="b" t="t" l="l"/>
            <a:pathLst>
              <a:path h="1245198" w="1245157">
                <a:moveTo>
                  <a:pt x="0" y="0"/>
                </a:moveTo>
                <a:lnTo>
                  <a:pt x="1245157" y="0"/>
                </a:lnTo>
                <a:lnTo>
                  <a:pt x="1245157" y="1245198"/>
                </a:lnTo>
                <a:lnTo>
                  <a:pt x="0" y="124519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7" id="27"/>
          <p:cNvSpPr/>
          <p:nvPr/>
        </p:nvSpPr>
        <p:spPr>
          <a:xfrm flipH="false" flipV="false" rot="0">
            <a:off x="873398" y="801698"/>
            <a:ext cx="721091" cy="705540"/>
          </a:xfrm>
          <a:custGeom>
            <a:avLst/>
            <a:gdLst/>
            <a:ahLst/>
            <a:cxnLst/>
            <a:rect r="r" b="b" t="t" l="l"/>
            <a:pathLst>
              <a:path h="705540" w="721091">
                <a:moveTo>
                  <a:pt x="0" y="0"/>
                </a:moveTo>
                <a:lnTo>
                  <a:pt x="721091" y="0"/>
                </a:lnTo>
                <a:lnTo>
                  <a:pt x="721091" y="705540"/>
                </a:lnTo>
                <a:lnTo>
                  <a:pt x="0" y="70554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8" id="28"/>
          <p:cNvSpPr/>
          <p:nvPr/>
        </p:nvSpPr>
        <p:spPr>
          <a:xfrm flipH="false" flipV="false" rot="0">
            <a:off x="226147" y="-274320"/>
            <a:ext cx="721091" cy="705540"/>
          </a:xfrm>
          <a:custGeom>
            <a:avLst/>
            <a:gdLst/>
            <a:ahLst/>
            <a:cxnLst/>
            <a:rect r="r" b="b" t="t" l="l"/>
            <a:pathLst>
              <a:path h="705540" w="721091">
                <a:moveTo>
                  <a:pt x="0" y="0"/>
                </a:moveTo>
                <a:lnTo>
                  <a:pt x="721092" y="0"/>
                </a:lnTo>
                <a:lnTo>
                  <a:pt x="721092" y="705540"/>
                </a:lnTo>
                <a:lnTo>
                  <a:pt x="0" y="70554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9" id="29"/>
          <p:cNvSpPr/>
          <p:nvPr/>
        </p:nvSpPr>
        <p:spPr>
          <a:xfrm flipH="false" flipV="false" rot="0">
            <a:off x="1142906" y="-264988"/>
            <a:ext cx="1239149" cy="1250780"/>
          </a:xfrm>
          <a:custGeom>
            <a:avLst/>
            <a:gdLst/>
            <a:ahLst/>
            <a:cxnLst/>
            <a:rect r="r" b="b" t="t" l="l"/>
            <a:pathLst>
              <a:path h="1250780" w="1239149">
                <a:moveTo>
                  <a:pt x="0" y="0"/>
                </a:moveTo>
                <a:lnTo>
                  <a:pt x="1239149" y="0"/>
                </a:lnTo>
                <a:lnTo>
                  <a:pt x="1239149" y="1250780"/>
                </a:lnTo>
                <a:lnTo>
                  <a:pt x="0" y="125078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30" id="30"/>
          <p:cNvSpPr txBox="true"/>
          <p:nvPr/>
        </p:nvSpPr>
        <p:spPr>
          <a:xfrm rot="0">
            <a:off x="1472305" y="1715754"/>
            <a:ext cx="15031991" cy="5431321"/>
          </a:xfrm>
          <a:prstGeom prst="rect">
            <a:avLst/>
          </a:prstGeom>
        </p:spPr>
        <p:txBody>
          <a:bodyPr anchor="t" rtlCol="false" tIns="0" lIns="0" bIns="0" rIns="0">
            <a:spAutoFit/>
          </a:bodyPr>
          <a:lstStyle/>
          <a:p>
            <a:pPr algn="ctr">
              <a:lnSpc>
                <a:spcPts val="14249"/>
              </a:lnSpc>
            </a:pPr>
            <a:r>
              <a:rPr lang="en-US" sz="10326" b="true">
                <a:solidFill>
                  <a:srgbClr val="0E2A47"/>
                </a:solidFill>
                <a:latin typeface="Poppins Bold"/>
                <a:ea typeface="Poppins Bold"/>
                <a:cs typeface="Poppins Bold"/>
                <a:sym typeface="Poppins Bold"/>
              </a:rPr>
              <a:t>Perancangan Aplikasi Jadwal Imunisasi </a:t>
            </a:r>
          </a:p>
          <a:p>
            <a:pPr algn="ctr">
              <a:lnSpc>
                <a:spcPts val="14249"/>
              </a:lnSpc>
            </a:pPr>
            <a:r>
              <a:rPr lang="en-US" b="true" sz="10326">
                <a:solidFill>
                  <a:srgbClr val="EFEFEF"/>
                </a:solidFill>
                <a:latin typeface="Poppins Bold"/>
                <a:ea typeface="Poppins Bold"/>
                <a:cs typeface="Poppins Bold"/>
                <a:sym typeface="Poppins Bold"/>
              </a:rPr>
              <a:t>Anak Indonesia </a:t>
            </a:r>
          </a:p>
        </p:txBody>
      </p:sp>
      <p:sp>
        <p:nvSpPr>
          <p:cNvPr name="Freeform 31" id="31"/>
          <p:cNvSpPr/>
          <p:nvPr/>
        </p:nvSpPr>
        <p:spPr>
          <a:xfrm flipH="false" flipV="false" rot="0">
            <a:off x="16331079" y="4340188"/>
            <a:ext cx="1856442" cy="1590248"/>
          </a:xfrm>
          <a:custGeom>
            <a:avLst/>
            <a:gdLst/>
            <a:ahLst/>
            <a:cxnLst/>
            <a:rect r="r" b="b" t="t" l="l"/>
            <a:pathLst>
              <a:path h="1590248" w="1856442">
                <a:moveTo>
                  <a:pt x="0" y="0"/>
                </a:moveTo>
                <a:lnTo>
                  <a:pt x="1856442" y="0"/>
                </a:lnTo>
                <a:lnTo>
                  <a:pt x="1856442" y="1590248"/>
                </a:lnTo>
                <a:lnTo>
                  <a:pt x="0" y="159024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32" id="32"/>
          <p:cNvSpPr/>
          <p:nvPr/>
        </p:nvSpPr>
        <p:spPr>
          <a:xfrm flipH="false" flipV="false" rot="0">
            <a:off x="15734996" y="78450"/>
            <a:ext cx="2553004" cy="2242002"/>
          </a:xfrm>
          <a:custGeom>
            <a:avLst/>
            <a:gdLst/>
            <a:ahLst/>
            <a:cxnLst/>
            <a:rect r="r" b="b" t="t" l="l"/>
            <a:pathLst>
              <a:path h="2242002" w="2553004">
                <a:moveTo>
                  <a:pt x="0" y="0"/>
                </a:moveTo>
                <a:lnTo>
                  <a:pt x="2553004" y="0"/>
                </a:lnTo>
                <a:lnTo>
                  <a:pt x="2553004" y="2242002"/>
                </a:lnTo>
                <a:lnTo>
                  <a:pt x="0" y="2242002"/>
                </a:lnTo>
                <a:lnTo>
                  <a:pt x="0" y="0"/>
                </a:lnTo>
                <a:close/>
              </a:path>
            </a:pathLst>
          </a:custGeom>
          <a:blipFill>
            <a:blip r:embed="rId29">
              <a:alphaModFix amt="95000"/>
              <a:extLst>
                <a:ext uri="{96DAC541-7B7A-43D3-8B79-37D633B846F1}">
                  <asvg:svgBlip xmlns:asvg="http://schemas.microsoft.com/office/drawing/2016/SVG/main" r:embed="rId30"/>
                </a:ext>
              </a:extLst>
            </a:blip>
            <a:stretch>
              <a:fillRect l="0" t="0" r="0" b="0"/>
            </a:stretch>
          </a:blipFill>
          <a:ln cap="sq">
            <a:noFill/>
            <a:prstDash val="solid"/>
            <a:miter/>
          </a:ln>
        </p:spPr>
      </p:sp>
      <p:sp>
        <p:nvSpPr>
          <p:cNvPr name="Freeform 33" id="33"/>
          <p:cNvSpPr/>
          <p:nvPr/>
        </p:nvSpPr>
        <p:spPr>
          <a:xfrm flipH="false" flipV="false" rot="0">
            <a:off x="1028700" y="5283154"/>
            <a:ext cx="3395591" cy="4789763"/>
          </a:xfrm>
          <a:custGeom>
            <a:avLst/>
            <a:gdLst/>
            <a:ahLst/>
            <a:cxnLst/>
            <a:rect r="r" b="b" t="t" l="l"/>
            <a:pathLst>
              <a:path h="4789763" w="3395591">
                <a:moveTo>
                  <a:pt x="0" y="0"/>
                </a:moveTo>
                <a:lnTo>
                  <a:pt x="3395591" y="0"/>
                </a:lnTo>
                <a:lnTo>
                  <a:pt x="3395591" y="4789763"/>
                </a:lnTo>
                <a:lnTo>
                  <a:pt x="0" y="4789763"/>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34" id="34"/>
          <p:cNvSpPr txBox="true"/>
          <p:nvPr/>
        </p:nvSpPr>
        <p:spPr>
          <a:xfrm rot="0">
            <a:off x="4876525" y="7204225"/>
            <a:ext cx="8535150" cy="571500"/>
          </a:xfrm>
          <a:prstGeom prst="rect">
            <a:avLst/>
          </a:prstGeom>
        </p:spPr>
        <p:txBody>
          <a:bodyPr anchor="t" rtlCol="false" tIns="0" lIns="0" bIns="0" rIns="0">
            <a:spAutoFit/>
          </a:bodyPr>
          <a:lstStyle/>
          <a:p>
            <a:pPr algn="ctr">
              <a:lnSpc>
                <a:spcPts val="4320"/>
              </a:lnSpc>
            </a:pPr>
            <a:r>
              <a:rPr lang="en-US" b="true" sz="3600">
                <a:solidFill>
                  <a:srgbClr val="434343"/>
                </a:solidFill>
                <a:latin typeface="Arimo Bold"/>
                <a:ea typeface="Arimo Bold"/>
                <a:cs typeface="Arimo Bold"/>
                <a:sym typeface="Arimo Bold"/>
              </a:rPr>
              <a:t>- Kelompok 09 -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9595152" y="6653950"/>
            <a:ext cx="8692524" cy="3632922"/>
          </a:xfrm>
          <a:custGeom>
            <a:avLst/>
            <a:gdLst/>
            <a:ahLst/>
            <a:cxnLst/>
            <a:rect r="r" b="b" t="t" l="l"/>
            <a:pathLst>
              <a:path h="3632922" w="8692524">
                <a:moveTo>
                  <a:pt x="0" y="0"/>
                </a:moveTo>
                <a:lnTo>
                  <a:pt x="8692524" y="0"/>
                </a:lnTo>
                <a:lnTo>
                  <a:pt x="8692524" y="3632922"/>
                </a:lnTo>
                <a:lnTo>
                  <a:pt x="0" y="36329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0653104" y="8187170"/>
            <a:ext cx="7634448" cy="2099796"/>
            <a:chOff x="0" y="0"/>
            <a:chExt cx="10179264" cy="2799728"/>
          </a:xfrm>
        </p:grpSpPr>
        <p:sp>
          <p:nvSpPr>
            <p:cNvPr name="Freeform 4" id="4"/>
            <p:cNvSpPr/>
            <p:nvPr/>
          </p:nvSpPr>
          <p:spPr>
            <a:xfrm flipH="false" flipV="false" rot="0">
              <a:off x="0" y="0"/>
              <a:ext cx="10179304" cy="2799715"/>
            </a:xfrm>
            <a:custGeom>
              <a:avLst/>
              <a:gdLst/>
              <a:ahLst/>
              <a:cxnLst/>
              <a:rect r="r" b="b" t="t" l="l"/>
              <a:pathLst>
                <a:path h="2799715" w="10179304">
                  <a:moveTo>
                    <a:pt x="10179304" y="0"/>
                  </a:moveTo>
                  <a:cubicBezTo>
                    <a:pt x="9335516" y="701929"/>
                    <a:pt x="8036814" y="1231900"/>
                    <a:pt x="6461633" y="1528318"/>
                  </a:cubicBezTo>
                  <a:cubicBezTo>
                    <a:pt x="4636389" y="1872234"/>
                    <a:pt x="1188593" y="2074291"/>
                    <a:pt x="0" y="2799715"/>
                  </a:cubicBezTo>
                  <a:lnTo>
                    <a:pt x="10179304" y="2799715"/>
                  </a:lnTo>
                  <a:lnTo>
                    <a:pt x="10179304" y="0"/>
                  </a:lnTo>
                  <a:close/>
                </a:path>
              </a:pathLst>
            </a:custGeom>
            <a:gradFill rotWithShape="true">
              <a:gsLst>
                <a:gs pos="0">
                  <a:srgbClr val="61EEDD">
                    <a:alpha val="55686"/>
                  </a:srgbClr>
                </a:gs>
                <a:gs pos="100000">
                  <a:srgbClr val="79D3FE">
                    <a:alpha val="100000"/>
                  </a:srgbClr>
                </a:gs>
              </a:gsLst>
              <a:lin ang="5400014"/>
            </a:gradFill>
          </p:spPr>
        </p:sp>
      </p:grpSp>
      <p:sp>
        <p:nvSpPr>
          <p:cNvPr name="Freeform 5" id="5"/>
          <p:cNvSpPr/>
          <p:nvPr/>
        </p:nvSpPr>
        <p:spPr>
          <a:xfrm flipH="false" flipV="false" rot="0">
            <a:off x="-1927300" y="-768900"/>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927304" y="-8903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728265" y="6896100"/>
            <a:ext cx="3456529" cy="5263177"/>
          </a:xfrm>
          <a:custGeom>
            <a:avLst/>
            <a:gdLst/>
            <a:ahLst/>
            <a:cxnLst/>
            <a:rect r="r" b="b" t="t" l="l"/>
            <a:pathLst>
              <a:path h="5263177" w="3456529">
                <a:moveTo>
                  <a:pt x="0" y="0"/>
                </a:moveTo>
                <a:lnTo>
                  <a:pt x="3456530" y="0"/>
                </a:lnTo>
                <a:lnTo>
                  <a:pt x="3456530" y="5263177"/>
                </a:lnTo>
                <a:lnTo>
                  <a:pt x="0" y="52631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7515626" y="95391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5123676" y="9631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809426" y="6737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5894226" y="49149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6994685" y="1317204"/>
            <a:ext cx="952443" cy="669011"/>
          </a:xfrm>
          <a:custGeom>
            <a:avLst/>
            <a:gdLst/>
            <a:ahLst/>
            <a:cxnLst/>
            <a:rect r="r" b="b" t="t" l="l"/>
            <a:pathLst>
              <a:path h="669011" w="952443">
                <a:moveTo>
                  <a:pt x="0" y="0"/>
                </a:moveTo>
                <a:lnTo>
                  <a:pt x="952443" y="0"/>
                </a:lnTo>
                <a:lnTo>
                  <a:pt x="952443" y="669011"/>
                </a:lnTo>
                <a:lnTo>
                  <a:pt x="0" y="66901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6819303" y="39751"/>
            <a:ext cx="911514" cy="941712"/>
          </a:xfrm>
          <a:custGeom>
            <a:avLst/>
            <a:gdLst/>
            <a:ahLst/>
            <a:cxnLst/>
            <a:rect r="r" b="b" t="t" l="l"/>
            <a:pathLst>
              <a:path h="941712" w="911514">
                <a:moveTo>
                  <a:pt x="0" y="0"/>
                </a:moveTo>
                <a:lnTo>
                  <a:pt x="911513" y="0"/>
                </a:lnTo>
                <a:lnTo>
                  <a:pt x="911513" y="941712"/>
                </a:lnTo>
                <a:lnTo>
                  <a:pt x="0" y="94171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7870704" y="610971"/>
            <a:ext cx="710335" cy="703252"/>
          </a:xfrm>
          <a:custGeom>
            <a:avLst/>
            <a:gdLst/>
            <a:ahLst/>
            <a:cxnLst/>
            <a:rect r="r" b="b" t="t" l="l"/>
            <a:pathLst>
              <a:path h="703252" w="710335">
                <a:moveTo>
                  <a:pt x="0" y="0"/>
                </a:moveTo>
                <a:lnTo>
                  <a:pt x="710335" y="0"/>
                </a:lnTo>
                <a:lnTo>
                  <a:pt x="710335" y="703252"/>
                </a:lnTo>
                <a:lnTo>
                  <a:pt x="0" y="70325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599426" y="42813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5996776" y="407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7" id="17"/>
          <p:cNvSpPr txBox="true"/>
          <p:nvPr/>
        </p:nvSpPr>
        <p:spPr>
          <a:xfrm rot="0">
            <a:off x="1531425" y="3381375"/>
            <a:ext cx="11508538" cy="3476625"/>
          </a:xfrm>
          <a:prstGeom prst="rect">
            <a:avLst/>
          </a:prstGeom>
        </p:spPr>
        <p:txBody>
          <a:bodyPr anchor="t" rtlCol="false" tIns="0" lIns="0" bIns="0" rIns="0">
            <a:spAutoFit/>
          </a:bodyPr>
          <a:lstStyle/>
          <a:p>
            <a:pPr algn="l">
              <a:lnSpc>
                <a:spcPts val="5400"/>
              </a:lnSpc>
            </a:pPr>
            <a:r>
              <a:rPr lang="en-US" sz="4500" b="true">
                <a:solidFill>
                  <a:srgbClr val="434343"/>
                </a:solidFill>
                <a:latin typeface="Poppins Bold"/>
                <a:ea typeface="Poppins Bold"/>
                <a:cs typeface="Poppins Bold"/>
                <a:sym typeface="Poppins Bold"/>
              </a:rPr>
              <a:t>12S24011 - Pedro Simangunsong</a:t>
            </a:r>
          </a:p>
          <a:p>
            <a:pPr algn="l">
              <a:lnSpc>
                <a:spcPts val="5400"/>
              </a:lnSpc>
            </a:pPr>
            <a:r>
              <a:rPr lang="en-US" sz="4500" b="true">
                <a:solidFill>
                  <a:srgbClr val="434343"/>
                </a:solidFill>
                <a:latin typeface="Poppins Bold"/>
                <a:ea typeface="Poppins Bold"/>
                <a:cs typeface="Poppins Bold"/>
                <a:sym typeface="Poppins Bold"/>
              </a:rPr>
              <a:t>12S24025 - Paula Gevriella Tambunan </a:t>
            </a:r>
          </a:p>
          <a:p>
            <a:pPr algn="l">
              <a:lnSpc>
                <a:spcPts val="5400"/>
              </a:lnSpc>
            </a:pPr>
            <a:r>
              <a:rPr lang="en-US" sz="4500" b="true">
                <a:solidFill>
                  <a:srgbClr val="434343"/>
                </a:solidFill>
                <a:latin typeface="Poppins Bold"/>
                <a:ea typeface="Poppins Bold"/>
                <a:cs typeface="Poppins Bold"/>
                <a:sym typeface="Poppins Bold"/>
              </a:rPr>
              <a:t>12S24038 - Nicolas J Grace Butarbutar </a:t>
            </a:r>
          </a:p>
          <a:p>
            <a:pPr algn="l">
              <a:lnSpc>
                <a:spcPts val="5400"/>
              </a:lnSpc>
            </a:pPr>
            <a:r>
              <a:rPr lang="en-US" sz="4500" b="true">
                <a:solidFill>
                  <a:srgbClr val="434343"/>
                </a:solidFill>
                <a:latin typeface="Poppins Bold"/>
                <a:ea typeface="Poppins Bold"/>
                <a:cs typeface="Poppins Bold"/>
                <a:sym typeface="Poppins Bold"/>
              </a:rPr>
              <a:t>12S24041 - Nikah Suchia Panjaitan </a:t>
            </a:r>
          </a:p>
          <a:p>
            <a:pPr algn="l">
              <a:lnSpc>
                <a:spcPts val="5400"/>
              </a:lnSpc>
            </a:pPr>
            <a:r>
              <a:rPr lang="en-US" b="true" sz="4500">
                <a:solidFill>
                  <a:srgbClr val="434343"/>
                </a:solidFill>
                <a:latin typeface="Poppins Bold"/>
                <a:ea typeface="Poppins Bold"/>
                <a:cs typeface="Poppins Bold"/>
                <a:sym typeface="Poppins Bold"/>
              </a:rPr>
              <a:t>112S24048 - Olivia Tambunan </a:t>
            </a:r>
          </a:p>
        </p:txBody>
      </p:sp>
      <p:sp>
        <p:nvSpPr>
          <p:cNvPr name="TextBox 18" id="18"/>
          <p:cNvSpPr txBox="true"/>
          <p:nvPr/>
        </p:nvSpPr>
        <p:spPr>
          <a:xfrm rot="0">
            <a:off x="1531425" y="1132317"/>
            <a:ext cx="18714253" cy="1618655"/>
          </a:xfrm>
          <a:prstGeom prst="rect">
            <a:avLst/>
          </a:prstGeom>
        </p:spPr>
        <p:txBody>
          <a:bodyPr anchor="t" rtlCol="false" tIns="0" lIns="0" bIns="0" rIns="0">
            <a:spAutoFit/>
          </a:bodyPr>
          <a:lstStyle/>
          <a:p>
            <a:pPr algn="l">
              <a:lnSpc>
                <a:spcPts val="12537"/>
              </a:lnSpc>
            </a:pPr>
            <a:r>
              <a:rPr lang="en-US" sz="10447" b="true">
                <a:solidFill>
                  <a:srgbClr val="073763"/>
                </a:solidFill>
                <a:latin typeface="Ubuntu Bold"/>
                <a:ea typeface="Ubuntu Bold"/>
                <a:cs typeface="Ubuntu Bold"/>
                <a:sym typeface="Ubuntu Bold"/>
              </a:rPr>
              <a:t>About Us: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409554" y="-1778259"/>
            <a:ext cx="21509311" cy="14648385"/>
          </a:xfrm>
          <a:custGeom>
            <a:avLst/>
            <a:gdLst/>
            <a:ahLst/>
            <a:cxnLst/>
            <a:rect r="r" b="b" t="t" l="l"/>
            <a:pathLst>
              <a:path h="14648385" w="21509311">
                <a:moveTo>
                  <a:pt x="0" y="0"/>
                </a:moveTo>
                <a:lnTo>
                  <a:pt x="21509311" y="0"/>
                </a:lnTo>
                <a:lnTo>
                  <a:pt x="21509311" y="14648385"/>
                </a:lnTo>
                <a:lnTo>
                  <a:pt x="0" y="146483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55937" y="-1530008"/>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555937" y="-1437472"/>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327176" y="10583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0928026" y="2365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7674696" y="9282982"/>
            <a:ext cx="613304" cy="934024"/>
          </a:xfrm>
          <a:custGeom>
            <a:avLst/>
            <a:gdLst/>
            <a:ahLst/>
            <a:cxnLst/>
            <a:rect r="r" b="b" t="t" l="l"/>
            <a:pathLst>
              <a:path h="934024" w="613304">
                <a:moveTo>
                  <a:pt x="0" y="0"/>
                </a:moveTo>
                <a:lnTo>
                  <a:pt x="613304" y="0"/>
                </a:lnTo>
                <a:lnTo>
                  <a:pt x="613304" y="934024"/>
                </a:lnTo>
                <a:lnTo>
                  <a:pt x="0" y="9340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6006633" y="9468354"/>
            <a:ext cx="941712" cy="911514"/>
          </a:xfrm>
          <a:custGeom>
            <a:avLst/>
            <a:gdLst/>
            <a:ahLst/>
            <a:cxnLst/>
            <a:rect r="r" b="b" t="t" l="l"/>
            <a:pathLst>
              <a:path h="911514" w="941712">
                <a:moveTo>
                  <a:pt x="0" y="0"/>
                </a:moveTo>
                <a:lnTo>
                  <a:pt x="941712" y="0"/>
                </a:lnTo>
                <a:lnTo>
                  <a:pt x="941712" y="911513"/>
                </a:lnTo>
                <a:lnTo>
                  <a:pt x="0" y="91151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5333250" y="866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3788800" y="7138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0" y="120123"/>
            <a:ext cx="859524" cy="851805"/>
          </a:xfrm>
          <a:custGeom>
            <a:avLst/>
            <a:gdLst/>
            <a:ahLst/>
            <a:cxnLst/>
            <a:rect r="r" b="b" t="t" l="l"/>
            <a:pathLst>
              <a:path h="851805" w="859524">
                <a:moveTo>
                  <a:pt x="0" y="0"/>
                </a:moveTo>
                <a:lnTo>
                  <a:pt x="859524" y="0"/>
                </a:lnTo>
                <a:lnTo>
                  <a:pt x="859524" y="851806"/>
                </a:lnTo>
                <a:lnTo>
                  <a:pt x="0" y="85180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731064" y="0"/>
            <a:ext cx="871562" cy="854959"/>
          </a:xfrm>
          <a:custGeom>
            <a:avLst/>
            <a:gdLst/>
            <a:ahLst/>
            <a:cxnLst/>
            <a:rect r="r" b="b" t="t" l="l"/>
            <a:pathLst>
              <a:path h="854959" w="871562">
                <a:moveTo>
                  <a:pt x="0" y="0"/>
                </a:moveTo>
                <a:lnTo>
                  <a:pt x="871562" y="0"/>
                </a:lnTo>
                <a:lnTo>
                  <a:pt x="871562" y="854959"/>
                </a:lnTo>
                <a:lnTo>
                  <a:pt x="0" y="85495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576839" y="845964"/>
            <a:ext cx="903722" cy="536677"/>
          </a:xfrm>
          <a:custGeom>
            <a:avLst/>
            <a:gdLst/>
            <a:ahLst/>
            <a:cxnLst/>
            <a:rect r="r" b="b" t="t" l="l"/>
            <a:pathLst>
              <a:path h="536677" w="903722">
                <a:moveTo>
                  <a:pt x="0" y="0"/>
                </a:moveTo>
                <a:lnTo>
                  <a:pt x="903722" y="0"/>
                </a:lnTo>
                <a:lnTo>
                  <a:pt x="903722" y="536676"/>
                </a:lnTo>
                <a:lnTo>
                  <a:pt x="0" y="53667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4" id="14"/>
          <p:cNvSpPr/>
          <p:nvPr/>
        </p:nvSpPr>
        <p:spPr>
          <a:xfrm flipH="false" flipV="false" rot="0">
            <a:off x="2398080" y="687796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383422" y="431427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13490576" y="546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1"/>
                </a:ext>
              </a:extLst>
            </a:blip>
            <a:stretch>
              <a:fillRect l="0" t="0" r="0" b="0"/>
            </a:stretch>
          </a:blipFill>
        </p:spPr>
      </p:sp>
      <p:sp>
        <p:nvSpPr>
          <p:cNvPr name="Freeform 17" id="17"/>
          <p:cNvSpPr/>
          <p:nvPr/>
        </p:nvSpPr>
        <p:spPr>
          <a:xfrm flipH="false" flipV="false" rot="2588504">
            <a:off x="-271223" y="6029260"/>
            <a:ext cx="406699" cy="406699"/>
          </a:xfrm>
          <a:custGeom>
            <a:avLst/>
            <a:gdLst/>
            <a:ahLst/>
            <a:cxnLst/>
            <a:rect r="r" b="b" t="t" l="l"/>
            <a:pathLst>
              <a:path h="406699" w="406699">
                <a:moveTo>
                  <a:pt x="0" y="0"/>
                </a:moveTo>
                <a:lnTo>
                  <a:pt x="406699" y="0"/>
                </a:lnTo>
                <a:lnTo>
                  <a:pt x="406699" y="406699"/>
                </a:lnTo>
                <a:lnTo>
                  <a:pt x="0" y="406699"/>
                </a:lnTo>
                <a:lnTo>
                  <a:pt x="0" y="0"/>
                </a:lnTo>
                <a:close/>
              </a:path>
            </a:pathLst>
          </a:custGeom>
          <a:blipFill>
            <a:blip r:embed="rId9">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16765272" y="9013781"/>
            <a:ext cx="853267" cy="832580"/>
          </a:xfrm>
          <a:custGeom>
            <a:avLst/>
            <a:gdLst/>
            <a:ahLst/>
            <a:cxnLst/>
            <a:rect r="r" b="b" t="t" l="l"/>
            <a:pathLst>
              <a:path h="832580" w="853267">
                <a:moveTo>
                  <a:pt x="0" y="0"/>
                </a:moveTo>
                <a:lnTo>
                  <a:pt x="853267" y="0"/>
                </a:lnTo>
                <a:lnTo>
                  <a:pt x="853267" y="832580"/>
                </a:lnTo>
                <a:lnTo>
                  <a:pt x="0" y="83258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9" id="19"/>
          <p:cNvSpPr/>
          <p:nvPr/>
        </p:nvSpPr>
        <p:spPr>
          <a:xfrm flipH="false" flipV="false" rot="0">
            <a:off x="14017400" y="-2055410"/>
            <a:ext cx="6951470" cy="6876101"/>
          </a:xfrm>
          <a:custGeom>
            <a:avLst/>
            <a:gdLst/>
            <a:ahLst/>
            <a:cxnLst/>
            <a:rect r="r" b="b" t="t" l="l"/>
            <a:pathLst>
              <a:path h="6876101" w="6951470">
                <a:moveTo>
                  <a:pt x="0" y="0"/>
                </a:moveTo>
                <a:lnTo>
                  <a:pt x="6951470" y="0"/>
                </a:lnTo>
                <a:lnTo>
                  <a:pt x="6951470" y="6876101"/>
                </a:lnTo>
                <a:lnTo>
                  <a:pt x="0" y="687610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0" id="20"/>
          <p:cNvSpPr/>
          <p:nvPr/>
        </p:nvSpPr>
        <p:spPr>
          <a:xfrm flipH="false" flipV="false" rot="2588504">
            <a:off x="-14651" y="7389229"/>
            <a:ext cx="2114326" cy="2259247"/>
          </a:xfrm>
          <a:custGeom>
            <a:avLst/>
            <a:gdLst/>
            <a:ahLst/>
            <a:cxnLst/>
            <a:rect r="r" b="b" t="t" l="l"/>
            <a:pathLst>
              <a:path h="2259247" w="2114326">
                <a:moveTo>
                  <a:pt x="0" y="0"/>
                </a:moveTo>
                <a:lnTo>
                  <a:pt x="2114326" y="0"/>
                </a:lnTo>
                <a:lnTo>
                  <a:pt x="2114326" y="2259247"/>
                </a:lnTo>
                <a:lnTo>
                  <a:pt x="0" y="2259247"/>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1" id="21"/>
          <p:cNvSpPr/>
          <p:nvPr/>
        </p:nvSpPr>
        <p:spPr>
          <a:xfrm flipH="false" flipV="false" rot="2588504">
            <a:off x="-1277848" y="6992343"/>
            <a:ext cx="2236871" cy="2438305"/>
          </a:xfrm>
          <a:custGeom>
            <a:avLst/>
            <a:gdLst/>
            <a:ahLst/>
            <a:cxnLst/>
            <a:rect r="r" b="b" t="t" l="l"/>
            <a:pathLst>
              <a:path h="2438305" w="2236871">
                <a:moveTo>
                  <a:pt x="0" y="0"/>
                </a:moveTo>
                <a:lnTo>
                  <a:pt x="2236871" y="0"/>
                </a:lnTo>
                <a:lnTo>
                  <a:pt x="2236871" y="2438306"/>
                </a:lnTo>
                <a:lnTo>
                  <a:pt x="0" y="243830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22" id="22"/>
          <p:cNvGrpSpPr/>
          <p:nvPr/>
        </p:nvGrpSpPr>
        <p:grpSpPr>
          <a:xfrm rot="0">
            <a:off x="10484111" y="5182413"/>
            <a:ext cx="2905947" cy="2692749"/>
            <a:chOff x="0" y="0"/>
            <a:chExt cx="765352" cy="709201"/>
          </a:xfrm>
        </p:grpSpPr>
        <p:sp>
          <p:nvSpPr>
            <p:cNvPr name="Freeform 23" id="23"/>
            <p:cNvSpPr/>
            <p:nvPr/>
          </p:nvSpPr>
          <p:spPr>
            <a:xfrm flipH="false" flipV="false" rot="0">
              <a:off x="0" y="0"/>
              <a:ext cx="765352" cy="709201"/>
            </a:xfrm>
            <a:custGeom>
              <a:avLst/>
              <a:gdLst/>
              <a:ahLst/>
              <a:cxnLst/>
              <a:rect r="r" b="b" t="t" l="l"/>
              <a:pathLst>
                <a:path h="709201" w="765352">
                  <a:moveTo>
                    <a:pt x="135872" y="0"/>
                  </a:moveTo>
                  <a:lnTo>
                    <a:pt x="629480" y="0"/>
                  </a:lnTo>
                  <a:cubicBezTo>
                    <a:pt x="665516" y="0"/>
                    <a:pt x="700075" y="14315"/>
                    <a:pt x="725556" y="39796"/>
                  </a:cubicBezTo>
                  <a:cubicBezTo>
                    <a:pt x="751037" y="65277"/>
                    <a:pt x="765352" y="99837"/>
                    <a:pt x="765352" y="135872"/>
                  </a:cubicBezTo>
                  <a:lnTo>
                    <a:pt x="765352" y="573329"/>
                  </a:lnTo>
                  <a:cubicBezTo>
                    <a:pt x="765352" y="609365"/>
                    <a:pt x="751037" y="643924"/>
                    <a:pt x="725556" y="669405"/>
                  </a:cubicBezTo>
                  <a:cubicBezTo>
                    <a:pt x="700075" y="694886"/>
                    <a:pt x="665516" y="709201"/>
                    <a:pt x="629480" y="709201"/>
                  </a:cubicBezTo>
                  <a:lnTo>
                    <a:pt x="135872" y="709201"/>
                  </a:lnTo>
                  <a:cubicBezTo>
                    <a:pt x="99837" y="709201"/>
                    <a:pt x="65277" y="694886"/>
                    <a:pt x="39796" y="669405"/>
                  </a:cubicBezTo>
                  <a:cubicBezTo>
                    <a:pt x="14315" y="643924"/>
                    <a:pt x="0" y="609365"/>
                    <a:pt x="0" y="573329"/>
                  </a:cubicBezTo>
                  <a:lnTo>
                    <a:pt x="0" y="135872"/>
                  </a:lnTo>
                  <a:cubicBezTo>
                    <a:pt x="0" y="99837"/>
                    <a:pt x="14315" y="65277"/>
                    <a:pt x="39796" y="39796"/>
                  </a:cubicBezTo>
                  <a:cubicBezTo>
                    <a:pt x="65277" y="14315"/>
                    <a:pt x="99837" y="0"/>
                    <a:pt x="135872" y="0"/>
                  </a:cubicBezTo>
                  <a:close/>
                </a:path>
              </a:pathLst>
            </a:custGeom>
            <a:solidFill>
              <a:srgbClr val="FF914D"/>
            </a:solidFill>
          </p:spPr>
        </p:sp>
        <p:sp>
          <p:nvSpPr>
            <p:cNvPr name="TextBox 24" id="24"/>
            <p:cNvSpPr txBox="true"/>
            <p:nvPr/>
          </p:nvSpPr>
          <p:spPr>
            <a:xfrm>
              <a:off x="0" y="-57150"/>
              <a:ext cx="765352" cy="766351"/>
            </a:xfrm>
            <a:prstGeom prst="rect">
              <a:avLst/>
            </a:prstGeom>
          </p:spPr>
          <p:txBody>
            <a:bodyPr anchor="ctr" rtlCol="false" tIns="50800" lIns="50800" bIns="50800" rIns="50800"/>
            <a:lstStyle/>
            <a:p>
              <a:pPr algn="ctr">
                <a:lnSpc>
                  <a:spcPts val="4200"/>
                </a:lnSpc>
              </a:pPr>
              <a:r>
                <a:rPr lang="en-US" sz="3000" b="true">
                  <a:solidFill>
                    <a:srgbClr val="000000"/>
                  </a:solidFill>
                  <a:latin typeface="Open Sans Bold"/>
                  <a:ea typeface="Open Sans Bold"/>
                  <a:cs typeface="Open Sans Bold"/>
                  <a:sym typeface="Open Sans Bold"/>
                </a:rPr>
                <a:t>Zero-Dose </a:t>
              </a:r>
            </a:p>
            <a:p>
              <a:pPr algn="ctr">
                <a:lnSpc>
                  <a:spcPts val="4200"/>
                </a:lnSpc>
              </a:pPr>
              <a:r>
                <a:rPr lang="en-US" b="true" sz="3000">
                  <a:solidFill>
                    <a:srgbClr val="000000"/>
                  </a:solidFill>
                  <a:latin typeface="Open Sans Bold"/>
                  <a:ea typeface="Open Sans Bold"/>
                  <a:cs typeface="Open Sans Bold"/>
                  <a:sym typeface="Open Sans Bold"/>
                </a:rPr>
                <a:t>1,35 juta/tahun</a:t>
              </a:r>
            </a:p>
          </p:txBody>
        </p:sp>
      </p:grpSp>
      <p:grpSp>
        <p:nvGrpSpPr>
          <p:cNvPr name="Group 25" id="25"/>
          <p:cNvGrpSpPr/>
          <p:nvPr/>
        </p:nvGrpSpPr>
        <p:grpSpPr>
          <a:xfrm rot="0">
            <a:off x="6232687" y="5182413"/>
            <a:ext cx="2860774" cy="2634662"/>
            <a:chOff x="0" y="0"/>
            <a:chExt cx="753455" cy="693903"/>
          </a:xfrm>
        </p:grpSpPr>
        <p:sp>
          <p:nvSpPr>
            <p:cNvPr name="Freeform 26" id="26"/>
            <p:cNvSpPr/>
            <p:nvPr/>
          </p:nvSpPr>
          <p:spPr>
            <a:xfrm flipH="false" flipV="false" rot="0">
              <a:off x="0" y="0"/>
              <a:ext cx="753455" cy="693903"/>
            </a:xfrm>
            <a:custGeom>
              <a:avLst/>
              <a:gdLst/>
              <a:ahLst/>
              <a:cxnLst/>
              <a:rect r="r" b="b" t="t" l="l"/>
              <a:pathLst>
                <a:path h="693903" w="753455">
                  <a:moveTo>
                    <a:pt x="138018" y="0"/>
                  </a:moveTo>
                  <a:lnTo>
                    <a:pt x="615437" y="0"/>
                  </a:lnTo>
                  <a:cubicBezTo>
                    <a:pt x="652042" y="0"/>
                    <a:pt x="687147" y="14541"/>
                    <a:pt x="713030" y="40424"/>
                  </a:cubicBezTo>
                  <a:cubicBezTo>
                    <a:pt x="738914" y="66308"/>
                    <a:pt x="753455" y="101413"/>
                    <a:pt x="753455" y="138018"/>
                  </a:cubicBezTo>
                  <a:lnTo>
                    <a:pt x="753455" y="555885"/>
                  </a:lnTo>
                  <a:cubicBezTo>
                    <a:pt x="753455" y="592489"/>
                    <a:pt x="738914" y="627595"/>
                    <a:pt x="713030" y="653478"/>
                  </a:cubicBezTo>
                  <a:cubicBezTo>
                    <a:pt x="687147" y="679362"/>
                    <a:pt x="652042" y="693903"/>
                    <a:pt x="615437" y="693903"/>
                  </a:cubicBezTo>
                  <a:lnTo>
                    <a:pt x="138018" y="693903"/>
                  </a:lnTo>
                  <a:cubicBezTo>
                    <a:pt x="101413" y="693903"/>
                    <a:pt x="66308" y="679362"/>
                    <a:pt x="40424" y="653478"/>
                  </a:cubicBezTo>
                  <a:cubicBezTo>
                    <a:pt x="14541" y="627595"/>
                    <a:pt x="0" y="592489"/>
                    <a:pt x="0" y="555885"/>
                  </a:cubicBezTo>
                  <a:lnTo>
                    <a:pt x="0" y="138018"/>
                  </a:lnTo>
                  <a:cubicBezTo>
                    <a:pt x="0" y="101413"/>
                    <a:pt x="14541" y="66308"/>
                    <a:pt x="40424" y="40424"/>
                  </a:cubicBezTo>
                  <a:cubicBezTo>
                    <a:pt x="66308" y="14541"/>
                    <a:pt x="101413" y="0"/>
                    <a:pt x="138018" y="0"/>
                  </a:cubicBezTo>
                  <a:close/>
                </a:path>
              </a:pathLst>
            </a:custGeom>
            <a:solidFill>
              <a:srgbClr val="FF5757"/>
            </a:solidFill>
          </p:spPr>
        </p:sp>
        <p:sp>
          <p:nvSpPr>
            <p:cNvPr name="TextBox 27" id="27"/>
            <p:cNvSpPr txBox="true"/>
            <p:nvPr/>
          </p:nvSpPr>
          <p:spPr>
            <a:xfrm>
              <a:off x="0" y="-57150"/>
              <a:ext cx="753455" cy="751053"/>
            </a:xfrm>
            <a:prstGeom prst="rect">
              <a:avLst/>
            </a:prstGeom>
          </p:spPr>
          <p:txBody>
            <a:bodyPr anchor="ctr" rtlCol="false" tIns="50800" lIns="50800" bIns="50800" rIns="50800"/>
            <a:lstStyle/>
            <a:p>
              <a:pPr algn="ctr">
                <a:lnSpc>
                  <a:spcPts val="4200"/>
                </a:lnSpc>
              </a:pPr>
              <a:r>
                <a:rPr lang="en-US" sz="3000" b="true">
                  <a:solidFill>
                    <a:srgbClr val="000000"/>
                  </a:solidFill>
                  <a:latin typeface="Open Sans Bold"/>
                  <a:ea typeface="Open Sans Bold"/>
                  <a:cs typeface="Open Sans Bold"/>
                  <a:sym typeface="Open Sans Bold"/>
                </a:rPr>
                <a:t>Realita Indonesia</a:t>
              </a:r>
            </a:p>
            <a:p>
              <a:pPr algn="ctr">
                <a:lnSpc>
                  <a:spcPts val="4200"/>
                </a:lnSpc>
              </a:pPr>
              <a:r>
                <a:rPr lang="en-US" b="true" sz="3000">
                  <a:solidFill>
                    <a:srgbClr val="000000"/>
                  </a:solidFill>
                  <a:latin typeface="Open Sans Bold"/>
                  <a:ea typeface="Open Sans Bold"/>
                  <a:cs typeface="Open Sans Bold"/>
                  <a:sym typeface="Open Sans Bold"/>
                </a:rPr>
                <a:t>35,8%</a:t>
              </a:r>
            </a:p>
          </p:txBody>
        </p:sp>
      </p:grpSp>
      <p:grpSp>
        <p:nvGrpSpPr>
          <p:cNvPr name="Group 28" id="28"/>
          <p:cNvGrpSpPr/>
          <p:nvPr/>
        </p:nvGrpSpPr>
        <p:grpSpPr>
          <a:xfrm rot="0">
            <a:off x="1981263" y="5143500"/>
            <a:ext cx="2860774" cy="2595749"/>
            <a:chOff x="0" y="0"/>
            <a:chExt cx="753455" cy="683654"/>
          </a:xfrm>
        </p:grpSpPr>
        <p:sp>
          <p:nvSpPr>
            <p:cNvPr name="Freeform 29" id="29"/>
            <p:cNvSpPr/>
            <p:nvPr/>
          </p:nvSpPr>
          <p:spPr>
            <a:xfrm flipH="false" flipV="false" rot="0">
              <a:off x="0" y="0"/>
              <a:ext cx="753455" cy="683654"/>
            </a:xfrm>
            <a:custGeom>
              <a:avLst/>
              <a:gdLst/>
              <a:ahLst/>
              <a:cxnLst/>
              <a:rect r="r" b="b" t="t" l="l"/>
              <a:pathLst>
                <a:path h="683654" w="753455">
                  <a:moveTo>
                    <a:pt x="138018" y="0"/>
                  </a:moveTo>
                  <a:lnTo>
                    <a:pt x="615437" y="0"/>
                  </a:lnTo>
                  <a:cubicBezTo>
                    <a:pt x="652042" y="0"/>
                    <a:pt x="687147" y="14541"/>
                    <a:pt x="713030" y="40424"/>
                  </a:cubicBezTo>
                  <a:cubicBezTo>
                    <a:pt x="738914" y="66308"/>
                    <a:pt x="753455" y="101413"/>
                    <a:pt x="753455" y="138018"/>
                  </a:cubicBezTo>
                  <a:lnTo>
                    <a:pt x="753455" y="545636"/>
                  </a:lnTo>
                  <a:cubicBezTo>
                    <a:pt x="753455" y="582241"/>
                    <a:pt x="738914" y="617346"/>
                    <a:pt x="713030" y="643230"/>
                  </a:cubicBezTo>
                  <a:cubicBezTo>
                    <a:pt x="687147" y="669113"/>
                    <a:pt x="652042" y="683654"/>
                    <a:pt x="615437" y="683654"/>
                  </a:cubicBezTo>
                  <a:lnTo>
                    <a:pt x="138018" y="683654"/>
                  </a:lnTo>
                  <a:cubicBezTo>
                    <a:pt x="101413" y="683654"/>
                    <a:pt x="66308" y="669113"/>
                    <a:pt x="40424" y="643230"/>
                  </a:cubicBezTo>
                  <a:cubicBezTo>
                    <a:pt x="14541" y="617346"/>
                    <a:pt x="0" y="582241"/>
                    <a:pt x="0" y="545636"/>
                  </a:cubicBezTo>
                  <a:lnTo>
                    <a:pt x="0" y="138018"/>
                  </a:lnTo>
                  <a:cubicBezTo>
                    <a:pt x="0" y="101413"/>
                    <a:pt x="14541" y="66308"/>
                    <a:pt x="40424" y="40424"/>
                  </a:cubicBezTo>
                  <a:cubicBezTo>
                    <a:pt x="66308" y="14541"/>
                    <a:pt x="101413" y="0"/>
                    <a:pt x="138018" y="0"/>
                  </a:cubicBezTo>
                  <a:close/>
                </a:path>
              </a:pathLst>
            </a:custGeom>
            <a:solidFill>
              <a:srgbClr val="0CC0DF"/>
            </a:solidFill>
          </p:spPr>
        </p:sp>
        <p:sp>
          <p:nvSpPr>
            <p:cNvPr name="TextBox 30" id="30"/>
            <p:cNvSpPr txBox="true"/>
            <p:nvPr/>
          </p:nvSpPr>
          <p:spPr>
            <a:xfrm>
              <a:off x="0" y="-57150"/>
              <a:ext cx="753455" cy="740804"/>
            </a:xfrm>
            <a:prstGeom prst="rect">
              <a:avLst/>
            </a:prstGeom>
          </p:spPr>
          <p:txBody>
            <a:bodyPr anchor="ctr" rtlCol="false" tIns="50800" lIns="50800" bIns="50800" rIns="50800"/>
            <a:lstStyle/>
            <a:p>
              <a:pPr algn="ctr">
                <a:lnSpc>
                  <a:spcPts val="4200"/>
                </a:lnSpc>
              </a:pPr>
              <a:r>
                <a:rPr lang="en-US" sz="3000" b="true">
                  <a:solidFill>
                    <a:srgbClr val="000000"/>
                  </a:solidFill>
                  <a:latin typeface="Open Sans Bold"/>
                  <a:ea typeface="Open Sans Bold"/>
                  <a:cs typeface="Open Sans Bold"/>
                  <a:sym typeface="Open Sans Bold"/>
                </a:rPr>
                <a:t>Target WHO IDL</a:t>
              </a:r>
            </a:p>
            <a:p>
              <a:pPr algn="ctr">
                <a:lnSpc>
                  <a:spcPts val="4200"/>
                </a:lnSpc>
              </a:pPr>
              <a:r>
                <a:rPr lang="en-US" b="true" sz="3000">
                  <a:solidFill>
                    <a:srgbClr val="000000"/>
                  </a:solidFill>
                  <a:latin typeface="Open Sans Bold"/>
                  <a:ea typeface="Open Sans Bold"/>
                  <a:cs typeface="Open Sans Bold"/>
                  <a:sym typeface="Open Sans Bold"/>
                </a:rPr>
                <a:t>95%</a:t>
              </a:r>
            </a:p>
          </p:txBody>
        </p:sp>
      </p:grpSp>
      <p:sp>
        <p:nvSpPr>
          <p:cNvPr name="TextBox 31" id="31"/>
          <p:cNvSpPr txBox="true"/>
          <p:nvPr/>
        </p:nvSpPr>
        <p:spPr>
          <a:xfrm rot="0">
            <a:off x="383426" y="85602"/>
            <a:ext cx="17419350" cy="1028700"/>
          </a:xfrm>
          <a:prstGeom prst="rect">
            <a:avLst/>
          </a:prstGeom>
        </p:spPr>
        <p:txBody>
          <a:bodyPr anchor="t" rtlCol="false" tIns="0" lIns="0" bIns="0" rIns="0">
            <a:spAutoFit/>
          </a:bodyPr>
          <a:lstStyle/>
          <a:p>
            <a:pPr algn="ctr">
              <a:lnSpc>
                <a:spcPts val="7679"/>
              </a:lnSpc>
            </a:pPr>
            <a:r>
              <a:rPr lang="en-US" b="true" sz="6399">
                <a:solidFill>
                  <a:srgbClr val="073763"/>
                </a:solidFill>
                <a:latin typeface="Poppins Bold"/>
                <a:ea typeface="Poppins Bold"/>
                <a:cs typeface="Poppins Bold"/>
                <a:sym typeface="Poppins Bold"/>
              </a:rPr>
              <a:t>Desk </a:t>
            </a:r>
            <a:r>
              <a:rPr lang="en-US" b="true" sz="6399">
                <a:solidFill>
                  <a:srgbClr val="FFFFFF"/>
                </a:solidFill>
                <a:latin typeface="Poppins Bold"/>
                <a:ea typeface="Poppins Bold"/>
                <a:cs typeface="Poppins Bold"/>
                <a:sym typeface="Poppins Bold"/>
              </a:rPr>
              <a:t>Research </a:t>
            </a:r>
          </a:p>
        </p:txBody>
      </p:sp>
      <p:sp>
        <p:nvSpPr>
          <p:cNvPr name="TextBox 32" id="32"/>
          <p:cNvSpPr txBox="true"/>
          <p:nvPr/>
        </p:nvSpPr>
        <p:spPr>
          <a:xfrm rot="0">
            <a:off x="1028700" y="1373115"/>
            <a:ext cx="7968656" cy="609600"/>
          </a:xfrm>
          <a:prstGeom prst="rect">
            <a:avLst/>
          </a:prstGeom>
        </p:spPr>
        <p:txBody>
          <a:bodyPr anchor="t" rtlCol="false" tIns="0" lIns="0" bIns="0" rIns="0">
            <a:spAutoFit/>
          </a:bodyPr>
          <a:lstStyle/>
          <a:p>
            <a:pPr algn="ctr">
              <a:lnSpc>
                <a:spcPts val="4799"/>
              </a:lnSpc>
              <a:spcBef>
                <a:spcPct val="0"/>
              </a:spcBef>
            </a:pPr>
            <a:r>
              <a:rPr lang="en-US" b="true" sz="3999">
                <a:solidFill>
                  <a:srgbClr val="073763"/>
                </a:solidFill>
                <a:latin typeface="Ubuntu Bold"/>
                <a:ea typeface="Ubuntu Bold"/>
                <a:cs typeface="Ubuntu Bold"/>
                <a:sym typeface="Ubuntu Bold"/>
              </a:rPr>
              <a:t>Imunisasi dalam Konteks Global</a:t>
            </a:r>
          </a:p>
        </p:txBody>
      </p:sp>
      <p:sp>
        <p:nvSpPr>
          <p:cNvPr name="TextBox 33" id="33"/>
          <p:cNvSpPr txBox="true"/>
          <p:nvPr/>
        </p:nvSpPr>
        <p:spPr>
          <a:xfrm rot="0">
            <a:off x="514253" y="1976921"/>
            <a:ext cx="16978882" cy="2314575"/>
          </a:xfrm>
          <a:prstGeom prst="rect">
            <a:avLst/>
          </a:prstGeom>
        </p:spPr>
        <p:txBody>
          <a:bodyPr anchor="t" rtlCol="false" tIns="0" lIns="0" bIns="0" rIns="0">
            <a:spAutoFit/>
          </a:bodyPr>
          <a:lstStyle/>
          <a:p>
            <a:pPr algn="l" marL="647700" indent="-323850" lvl="1">
              <a:lnSpc>
                <a:spcPts val="3600"/>
              </a:lnSpc>
              <a:spcBef>
                <a:spcPct val="0"/>
              </a:spcBef>
              <a:buFont typeface="Arial"/>
              <a:buChar char="•"/>
            </a:pPr>
            <a:r>
              <a:rPr lang="en-US" b="true" sz="3000">
                <a:solidFill>
                  <a:srgbClr val="000000"/>
                </a:solidFill>
                <a:latin typeface="Ubuntu Bold"/>
                <a:ea typeface="Ubuntu Bold"/>
                <a:cs typeface="Ubuntu Bold"/>
                <a:sym typeface="Ubuntu Bold"/>
              </a:rPr>
              <a:t>WHO melalui </a:t>
            </a:r>
            <a:r>
              <a:rPr lang="en-US" b="true" sz="3000">
                <a:solidFill>
                  <a:srgbClr val="000000"/>
                </a:solidFill>
                <a:latin typeface="Ubuntu Bold"/>
                <a:ea typeface="Ubuntu Bold"/>
                <a:cs typeface="Ubuntu Bold"/>
                <a:sym typeface="Ubuntu Bold"/>
              </a:rPr>
              <a:t>Immunization Agenda 2030 (IA2030) menargetkan dunia di mana setiap anak, di mana pun, mendapat manfaat penuh dari vaksin. [8] </a:t>
            </a:r>
          </a:p>
          <a:p>
            <a:pPr algn="l" marL="647700" indent="-323850" lvl="1">
              <a:lnSpc>
                <a:spcPts val="3600"/>
              </a:lnSpc>
              <a:spcBef>
                <a:spcPct val="0"/>
              </a:spcBef>
              <a:buFont typeface="Arial"/>
              <a:buChar char="•"/>
            </a:pPr>
            <a:r>
              <a:rPr lang="en-US" b="true" sz="3000">
                <a:solidFill>
                  <a:srgbClr val="000000"/>
                </a:solidFill>
                <a:latin typeface="Ubuntu Bold"/>
                <a:ea typeface="Ubuntu Bold"/>
                <a:cs typeface="Ubuntu Bold"/>
                <a:sym typeface="Ubuntu Bold"/>
              </a:rPr>
              <a:t>Imunisasi menyelamatkan 3,5 – 5 juta nyawa/tahun dari penyakit yang dapat dicegah. [2] </a:t>
            </a:r>
          </a:p>
          <a:p>
            <a:pPr algn="l" marL="647700" indent="-323850" lvl="1">
              <a:lnSpc>
                <a:spcPts val="3600"/>
              </a:lnSpc>
              <a:spcBef>
                <a:spcPct val="0"/>
              </a:spcBef>
              <a:buFont typeface="Arial"/>
              <a:buChar char="•"/>
            </a:pPr>
            <a:r>
              <a:rPr lang="en-US" b="true" sz="3000">
                <a:solidFill>
                  <a:srgbClr val="000000"/>
                </a:solidFill>
                <a:latin typeface="Ubuntu Bold"/>
                <a:ea typeface="Ubuntu Bold"/>
                <a:cs typeface="Ubuntu Bold"/>
                <a:sym typeface="Ubuntu Bold"/>
              </a:rPr>
              <a:t>UNICEF State of the World's Children 2023 melaporkan: </a:t>
            </a:r>
            <a:r>
              <a:rPr lang="en-US" b="true" sz="3000">
                <a:solidFill>
                  <a:srgbClr val="FF4757"/>
                </a:solidFill>
                <a:latin typeface="Ubuntu Bold"/>
                <a:ea typeface="Ubuntu Bold"/>
                <a:cs typeface="Ubuntu Bold"/>
                <a:sym typeface="Ubuntu Bold"/>
              </a:rPr>
              <a:t>67</a:t>
            </a:r>
            <a:r>
              <a:rPr lang="en-US" b="true" sz="3000">
                <a:solidFill>
                  <a:srgbClr val="000000"/>
                </a:solidFill>
                <a:latin typeface="Ubuntu Bold"/>
                <a:ea typeface="Ubuntu Bold"/>
                <a:cs typeface="Ubuntu Bold"/>
                <a:sym typeface="Ubuntu Bold"/>
              </a:rPr>
              <a:t> juta anak di dunia tidak mendapat imunisasi (2019–2021) kemunduran terbesar dalam 30 tahun.</a:t>
            </a:r>
          </a:p>
        </p:txBody>
      </p:sp>
      <p:sp>
        <p:nvSpPr>
          <p:cNvPr name="TextBox 34" id="34"/>
          <p:cNvSpPr txBox="true"/>
          <p:nvPr/>
        </p:nvSpPr>
        <p:spPr>
          <a:xfrm rot="0">
            <a:off x="5938593" y="7935653"/>
            <a:ext cx="3448963" cy="314325"/>
          </a:xfrm>
          <a:prstGeom prst="rect">
            <a:avLst/>
          </a:prstGeom>
        </p:spPr>
        <p:txBody>
          <a:bodyPr anchor="t" rtlCol="false" tIns="0" lIns="0" bIns="0" rIns="0">
            <a:spAutoFit/>
          </a:bodyPr>
          <a:lstStyle/>
          <a:p>
            <a:pPr algn="l">
              <a:lnSpc>
                <a:spcPts val="2400"/>
              </a:lnSpc>
            </a:pPr>
            <a:r>
              <a:rPr lang="en-US" sz="2000">
                <a:solidFill>
                  <a:srgbClr val="434343"/>
                </a:solidFill>
                <a:latin typeface="Arimo"/>
                <a:ea typeface="Arimo"/>
                <a:cs typeface="Arimo"/>
                <a:sym typeface="Arimo"/>
              </a:rPr>
              <a:t>[SKI 2023, BKPK Kemenkes]</a:t>
            </a:r>
          </a:p>
        </p:txBody>
      </p:sp>
      <p:sp>
        <p:nvSpPr>
          <p:cNvPr name="TextBox 35" id="35"/>
          <p:cNvSpPr txBox="true"/>
          <p:nvPr/>
        </p:nvSpPr>
        <p:spPr>
          <a:xfrm rot="0">
            <a:off x="10556851" y="7997237"/>
            <a:ext cx="2760466" cy="314325"/>
          </a:xfrm>
          <a:prstGeom prst="rect">
            <a:avLst/>
          </a:prstGeom>
        </p:spPr>
        <p:txBody>
          <a:bodyPr anchor="t" rtlCol="false" tIns="0" lIns="0" bIns="0" rIns="0">
            <a:spAutoFit/>
          </a:bodyPr>
          <a:lstStyle/>
          <a:p>
            <a:pPr algn="l">
              <a:lnSpc>
                <a:spcPts val="2400"/>
              </a:lnSpc>
            </a:pPr>
            <a:r>
              <a:rPr lang="en-US" sz="2000">
                <a:solidFill>
                  <a:srgbClr val="434343"/>
                </a:solidFill>
                <a:latin typeface="Arimo"/>
                <a:ea typeface="Arimo"/>
                <a:cs typeface="Arimo"/>
                <a:sym typeface="Arimo"/>
              </a:rPr>
              <a:t>[WHO Indonesia, 2025]</a:t>
            </a:r>
          </a:p>
        </p:txBody>
      </p:sp>
      <p:sp>
        <p:nvSpPr>
          <p:cNvPr name="TextBox 36" id="36"/>
          <p:cNvSpPr txBox="true"/>
          <p:nvPr/>
        </p:nvSpPr>
        <p:spPr>
          <a:xfrm rot="0">
            <a:off x="1707289" y="8521112"/>
            <a:ext cx="14241781" cy="1054735"/>
          </a:xfrm>
          <a:prstGeom prst="rect">
            <a:avLst/>
          </a:prstGeom>
        </p:spPr>
        <p:txBody>
          <a:bodyPr anchor="t" rtlCol="false" tIns="0" lIns="0" bIns="0" rIns="0">
            <a:spAutoFit/>
          </a:bodyPr>
          <a:lstStyle/>
          <a:p>
            <a:pPr algn="ctr">
              <a:lnSpc>
                <a:spcPts val="4339"/>
              </a:lnSpc>
              <a:spcBef>
                <a:spcPct val="0"/>
              </a:spcBef>
            </a:pPr>
            <a:r>
              <a:rPr lang="en-US" b="true" sz="3099">
                <a:solidFill>
                  <a:srgbClr val="000000"/>
                </a:solidFill>
                <a:latin typeface="Open Sans Bold"/>
                <a:ea typeface="Open Sans Bold"/>
                <a:cs typeface="Open Sans Bold"/>
                <a:sym typeface="Open Sans Bold"/>
              </a:rPr>
              <a:t>Indonesia peringkat </a:t>
            </a:r>
            <a:r>
              <a:rPr lang="en-US" b="true" sz="3099">
                <a:solidFill>
                  <a:srgbClr val="FF4757"/>
                </a:solidFill>
                <a:latin typeface="Open Sans Bold"/>
                <a:ea typeface="Open Sans Bold"/>
                <a:cs typeface="Open Sans Bold"/>
                <a:sym typeface="Open Sans Bold"/>
              </a:rPr>
              <a:t>ke-6 </a:t>
            </a:r>
            <a:r>
              <a:rPr lang="en-US" b="true" sz="3099">
                <a:solidFill>
                  <a:srgbClr val="000000"/>
                </a:solidFill>
                <a:latin typeface="Open Sans Bold"/>
                <a:ea typeface="Open Sans Bold"/>
                <a:cs typeface="Open Sans Bold"/>
                <a:sym typeface="Open Sans Bold"/>
              </a:rPr>
              <a:t>dunia untuk anak tanpa imunisasi sama sekali </a:t>
            </a:r>
          </a:p>
          <a:p>
            <a:pPr algn="ctr">
              <a:lnSpc>
                <a:spcPts val="4339"/>
              </a:lnSpc>
              <a:spcBef>
                <a:spcPct val="0"/>
              </a:spcBef>
            </a:pPr>
            <a:r>
              <a:rPr lang="en-US" b="true" sz="3099">
                <a:solidFill>
                  <a:srgbClr val="000000"/>
                </a:solidFill>
                <a:latin typeface="Open Sans Bold"/>
                <a:ea typeface="Open Sans Bold"/>
                <a:cs typeface="Open Sans Bold"/>
                <a:sym typeface="Open Sans Bold"/>
              </a:rPr>
              <a:t>(zero-dose children): 1,35 juta anak [6] </a:t>
            </a:r>
          </a:p>
        </p:txBody>
      </p:sp>
      <p:sp>
        <p:nvSpPr>
          <p:cNvPr name="TextBox 37" id="37"/>
          <p:cNvSpPr txBox="true"/>
          <p:nvPr/>
        </p:nvSpPr>
        <p:spPr>
          <a:xfrm rot="0">
            <a:off x="0" y="9051186"/>
            <a:ext cx="3411650" cy="1160027"/>
          </a:xfrm>
          <a:prstGeom prst="rect">
            <a:avLst/>
          </a:prstGeom>
        </p:spPr>
        <p:txBody>
          <a:bodyPr anchor="t" rtlCol="false" tIns="0" lIns="0" bIns="0" rIns="0">
            <a:spAutoFit/>
          </a:bodyPr>
          <a:lstStyle/>
          <a:p>
            <a:pPr algn="l">
              <a:lnSpc>
                <a:spcPts val="2311"/>
              </a:lnSpc>
            </a:pPr>
            <a:r>
              <a:rPr lang="en-US" sz="1651">
                <a:solidFill>
                  <a:srgbClr val="FF4757"/>
                </a:solidFill>
                <a:latin typeface="Open Sans"/>
                <a:ea typeface="Open Sans"/>
                <a:cs typeface="Open Sans"/>
                <a:sym typeface="Open Sans"/>
              </a:rPr>
              <a:t>[2] Kemenkes RI, 2025</a:t>
            </a:r>
          </a:p>
          <a:p>
            <a:pPr algn="l">
              <a:lnSpc>
                <a:spcPts val="2311"/>
              </a:lnSpc>
            </a:pPr>
            <a:r>
              <a:rPr lang="en-US" sz="1651">
                <a:solidFill>
                  <a:srgbClr val="FF4757"/>
                </a:solidFill>
                <a:latin typeface="Open Sans"/>
                <a:ea typeface="Open Sans"/>
                <a:cs typeface="Open Sans"/>
                <a:sym typeface="Open Sans"/>
              </a:rPr>
              <a:t>[5] WHO Indonesia</a:t>
            </a:r>
          </a:p>
          <a:p>
            <a:pPr algn="l">
              <a:lnSpc>
                <a:spcPts val="2311"/>
              </a:lnSpc>
            </a:pPr>
            <a:r>
              <a:rPr lang="en-US" sz="1651">
                <a:solidFill>
                  <a:srgbClr val="FF4757"/>
                </a:solidFill>
                <a:latin typeface="Open Sans"/>
                <a:ea typeface="Open Sans"/>
                <a:cs typeface="Open Sans"/>
                <a:sym typeface="Open Sans"/>
              </a:rPr>
              <a:t>[7] WHO, IA2030, 2021 2025  </a:t>
            </a:r>
          </a:p>
          <a:p>
            <a:pPr algn="l">
              <a:lnSpc>
                <a:spcPts val="2311"/>
              </a:lnSpc>
            </a:pPr>
            <a:r>
              <a:rPr lang="en-US" sz="1651">
                <a:solidFill>
                  <a:srgbClr val="FF4757"/>
                </a:solidFill>
                <a:latin typeface="Open Sans"/>
                <a:ea typeface="Open Sans"/>
                <a:cs typeface="Open Sans"/>
                <a:sym typeface="Open Sans"/>
              </a:rPr>
              <a:t>[</a:t>
            </a:r>
            <a:r>
              <a:rPr lang="en-US" sz="1651">
                <a:solidFill>
                  <a:srgbClr val="FF4757"/>
                </a:solidFill>
                <a:latin typeface="Open Sans"/>
                <a:ea typeface="Open Sans"/>
                <a:cs typeface="Open Sans"/>
                <a:sym typeface="Open Sans"/>
              </a:rPr>
              <a:t>1] SKI 2023, BKPK Kemenkes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3181743" y="-1741763"/>
            <a:ext cx="23262773" cy="14438721"/>
          </a:xfrm>
          <a:custGeom>
            <a:avLst/>
            <a:gdLst/>
            <a:ahLst/>
            <a:cxnLst/>
            <a:rect r="r" b="b" t="t" l="l"/>
            <a:pathLst>
              <a:path h="14438721" w="23262773">
                <a:moveTo>
                  <a:pt x="0" y="0"/>
                </a:moveTo>
                <a:lnTo>
                  <a:pt x="23262773" y="0"/>
                </a:lnTo>
                <a:lnTo>
                  <a:pt x="23262773" y="14438721"/>
                </a:lnTo>
                <a:lnTo>
                  <a:pt x="0" y="144387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72976" y="94084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821126" y="6127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775426" y="6127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629176" y="20514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3866326" y="9216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670376" y="9107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48076" y="7229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848665" y="7821835"/>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720000" y="43994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6885284" y="452692"/>
            <a:ext cx="1140268" cy="1079625"/>
          </a:xfrm>
          <a:custGeom>
            <a:avLst/>
            <a:gdLst/>
            <a:ahLst/>
            <a:cxnLst/>
            <a:rect r="r" b="b" t="t" l="l"/>
            <a:pathLst>
              <a:path h="1079625" w="1140268">
                <a:moveTo>
                  <a:pt x="0" y="0"/>
                </a:moveTo>
                <a:lnTo>
                  <a:pt x="1140269" y="0"/>
                </a:lnTo>
                <a:lnTo>
                  <a:pt x="1140269" y="1079624"/>
                </a:lnTo>
                <a:lnTo>
                  <a:pt x="0" y="10796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5720000" y="1219994"/>
            <a:ext cx="1132346" cy="766965"/>
          </a:xfrm>
          <a:custGeom>
            <a:avLst/>
            <a:gdLst/>
            <a:ahLst/>
            <a:cxnLst/>
            <a:rect r="r" b="b" t="t" l="l"/>
            <a:pathLst>
              <a:path h="766965" w="1132346">
                <a:moveTo>
                  <a:pt x="0" y="0"/>
                </a:moveTo>
                <a:lnTo>
                  <a:pt x="1132346" y="0"/>
                </a:lnTo>
                <a:lnTo>
                  <a:pt x="1132346" y="766964"/>
                </a:lnTo>
                <a:lnTo>
                  <a:pt x="0" y="7669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6049562" y="152994"/>
            <a:ext cx="857662" cy="837258"/>
          </a:xfrm>
          <a:custGeom>
            <a:avLst/>
            <a:gdLst/>
            <a:ahLst/>
            <a:cxnLst/>
            <a:rect r="r" b="b" t="t" l="l"/>
            <a:pathLst>
              <a:path h="837258" w="857662">
                <a:moveTo>
                  <a:pt x="0" y="0"/>
                </a:moveTo>
                <a:lnTo>
                  <a:pt x="857662" y="0"/>
                </a:lnTo>
                <a:lnTo>
                  <a:pt x="857662" y="837258"/>
                </a:lnTo>
                <a:lnTo>
                  <a:pt x="0" y="83725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378985" y="-1210729"/>
            <a:ext cx="3167785" cy="2878891"/>
          </a:xfrm>
          <a:custGeom>
            <a:avLst/>
            <a:gdLst/>
            <a:ahLst/>
            <a:cxnLst/>
            <a:rect r="r" b="b" t="t" l="l"/>
            <a:pathLst>
              <a:path h="2878891" w="3167785">
                <a:moveTo>
                  <a:pt x="0" y="0"/>
                </a:moveTo>
                <a:lnTo>
                  <a:pt x="3167785" y="0"/>
                </a:lnTo>
                <a:lnTo>
                  <a:pt x="3167785" y="2878891"/>
                </a:lnTo>
                <a:lnTo>
                  <a:pt x="0" y="28788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5400000">
            <a:off x="2485235" y="3270830"/>
            <a:ext cx="5400337" cy="7917192"/>
          </a:xfrm>
          <a:custGeom>
            <a:avLst/>
            <a:gdLst/>
            <a:ahLst/>
            <a:cxnLst/>
            <a:rect r="r" b="b" t="t" l="l"/>
            <a:pathLst>
              <a:path h="7917192" w="5400337">
                <a:moveTo>
                  <a:pt x="0" y="0"/>
                </a:moveTo>
                <a:lnTo>
                  <a:pt x="5400338" y="0"/>
                </a:lnTo>
                <a:lnTo>
                  <a:pt x="5400338" y="7917192"/>
                </a:lnTo>
                <a:lnTo>
                  <a:pt x="0" y="7917192"/>
                </a:lnTo>
                <a:lnTo>
                  <a:pt x="0" y="0"/>
                </a:lnTo>
                <a:close/>
              </a:path>
            </a:pathLst>
          </a:custGeom>
          <a:blipFill>
            <a:blip r:embed="rId16"/>
            <a:stretch>
              <a:fillRect l="-7388" t="0" r="0" b="0"/>
            </a:stretch>
          </a:blipFill>
        </p:spPr>
      </p:sp>
      <p:sp>
        <p:nvSpPr>
          <p:cNvPr name="Freeform 17" id="17"/>
          <p:cNvSpPr/>
          <p:nvPr/>
        </p:nvSpPr>
        <p:spPr>
          <a:xfrm flipH="false" flipV="false" rot="0">
            <a:off x="10305865" y="3930042"/>
            <a:ext cx="4342176" cy="5999553"/>
          </a:xfrm>
          <a:custGeom>
            <a:avLst/>
            <a:gdLst/>
            <a:ahLst/>
            <a:cxnLst/>
            <a:rect r="r" b="b" t="t" l="l"/>
            <a:pathLst>
              <a:path h="5999553" w="4342176">
                <a:moveTo>
                  <a:pt x="0" y="0"/>
                </a:moveTo>
                <a:lnTo>
                  <a:pt x="4342176" y="0"/>
                </a:lnTo>
                <a:lnTo>
                  <a:pt x="4342176" y="5999553"/>
                </a:lnTo>
                <a:lnTo>
                  <a:pt x="0" y="5999553"/>
                </a:lnTo>
                <a:lnTo>
                  <a:pt x="0" y="0"/>
                </a:lnTo>
                <a:close/>
              </a:path>
            </a:pathLst>
          </a:custGeom>
          <a:blipFill>
            <a:blip r:embed="rId17"/>
            <a:stretch>
              <a:fillRect l="0" t="0" r="0" b="0"/>
            </a:stretch>
          </a:blipFill>
        </p:spPr>
      </p:sp>
      <p:sp>
        <p:nvSpPr>
          <p:cNvPr name="TextBox 18" id="18"/>
          <p:cNvSpPr txBox="true"/>
          <p:nvPr/>
        </p:nvSpPr>
        <p:spPr>
          <a:xfrm rot="0">
            <a:off x="1101389" y="657225"/>
            <a:ext cx="15075811" cy="714375"/>
          </a:xfrm>
          <a:prstGeom prst="rect">
            <a:avLst/>
          </a:prstGeom>
        </p:spPr>
        <p:txBody>
          <a:bodyPr anchor="t" rtlCol="false" tIns="0" lIns="0" bIns="0" rIns="0">
            <a:spAutoFit/>
          </a:bodyPr>
          <a:lstStyle/>
          <a:p>
            <a:pPr algn="l">
              <a:lnSpc>
                <a:spcPts val="5400"/>
              </a:lnSpc>
            </a:pPr>
            <a:r>
              <a:rPr lang="en-US" sz="4500" b="true">
                <a:solidFill>
                  <a:srgbClr val="073763"/>
                </a:solidFill>
                <a:latin typeface="Ubuntu Bold"/>
                <a:ea typeface="Ubuntu Bold"/>
                <a:cs typeface="Ubuntu Bold"/>
                <a:sym typeface="Ubuntu Bold"/>
              </a:rPr>
              <a:t>Buku KIA 2024 </a:t>
            </a:r>
            <a:r>
              <a:rPr lang="en-US" sz="4500" b="true">
                <a:solidFill>
                  <a:srgbClr val="073763"/>
                </a:solidFill>
                <a:latin typeface="Ubuntu Bold"/>
                <a:ea typeface="Ubuntu Bold"/>
                <a:cs typeface="Ubuntu Bold"/>
                <a:sym typeface="Ubuntu Bold"/>
              </a:rPr>
              <a:t> </a:t>
            </a:r>
          </a:p>
        </p:txBody>
      </p:sp>
      <p:sp>
        <p:nvSpPr>
          <p:cNvPr name="TextBox 19" id="19"/>
          <p:cNvSpPr txBox="true"/>
          <p:nvPr/>
        </p:nvSpPr>
        <p:spPr>
          <a:xfrm rot="0">
            <a:off x="1116362" y="1465641"/>
            <a:ext cx="15060838" cy="1976755"/>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Ubuntu Bold"/>
                <a:ea typeface="Ubuntu Bold"/>
                <a:cs typeface="Ubuntu Bold"/>
                <a:sym typeface="Ubuntu Bold"/>
              </a:rPr>
              <a:t>APA ITU BUKU KIA??</a:t>
            </a:r>
          </a:p>
          <a:p>
            <a:pPr algn="l" marL="604519" indent="-302260" lvl="1">
              <a:lnSpc>
                <a:spcPts val="3919"/>
              </a:lnSpc>
              <a:spcBef>
                <a:spcPct val="0"/>
              </a:spcBef>
              <a:buFont typeface="Arial"/>
              <a:buChar char="•"/>
            </a:pPr>
            <a:r>
              <a:rPr lang="en-US" b="true" sz="2799">
                <a:solidFill>
                  <a:srgbClr val="000000"/>
                </a:solidFill>
                <a:latin typeface="Ubuntu Bold"/>
                <a:ea typeface="Ubuntu Bold"/>
                <a:cs typeface="Ubuntu Bold"/>
                <a:sym typeface="Ubuntu Bold"/>
              </a:rPr>
              <a:t>Buku Kesehatan Ibu dan Anak (KIA) adalah acuan nasional pemantauan kesehatan ibu dan anak, mencakup masa kehamilan hingga anak usia 6 tahun</a:t>
            </a:r>
          </a:p>
          <a:p>
            <a:pPr algn="l" marL="604519" indent="-302260" lvl="1">
              <a:lnSpc>
                <a:spcPts val="3919"/>
              </a:lnSpc>
              <a:spcBef>
                <a:spcPct val="0"/>
              </a:spcBef>
              <a:buFont typeface="Arial"/>
              <a:buChar char="•"/>
            </a:pPr>
            <a:r>
              <a:rPr lang="en-US" b="true" sz="2799">
                <a:solidFill>
                  <a:srgbClr val="000000"/>
                </a:solidFill>
                <a:latin typeface="Ubuntu Bold"/>
                <a:ea typeface="Ubuntu Bold"/>
                <a:cs typeface="Ubuntu Bold"/>
                <a:sym typeface="Ubuntu Bold"/>
              </a:rPr>
              <a:t>Satu-satunya sistem pencatatan imunisasi  yang ada saat ini, 100% manual [1]</a:t>
            </a:r>
            <a:r>
              <a:rPr lang="en-US" b="true" sz="2799">
                <a:solidFill>
                  <a:srgbClr val="000000"/>
                </a:solidFill>
                <a:latin typeface="Ubuntu Bold"/>
                <a:ea typeface="Ubuntu Bold"/>
                <a:cs typeface="Ubuntu Bold"/>
                <a:sym typeface="Ubuntu Bold"/>
              </a:rPr>
              <a:t>.</a:t>
            </a:r>
          </a:p>
        </p:txBody>
      </p:sp>
      <p:sp>
        <p:nvSpPr>
          <p:cNvPr name="TextBox 20" id="20"/>
          <p:cNvSpPr txBox="true"/>
          <p:nvPr/>
        </p:nvSpPr>
        <p:spPr>
          <a:xfrm rot="0">
            <a:off x="1430176" y="3849807"/>
            <a:ext cx="5215652"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Open Sans Bold"/>
                <a:ea typeface="Open Sans Bold"/>
                <a:cs typeface="Open Sans Bold"/>
                <a:sym typeface="Open Sans Bold"/>
              </a:rPr>
              <a:t>ISI BUKU KIA TERKAIT IMUNISASI:</a:t>
            </a:r>
          </a:p>
        </p:txBody>
      </p:sp>
      <p:sp>
        <p:nvSpPr>
          <p:cNvPr name="TextBox 21" id="21"/>
          <p:cNvSpPr txBox="true"/>
          <p:nvPr/>
        </p:nvSpPr>
        <p:spPr>
          <a:xfrm rot="0">
            <a:off x="2448765" y="9438639"/>
            <a:ext cx="5019556"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Open Sans Bold"/>
                <a:ea typeface="Open Sans Bold"/>
                <a:cs typeface="Open Sans Bold"/>
                <a:sym typeface="Open Sans Bold"/>
              </a:rPr>
              <a:t>Panduan Imunisasi Dasar Lengkap (IDL)</a:t>
            </a:r>
          </a:p>
        </p:txBody>
      </p:sp>
      <p:sp>
        <p:nvSpPr>
          <p:cNvPr name="TextBox 22" id="22"/>
          <p:cNvSpPr txBox="true"/>
          <p:nvPr/>
        </p:nvSpPr>
        <p:spPr>
          <a:xfrm rot="0">
            <a:off x="10205300" y="9441085"/>
            <a:ext cx="4543306"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Open Sans Bold"/>
                <a:ea typeface="Open Sans Bold"/>
                <a:cs typeface="Open Sans Bold"/>
                <a:sym typeface="Open Sans Bold"/>
              </a:rPr>
              <a:t>Pencatatan riwayat imunisasi anak </a:t>
            </a:r>
          </a:p>
        </p:txBody>
      </p:sp>
      <p:sp>
        <p:nvSpPr>
          <p:cNvPr name="TextBox 23" id="23"/>
          <p:cNvSpPr txBox="true"/>
          <p:nvPr/>
        </p:nvSpPr>
        <p:spPr>
          <a:xfrm rot="0">
            <a:off x="3127349" y="9901020"/>
            <a:ext cx="4116110" cy="257175"/>
          </a:xfrm>
          <a:prstGeom prst="rect">
            <a:avLst/>
          </a:prstGeom>
        </p:spPr>
        <p:txBody>
          <a:bodyPr anchor="t" rtlCol="false" tIns="0" lIns="0" bIns="0" rIns="0">
            <a:spAutoFit/>
          </a:bodyPr>
          <a:lstStyle/>
          <a:p>
            <a:pPr algn="ctr">
              <a:lnSpc>
                <a:spcPts val="2100"/>
              </a:lnSpc>
              <a:spcBef>
                <a:spcPct val="0"/>
              </a:spcBef>
            </a:pPr>
            <a:r>
              <a:rPr lang="en-US" sz="1500">
                <a:solidFill>
                  <a:srgbClr val="000000"/>
                </a:solidFill>
                <a:latin typeface="Open Sans"/>
                <a:ea typeface="Open Sans"/>
                <a:cs typeface="Open Sans"/>
                <a:sym typeface="Open Sans"/>
              </a:rPr>
              <a:t>Sumber: Buku KIA 2024, Kemenkes RI, hal. 124</a:t>
            </a:r>
          </a:p>
        </p:txBody>
      </p:sp>
      <p:sp>
        <p:nvSpPr>
          <p:cNvPr name="TextBox 24" id="24"/>
          <p:cNvSpPr txBox="true"/>
          <p:nvPr/>
        </p:nvSpPr>
        <p:spPr>
          <a:xfrm rot="0">
            <a:off x="10418898" y="9873613"/>
            <a:ext cx="4116110" cy="257175"/>
          </a:xfrm>
          <a:prstGeom prst="rect">
            <a:avLst/>
          </a:prstGeom>
        </p:spPr>
        <p:txBody>
          <a:bodyPr anchor="t" rtlCol="false" tIns="0" lIns="0" bIns="0" rIns="0">
            <a:spAutoFit/>
          </a:bodyPr>
          <a:lstStyle/>
          <a:p>
            <a:pPr algn="ctr">
              <a:lnSpc>
                <a:spcPts val="2100"/>
              </a:lnSpc>
              <a:spcBef>
                <a:spcPct val="0"/>
              </a:spcBef>
            </a:pPr>
            <a:r>
              <a:rPr lang="en-US" sz="1500">
                <a:solidFill>
                  <a:srgbClr val="000000"/>
                </a:solidFill>
                <a:latin typeface="Open Sans"/>
                <a:ea typeface="Open Sans"/>
                <a:cs typeface="Open Sans"/>
                <a:sym typeface="Open Sans"/>
              </a:rPr>
              <a:t>Sumber: Buku KIA 2024, Kemenkes RI, hal. 125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3238275" y="-1741763"/>
            <a:ext cx="23262773" cy="14438721"/>
          </a:xfrm>
          <a:custGeom>
            <a:avLst/>
            <a:gdLst/>
            <a:ahLst/>
            <a:cxnLst/>
            <a:rect r="r" b="b" t="t" l="l"/>
            <a:pathLst>
              <a:path h="14438721" w="23262773">
                <a:moveTo>
                  <a:pt x="0" y="0"/>
                </a:moveTo>
                <a:lnTo>
                  <a:pt x="23262773" y="0"/>
                </a:lnTo>
                <a:lnTo>
                  <a:pt x="23262773" y="14438721"/>
                </a:lnTo>
                <a:lnTo>
                  <a:pt x="0" y="144387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72976" y="94084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821126" y="6127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775426" y="6127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629176" y="20514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3866326" y="9216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670376" y="9107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48076" y="7229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848665" y="7821835"/>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720000" y="43994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972976" y="8050435"/>
            <a:ext cx="1140268" cy="1079625"/>
          </a:xfrm>
          <a:custGeom>
            <a:avLst/>
            <a:gdLst/>
            <a:ahLst/>
            <a:cxnLst/>
            <a:rect r="r" b="b" t="t" l="l"/>
            <a:pathLst>
              <a:path h="1079625" w="1140268">
                <a:moveTo>
                  <a:pt x="0" y="0"/>
                </a:moveTo>
                <a:lnTo>
                  <a:pt x="1140268" y="0"/>
                </a:lnTo>
                <a:lnTo>
                  <a:pt x="1140268" y="1079625"/>
                </a:lnTo>
                <a:lnTo>
                  <a:pt x="0" y="10796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03646" y="8590248"/>
            <a:ext cx="1132346" cy="766965"/>
          </a:xfrm>
          <a:custGeom>
            <a:avLst/>
            <a:gdLst/>
            <a:ahLst/>
            <a:cxnLst/>
            <a:rect r="r" b="b" t="t" l="l"/>
            <a:pathLst>
              <a:path h="766965" w="1132346">
                <a:moveTo>
                  <a:pt x="0" y="0"/>
                </a:moveTo>
                <a:lnTo>
                  <a:pt x="1132346" y="0"/>
                </a:lnTo>
                <a:lnTo>
                  <a:pt x="1132346" y="766964"/>
                </a:lnTo>
                <a:lnTo>
                  <a:pt x="0" y="7669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71038" y="7458026"/>
            <a:ext cx="857662" cy="837258"/>
          </a:xfrm>
          <a:custGeom>
            <a:avLst/>
            <a:gdLst/>
            <a:ahLst/>
            <a:cxnLst/>
            <a:rect r="r" b="b" t="t" l="l"/>
            <a:pathLst>
              <a:path h="837258" w="857662">
                <a:moveTo>
                  <a:pt x="0" y="0"/>
                </a:moveTo>
                <a:lnTo>
                  <a:pt x="857662" y="0"/>
                </a:lnTo>
                <a:lnTo>
                  <a:pt x="857662" y="837258"/>
                </a:lnTo>
                <a:lnTo>
                  <a:pt x="0" y="83725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378985" y="-1210729"/>
            <a:ext cx="3167785" cy="2878891"/>
          </a:xfrm>
          <a:custGeom>
            <a:avLst/>
            <a:gdLst/>
            <a:ahLst/>
            <a:cxnLst/>
            <a:rect r="r" b="b" t="t" l="l"/>
            <a:pathLst>
              <a:path h="2878891" w="3167785">
                <a:moveTo>
                  <a:pt x="0" y="0"/>
                </a:moveTo>
                <a:lnTo>
                  <a:pt x="3167785" y="0"/>
                </a:lnTo>
                <a:lnTo>
                  <a:pt x="3167785" y="2878891"/>
                </a:lnTo>
                <a:lnTo>
                  <a:pt x="0" y="28788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599869" y="2508676"/>
            <a:ext cx="6995829" cy="5427459"/>
          </a:xfrm>
          <a:custGeom>
            <a:avLst/>
            <a:gdLst/>
            <a:ahLst/>
            <a:cxnLst/>
            <a:rect r="r" b="b" t="t" l="l"/>
            <a:pathLst>
              <a:path h="5427459" w="6995829">
                <a:moveTo>
                  <a:pt x="0" y="0"/>
                </a:moveTo>
                <a:lnTo>
                  <a:pt x="6995828" y="0"/>
                </a:lnTo>
                <a:lnTo>
                  <a:pt x="6995828" y="5427459"/>
                </a:lnTo>
                <a:lnTo>
                  <a:pt x="0" y="5427459"/>
                </a:lnTo>
                <a:lnTo>
                  <a:pt x="0" y="0"/>
                </a:lnTo>
                <a:close/>
              </a:path>
            </a:pathLst>
          </a:custGeom>
          <a:blipFill>
            <a:blip r:embed="rId16"/>
            <a:stretch>
              <a:fillRect l="-133" t="0" r="-133" b="0"/>
            </a:stretch>
          </a:blipFill>
        </p:spPr>
      </p:sp>
      <p:sp>
        <p:nvSpPr>
          <p:cNvPr name="TextBox 17" id="17"/>
          <p:cNvSpPr txBox="true"/>
          <p:nvPr/>
        </p:nvSpPr>
        <p:spPr>
          <a:xfrm rot="0">
            <a:off x="1186603" y="657225"/>
            <a:ext cx="15075811" cy="714375"/>
          </a:xfrm>
          <a:prstGeom prst="rect">
            <a:avLst/>
          </a:prstGeom>
        </p:spPr>
        <p:txBody>
          <a:bodyPr anchor="t" rtlCol="false" tIns="0" lIns="0" bIns="0" rIns="0">
            <a:spAutoFit/>
          </a:bodyPr>
          <a:lstStyle/>
          <a:p>
            <a:pPr algn="l">
              <a:lnSpc>
                <a:spcPts val="5400"/>
              </a:lnSpc>
            </a:pPr>
            <a:r>
              <a:rPr lang="en-US" sz="4500" b="true">
                <a:solidFill>
                  <a:srgbClr val="073763"/>
                </a:solidFill>
                <a:latin typeface="Ubuntu Bold"/>
                <a:ea typeface="Ubuntu Bold"/>
                <a:cs typeface="Ubuntu Bold"/>
                <a:sym typeface="Ubuntu Bold"/>
              </a:rPr>
              <a:t>Buku KIA 2024 </a:t>
            </a:r>
          </a:p>
        </p:txBody>
      </p:sp>
      <p:sp>
        <p:nvSpPr>
          <p:cNvPr name="TextBox 18" id="18"/>
          <p:cNvSpPr txBox="true"/>
          <p:nvPr/>
        </p:nvSpPr>
        <p:spPr>
          <a:xfrm rot="0">
            <a:off x="0" y="9664651"/>
            <a:ext cx="3811667" cy="619125"/>
          </a:xfrm>
          <a:prstGeom prst="rect">
            <a:avLst/>
          </a:prstGeom>
        </p:spPr>
        <p:txBody>
          <a:bodyPr anchor="t" rtlCol="false" tIns="0" lIns="0" bIns="0" rIns="0">
            <a:spAutoFit/>
          </a:bodyPr>
          <a:lstStyle/>
          <a:p>
            <a:pPr algn="ctr">
              <a:lnSpc>
                <a:spcPts val="2400"/>
              </a:lnSpc>
            </a:pPr>
            <a:r>
              <a:rPr lang="en-US" sz="2000">
                <a:solidFill>
                  <a:srgbClr val="073763"/>
                </a:solidFill>
                <a:latin typeface="Open Sans"/>
                <a:ea typeface="Open Sans"/>
                <a:cs typeface="Open Sans"/>
                <a:sym typeface="Open Sans"/>
              </a:rPr>
              <a:t>[1] SKI 2023, BKPK Kemenkes</a:t>
            </a:r>
            <a:r>
              <a:rPr lang="en-US" sz="2000">
                <a:solidFill>
                  <a:srgbClr val="073763"/>
                </a:solidFill>
                <a:latin typeface="Open Sans"/>
                <a:ea typeface="Open Sans"/>
                <a:cs typeface="Open Sans"/>
                <a:sym typeface="Open Sans"/>
              </a:rPr>
              <a:t> RI</a:t>
            </a:r>
          </a:p>
          <a:p>
            <a:pPr algn="ctr">
              <a:lnSpc>
                <a:spcPts val="2400"/>
              </a:lnSpc>
              <a:spcBef>
                <a:spcPct val="0"/>
              </a:spcBef>
            </a:pPr>
            <a:r>
              <a:rPr lang="en-US" sz="2000">
                <a:solidFill>
                  <a:srgbClr val="073763"/>
                </a:solidFill>
                <a:latin typeface="Open Sans"/>
                <a:ea typeface="Open Sans"/>
                <a:cs typeface="Open Sans"/>
                <a:sym typeface="Open Sans"/>
              </a:rPr>
              <a:t>[9] Kemenkes RI. Buku KIA 2024 </a:t>
            </a:r>
          </a:p>
        </p:txBody>
      </p:sp>
      <p:sp>
        <p:nvSpPr>
          <p:cNvPr name="TextBox 19" id="19"/>
          <p:cNvSpPr txBox="true"/>
          <p:nvPr/>
        </p:nvSpPr>
        <p:spPr>
          <a:xfrm rot="0">
            <a:off x="8182431" y="693101"/>
            <a:ext cx="9622845" cy="9172575"/>
          </a:xfrm>
          <a:prstGeom prst="rect">
            <a:avLst/>
          </a:prstGeom>
        </p:spPr>
        <p:txBody>
          <a:bodyPr anchor="t" rtlCol="false" tIns="0" lIns="0" bIns="0" rIns="0">
            <a:spAutoFit/>
          </a:bodyPr>
          <a:lstStyle/>
          <a:p>
            <a:pPr algn="l">
              <a:lnSpc>
                <a:spcPts val="3600"/>
              </a:lnSpc>
            </a:pPr>
            <a:r>
              <a:rPr lang="en-US" sz="3000" b="true">
                <a:solidFill>
                  <a:srgbClr val="FF4757"/>
                </a:solidFill>
                <a:latin typeface="Ubuntu Bold"/>
                <a:ea typeface="Ubuntu Bold"/>
                <a:cs typeface="Ubuntu Bold"/>
                <a:sym typeface="Ubuntu Bold"/>
              </a:rPr>
              <a:t>✕</a:t>
            </a:r>
            <a:r>
              <a:rPr lang="en-US" sz="3000" b="true">
                <a:solidFill>
                  <a:srgbClr val="434343"/>
                </a:solidFill>
                <a:latin typeface="Ubuntu Bold"/>
                <a:ea typeface="Ubuntu Bold"/>
                <a:cs typeface="Ubuntu Bold"/>
                <a:sym typeface="Ubuntu Bold"/>
              </a:rPr>
              <a:t> BERBASIS KERTAS ( 100% MANUAL </a:t>
            </a:r>
            <a:r>
              <a:rPr lang="en-US" sz="3000" b="true">
                <a:solidFill>
                  <a:srgbClr val="434343"/>
                </a:solidFill>
                <a:latin typeface="Ubuntu Bold"/>
                <a:ea typeface="Ubuntu Bold"/>
                <a:cs typeface="Ubuntu Bold"/>
                <a:sym typeface="Ubuntu Bold"/>
              </a:rPr>
              <a:t>)[9] </a:t>
            </a:r>
          </a:p>
          <a:p>
            <a:pPr algn="l">
              <a:lnSpc>
                <a:spcPts val="3600"/>
              </a:lnSpc>
            </a:pPr>
            <a:r>
              <a:rPr lang="en-US" sz="3000">
                <a:solidFill>
                  <a:srgbClr val="434343"/>
                </a:solidFill>
                <a:latin typeface="Ubuntu"/>
                <a:ea typeface="Ubuntu"/>
                <a:cs typeface="Ubuntu"/>
                <a:sym typeface="Ubuntu"/>
              </a:rPr>
              <a:t>Kader Posyandu menulis tangan, tidak ada backup digital.</a:t>
            </a:r>
          </a:p>
          <a:p>
            <a:pPr algn="l">
              <a:lnSpc>
                <a:spcPts val="3600"/>
              </a:lnSpc>
            </a:pPr>
          </a:p>
          <a:p>
            <a:pPr algn="l">
              <a:lnSpc>
                <a:spcPts val="3600"/>
              </a:lnSpc>
            </a:pPr>
            <a:r>
              <a:rPr lang="en-US" sz="3000" b="true">
                <a:solidFill>
                  <a:srgbClr val="FF5757"/>
                </a:solidFill>
                <a:latin typeface="Ubuntu Bold"/>
                <a:ea typeface="Ubuntu Bold"/>
                <a:cs typeface="Ubuntu Bold"/>
                <a:sym typeface="Ubuntu Bold"/>
              </a:rPr>
              <a:t>✕</a:t>
            </a:r>
            <a:r>
              <a:rPr lang="en-US" sz="3000" b="true">
                <a:solidFill>
                  <a:srgbClr val="434343"/>
                </a:solidFill>
                <a:latin typeface="Ubuntu Bold"/>
                <a:ea typeface="Ubuntu Bold"/>
                <a:cs typeface="Ubuntu Bold"/>
                <a:sym typeface="Ubuntu Bold"/>
              </a:rPr>
              <a:t> RENTAN HILANG DAN RUSAK [9] </a:t>
            </a:r>
          </a:p>
          <a:p>
            <a:pPr algn="l">
              <a:lnSpc>
                <a:spcPts val="3600"/>
              </a:lnSpc>
            </a:pPr>
            <a:r>
              <a:rPr lang="en-US" sz="3000">
                <a:solidFill>
                  <a:srgbClr val="434343"/>
                </a:solidFill>
                <a:latin typeface="Ubuntu"/>
                <a:ea typeface="Ubuntu"/>
                <a:cs typeface="Ubuntu"/>
                <a:sym typeface="Ubuntu"/>
              </a:rPr>
              <a:t>Jika buku hilang, seluruh riwayat imunisasi anak ikut hilang.</a:t>
            </a:r>
          </a:p>
          <a:p>
            <a:pPr algn="l">
              <a:lnSpc>
                <a:spcPts val="3600"/>
              </a:lnSpc>
            </a:pPr>
          </a:p>
          <a:p>
            <a:pPr algn="l">
              <a:lnSpc>
                <a:spcPts val="3600"/>
              </a:lnSpc>
            </a:pPr>
            <a:r>
              <a:rPr lang="en-US" sz="3000" b="true">
                <a:solidFill>
                  <a:srgbClr val="FF5757"/>
                </a:solidFill>
                <a:latin typeface="Ubuntu Bold"/>
                <a:ea typeface="Ubuntu Bold"/>
                <a:cs typeface="Ubuntu Bold"/>
                <a:sym typeface="Ubuntu Bold"/>
              </a:rPr>
              <a:t>✕</a:t>
            </a:r>
            <a:r>
              <a:rPr lang="en-US" sz="3000" b="true">
                <a:solidFill>
                  <a:srgbClr val="434343"/>
                </a:solidFill>
                <a:latin typeface="Ubuntu Bold"/>
                <a:ea typeface="Ubuntu Bold"/>
                <a:cs typeface="Ubuntu Bold"/>
                <a:sym typeface="Ubuntu Bold"/>
              </a:rPr>
              <a:t> TIDAK ADA PENGINGAT OTOMATIS [9]</a:t>
            </a:r>
          </a:p>
          <a:p>
            <a:pPr algn="l">
              <a:lnSpc>
                <a:spcPts val="3600"/>
              </a:lnSpc>
            </a:pPr>
            <a:r>
              <a:rPr lang="en-US" sz="3000">
                <a:solidFill>
                  <a:srgbClr val="434343"/>
                </a:solidFill>
                <a:latin typeface="Ubuntu"/>
                <a:ea typeface="Ubuntu"/>
                <a:cs typeface="Ubuntu"/>
                <a:sym typeface="Ubuntu"/>
              </a:rPr>
              <a:t>Orang tua harus ingat sendiri jadwal kunjungan berikutnya.</a:t>
            </a:r>
          </a:p>
          <a:p>
            <a:pPr algn="l">
              <a:lnSpc>
                <a:spcPts val="3600"/>
              </a:lnSpc>
            </a:pPr>
          </a:p>
          <a:p>
            <a:pPr algn="l">
              <a:lnSpc>
                <a:spcPts val="3600"/>
              </a:lnSpc>
            </a:pPr>
            <a:r>
              <a:rPr lang="en-US" sz="3000" b="true">
                <a:solidFill>
                  <a:srgbClr val="FF5757"/>
                </a:solidFill>
                <a:latin typeface="Ubuntu Bold"/>
                <a:ea typeface="Ubuntu Bold"/>
                <a:cs typeface="Ubuntu Bold"/>
                <a:sym typeface="Ubuntu Bold"/>
              </a:rPr>
              <a:t>✕</a:t>
            </a:r>
            <a:r>
              <a:rPr lang="en-US" sz="3000" b="true">
                <a:solidFill>
                  <a:srgbClr val="434343"/>
                </a:solidFill>
                <a:latin typeface="Ubuntu Bold"/>
                <a:ea typeface="Ubuntu Bold"/>
                <a:cs typeface="Ubuntu Bold"/>
                <a:sym typeface="Ubuntu Bold"/>
              </a:rPr>
              <a:t> DATA TIDAK TERDIGITALISASI [9]</a:t>
            </a:r>
          </a:p>
          <a:p>
            <a:pPr algn="l">
              <a:lnSpc>
                <a:spcPts val="3600"/>
              </a:lnSpc>
            </a:pPr>
            <a:r>
              <a:rPr lang="en-US" sz="3000">
                <a:solidFill>
                  <a:srgbClr val="434343"/>
                </a:solidFill>
                <a:latin typeface="Ubuntu"/>
                <a:ea typeface="Ubuntu"/>
                <a:cs typeface="Ubuntu"/>
                <a:sym typeface="Ubuntu"/>
              </a:rPr>
              <a:t>Kader Posyandu belum punya alat bantu digital data tidak bisa dianalisis atau dipantau jarak jauh.</a:t>
            </a:r>
          </a:p>
          <a:p>
            <a:pPr algn="l">
              <a:lnSpc>
                <a:spcPts val="3600"/>
              </a:lnSpc>
            </a:pPr>
          </a:p>
          <a:p>
            <a:pPr algn="l">
              <a:lnSpc>
                <a:spcPts val="3600"/>
              </a:lnSpc>
            </a:pPr>
            <a:r>
              <a:rPr lang="en-US" sz="3000" b="true">
                <a:solidFill>
                  <a:srgbClr val="FF4757"/>
                </a:solidFill>
                <a:latin typeface="Ubuntu Bold"/>
                <a:ea typeface="Ubuntu Bold"/>
                <a:cs typeface="Ubuntu Bold"/>
                <a:sym typeface="Ubuntu Bold"/>
              </a:rPr>
              <a:t>✕ </a:t>
            </a:r>
            <a:r>
              <a:rPr lang="en-US" sz="3000" b="true">
                <a:solidFill>
                  <a:srgbClr val="434343"/>
                </a:solidFill>
                <a:latin typeface="Ubuntu Bold"/>
                <a:ea typeface="Ubuntu Bold"/>
                <a:cs typeface="Ubuntu Bold"/>
                <a:sym typeface="Ubuntu Bold"/>
              </a:rPr>
              <a:t>BERGANTUNG PADA INGATAN [1] </a:t>
            </a:r>
          </a:p>
          <a:p>
            <a:pPr algn="l">
              <a:lnSpc>
                <a:spcPts val="3600"/>
              </a:lnSpc>
            </a:pPr>
            <a:r>
              <a:rPr lang="en-US" sz="3000">
                <a:solidFill>
                  <a:srgbClr val="434343"/>
                </a:solidFill>
                <a:latin typeface="Ubuntu"/>
                <a:ea typeface="Ubuntu"/>
                <a:cs typeface="Ubuntu"/>
                <a:sym typeface="Ubuntu"/>
              </a:rPr>
              <a:t>SKI 2023 mengumpulkan data imunisasi dari "ingatan responden" dan "catatan di Buku KIA", menandakan tidak ada sistem digital alternatif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3181743" y="-1741763"/>
            <a:ext cx="23262773" cy="14438721"/>
          </a:xfrm>
          <a:custGeom>
            <a:avLst/>
            <a:gdLst/>
            <a:ahLst/>
            <a:cxnLst/>
            <a:rect r="r" b="b" t="t" l="l"/>
            <a:pathLst>
              <a:path h="14438721" w="23262773">
                <a:moveTo>
                  <a:pt x="0" y="0"/>
                </a:moveTo>
                <a:lnTo>
                  <a:pt x="23262773" y="0"/>
                </a:lnTo>
                <a:lnTo>
                  <a:pt x="23262773" y="14438721"/>
                </a:lnTo>
                <a:lnTo>
                  <a:pt x="0" y="144387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72976" y="94084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821126" y="6127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775426" y="6127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629176" y="20514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3866326" y="9216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670376" y="9107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48076" y="7229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848665" y="7821835"/>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720000" y="43994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6669305" y="8279035"/>
            <a:ext cx="1140268" cy="1079625"/>
          </a:xfrm>
          <a:custGeom>
            <a:avLst/>
            <a:gdLst/>
            <a:ahLst/>
            <a:cxnLst/>
            <a:rect r="r" b="b" t="t" l="l"/>
            <a:pathLst>
              <a:path h="1079625" w="1140268">
                <a:moveTo>
                  <a:pt x="0" y="0"/>
                </a:moveTo>
                <a:lnTo>
                  <a:pt x="1140268" y="0"/>
                </a:lnTo>
                <a:lnTo>
                  <a:pt x="1140268" y="1079625"/>
                </a:lnTo>
                <a:lnTo>
                  <a:pt x="0" y="10796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5504020" y="9046337"/>
            <a:ext cx="1132346" cy="766965"/>
          </a:xfrm>
          <a:custGeom>
            <a:avLst/>
            <a:gdLst/>
            <a:ahLst/>
            <a:cxnLst/>
            <a:rect r="r" b="b" t="t" l="l"/>
            <a:pathLst>
              <a:path h="766965" w="1132346">
                <a:moveTo>
                  <a:pt x="0" y="0"/>
                </a:moveTo>
                <a:lnTo>
                  <a:pt x="1132346" y="0"/>
                </a:lnTo>
                <a:lnTo>
                  <a:pt x="1132346" y="766965"/>
                </a:lnTo>
                <a:lnTo>
                  <a:pt x="0" y="7669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5833582" y="7979337"/>
            <a:ext cx="857662" cy="837258"/>
          </a:xfrm>
          <a:custGeom>
            <a:avLst/>
            <a:gdLst/>
            <a:ahLst/>
            <a:cxnLst/>
            <a:rect r="r" b="b" t="t" l="l"/>
            <a:pathLst>
              <a:path h="837258" w="857662">
                <a:moveTo>
                  <a:pt x="0" y="0"/>
                </a:moveTo>
                <a:lnTo>
                  <a:pt x="857663" y="0"/>
                </a:lnTo>
                <a:lnTo>
                  <a:pt x="857663" y="837258"/>
                </a:lnTo>
                <a:lnTo>
                  <a:pt x="0" y="83725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378985" y="-1210729"/>
            <a:ext cx="3167785" cy="2878891"/>
          </a:xfrm>
          <a:custGeom>
            <a:avLst/>
            <a:gdLst/>
            <a:ahLst/>
            <a:cxnLst/>
            <a:rect r="r" b="b" t="t" l="l"/>
            <a:pathLst>
              <a:path h="2878891" w="3167785">
                <a:moveTo>
                  <a:pt x="0" y="0"/>
                </a:moveTo>
                <a:lnTo>
                  <a:pt x="3167785" y="0"/>
                </a:lnTo>
                <a:lnTo>
                  <a:pt x="3167785" y="2878891"/>
                </a:lnTo>
                <a:lnTo>
                  <a:pt x="0" y="28788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6" id="16"/>
          <p:cNvGrpSpPr/>
          <p:nvPr/>
        </p:nvGrpSpPr>
        <p:grpSpPr>
          <a:xfrm rot="0">
            <a:off x="2459498" y="3167561"/>
            <a:ext cx="6265010" cy="294084"/>
            <a:chOff x="0" y="0"/>
            <a:chExt cx="1650044" cy="77454"/>
          </a:xfrm>
        </p:grpSpPr>
        <p:sp>
          <p:nvSpPr>
            <p:cNvPr name="Freeform 17" id="17"/>
            <p:cNvSpPr/>
            <p:nvPr/>
          </p:nvSpPr>
          <p:spPr>
            <a:xfrm flipH="false" flipV="false" rot="0">
              <a:off x="0" y="0"/>
              <a:ext cx="1650044" cy="77454"/>
            </a:xfrm>
            <a:custGeom>
              <a:avLst/>
              <a:gdLst/>
              <a:ahLst/>
              <a:cxnLst/>
              <a:rect r="r" b="b" t="t" l="l"/>
              <a:pathLst>
                <a:path h="77454" w="1650044">
                  <a:moveTo>
                    <a:pt x="0" y="0"/>
                  </a:moveTo>
                  <a:lnTo>
                    <a:pt x="1650044" y="0"/>
                  </a:lnTo>
                  <a:lnTo>
                    <a:pt x="1650044" y="77454"/>
                  </a:lnTo>
                  <a:lnTo>
                    <a:pt x="0" y="77454"/>
                  </a:lnTo>
                  <a:close/>
                </a:path>
              </a:pathLst>
            </a:custGeom>
            <a:solidFill>
              <a:srgbClr val="000000"/>
            </a:solidFill>
          </p:spPr>
        </p:sp>
        <p:sp>
          <p:nvSpPr>
            <p:cNvPr name="TextBox 18" id="18"/>
            <p:cNvSpPr txBox="true"/>
            <p:nvPr/>
          </p:nvSpPr>
          <p:spPr>
            <a:xfrm>
              <a:off x="0" y="-9525"/>
              <a:ext cx="1650044" cy="86979"/>
            </a:xfrm>
            <a:prstGeom prst="rect">
              <a:avLst/>
            </a:prstGeom>
          </p:spPr>
          <p:txBody>
            <a:bodyPr anchor="ctr" rtlCol="false" tIns="50800" lIns="50800" bIns="50800" rIns="50800"/>
            <a:lstStyle/>
            <a:p>
              <a:pPr algn="ctr">
                <a:lnSpc>
                  <a:spcPts val="2400"/>
                </a:lnSpc>
              </a:pPr>
            </a:p>
          </p:txBody>
        </p:sp>
      </p:grpSp>
      <p:sp>
        <p:nvSpPr>
          <p:cNvPr name="TextBox 19" id="19"/>
          <p:cNvSpPr txBox="true"/>
          <p:nvPr/>
        </p:nvSpPr>
        <p:spPr>
          <a:xfrm rot="0">
            <a:off x="1366339" y="2480101"/>
            <a:ext cx="8997827" cy="5895975"/>
          </a:xfrm>
          <a:prstGeom prst="rect">
            <a:avLst/>
          </a:prstGeom>
        </p:spPr>
        <p:txBody>
          <a:bodyPr anchor="t" rtlCol="false" tIns="0" lIns="0" bIns="0" rIns="0">
            <a:spAutoFit/>
          </a:bodyPr>
          <a:lstStyle/>
          <a:p>
            <a:pPr algn="l">
              <a:lnSpc>
                <a:spcPts val="4200"/>
              </a:lnSpc>
              <a:spcBef>
                <a:spcPct val="0"/>
              </a:spcBef>
            </a:pPr>
            <a:r>
              <a:rPr lang="en-US" b="true" sz="3500">
                <a:solidFill>
                  <a:srgbClr val="FF4757"/>
                </a:solidFill>
                <a:latin typeface="Ubuntu Bold"/>
                <a:ea typeface="Ubuntu Bold"/>
                <a:cs typeface="Ubuntu Bold"/>
                <a:sym typeface="Ubuntu Bold"/>
              </a:rPr>
              <a:t>47%</a:t>
            </a:r>
            <a:r>
              <a:rPr lang="en-US" b="true" sz="3500">
                <a:solidFill>
                  <a:srgbClr val="FF4757"/>
                </a:solidFill>
                <a:latin typeface="Ubuntu Bold"/>
                <a:ea typeface="Ubuntu Bold"/>
                <a:cs typeface="Ubuntu Bold"/>
                <a:sym typeface="Ubuntu Bold"/>
              </a:rPr>
              <a:t>  Tidak diizinkan anggota keluarga [2]</a:t>
            </a:r>
          </a:p>
          <a:p>
            <a:pPr algn="l">
              <a:lnSpc>
                <a:spcPts val="4200"/>
              </a:lnSpc>
              <a:spcBef>
                <a:spcPct val="0"/>
              </a:spcBef>
            </a:pPr>
          </a:p>
          <a:p>
            <a:pPr algn="l">
              <a:lnSpc>
                <a:spcPts val="4200"/>
              </a:lnSpc>
              <a:spcBef>
                <a:spcPct val="0"/>
              </a:spcBef>
            </a:pPr>
            <a:r>
              <a:rPr lang="en-US" b="true" sz="3500">
                <a:solidFill>
                  <a:srgbClr val="FF4757"/>
                </a:solidFill>
                <a:latin typeface="Ubuntu Bold"/>
                <a:ea typeface="Ubuntu Bold"/>
                <a:cs typeface="Ubuntu Bold"/>
                <a:sym typeface="Ubuntu Bold"/>
              </a:rPr>
              <a:t>45%  Takut efek samping vaksin [2]</a:t>
            </a:r>
          </a:p>
          <a:p>
            <a:pPr algn="l">
              <a:lnSpc>
                <a:spcPts val="4200"/>
              </a:lnSpc>
              <a:spcBef>
                <a:spcPct val="0"/>
              </a:spcBef>
            </a:pPr>
          </a:p>
          <a:p>
            <a:pPr algn="l">
              <a:lnSpc>
                <a:spcPts val="4200"/>
              </a:lnSpc>
              <a:spcBef>
                <a:spcPct val="0"/>
              </a:spcBef>
            </a:pPr>
            <a:r>
              <a:rPr lang="en-US" b="true" sz="3500">
                <a:solidFill>
                  <a:srgbClr val="FF4757"/>
                </a:solidFill>
                <a:latin typeface="Ubuntu Bold"/>
                <a:ea typeface="Ubuntu Bold"/>
                <a:cs typeface="Ubuntu Bold"/>
                <a:sym typeface="Ubuntu Bold"/>
              </a:rPr>
              <a:t>38% Bingung dengan suntikan ganda [2]</a:t>
            </a:r>
          </a:p>
          <a:p>
            <a:pPr algn="l">
              <a:lnSpc>
                <a:spcPts val="4200"/>
              </a:lnSpc>
              <a:spcBef>
                <a:spcPct val="0"/>
              </a:spcBef>
            </a:pPr>
          </a:p>
          <a:p>
            <a:pPr algn="l">
              <a:lnSpc>
                <a:spcPts val="4200"/>
              </a:lnSpc>
              <a:spcBef>
                <a:spcPct val="0"/>
              </a:spcBef>
            </a:pPr>
            <a:r>
              <a:rPr lang="en-US" b="true" sz="3500">
                <a:solidFill>
                  <a:srgbClr val="FF4757"/>
                </a:solidFill>
                <a:latin typeface="Ubuntu Bold"/>
                <a:ea typeface="Ubuntu Bold"/>
                <a:cs typeface="Ubuntu Bold"/>
                <a:sym typeface="Ubuntu Bold"/>
              </a:rPr>
              <a:t>23% Tidak tahu jadwal imunisasi [2]</a:t>
            </a:r>
          </a:p>
          <a:p>
            <a:pPr algn="l">
              <a:lnSpc>
                <a:spcPts val="4200"/>
              </a:lnSpc>
              <a:spcBef>
                <a:spcPct val="0"/>
              </a:spcBef>
            </a:pPr>
          </a:p>
          <a:p>
            <a:pPr algn="l">
              <a:lnSpc>
                <a:spcPts val="4200"/>
              </a:lnSpc>
              <a:spcBef>
                <a:spcPct val="0"/>
              </a:spcBef>
            </a:pPr>
            <a:r>
              <a:rPr lang="en-US" b="true" sz="3500">
                <a:solidFill>
                  <a:srgbClr val="FF4757"/>
                </a:solidFill>
                <a:latin typeface="Ubuntu Bold"/>
                <a:ea typeface="Ubuntu Bold"/>
                <a:cs typeface="Ubuntu Bold"/>
                <a:sym typeface="Ubuntu Bold"/>
              </a:rPr>
              <a:t>22% Anggap imunisasi tidak penting [2]</a:t>
            </a:r>
          </a:p>
          <a:p>
            <a:pPr algn="l">
              <a:lnSpc>
                <a:spcPts val="4200"/>
              </a:lnSpc>
              <a:spcBef>
                <a:spcPct val="0"/>
              </a:spcBef>
            </a:pPr>
          </a:p>
          <a:p>
            <a:pPr algn="l">
              <a:lnSpc>
                <a:spcPts val="4200"/>
              </a:lnSpc>
              <a:spcBef>
                <a:spcPct val="0"/>
              </a:spcBef>
            </a:pPr>
            <a:r>
              <a:rPr lang="en-US" b="true" sz="3500">
                <a:solidFill>
                  <a:srgbClr val="FF4757"/>
                </a:solidFill>
                <a:latin typeface="Ubuntu Bold"/>
                <a:ea typeface="Ubuntu Bold"/>
                <a:cs typeface="Ubuntu Bold"/>
                <a:sym typeface="Ubuntu Bold"/>
              </a:rPr>
              <a:t>18% Jadwal tidak sesuai/sulit akses [2]</a:t>
            </a:r>
          </a:p>
        </p:txBody>
      </p:sp>
      <p:grpSp>
        <p:nvGrpSpPr>
          <p:cNvPr name="Group 20" id="20"/>
          <p:cNvGrpSpPr/>
          <p:nvPr/>
        </p:nvGrpSpPr>
        <p:grpSpPr>
          <a:xfrm rot="0">
            <a:off x="2459498" y="4252408"/>
            <a:ext cx="5822413" cy="294084"/>
            <a:chOff x="0" y="0"/>
            <a:chExt cx="1533475" cy="77454"/>
          </a:xfrm>
        </p:grpSpPr>
        <p:sp>
          <p:nvSpPr>
            <p:cNvPr name="Freeform 21" id="21"/>
            <p:cNvSpPr/>
            <p:nvPr/>
          </p:nvSpPr>
          <p:spPr>
            <a:xfrm flipH="false" flipV="false" rot="0">
              <a:off x="0" y="0"/>
              <a:ext cx="1533475" cy="77454"/>
            </a:xfrm>
            <a:custGeom>
              <a:avLst/>
              <a:gdLst/>
              <a:ahLst/>
              <a:cxnLst/>
              <a:rect r="r" b="b" t="t" l="l"/>
              <a:pathLst>
                <a:path h="77454" w="1533475">
                  <a:moveTo>
                    <a:pt x="0" y="0"/>
                  </a:moveTo>
                  <a:lnTo>
                    <a:pt x="1533475" y="0"/>
                  </a:lnTo>
                  <a:lnTo>
                    <a:pt x="1533475" y="77454"/>
                  </a:lnTo>
                  <a:lnTo>
                    <a:pt x="0" y="77454"/>
                  </a:lnTo>
                  <a:close/>
                </a:path>
              </a:pathLst>
            </a:custGeom>
            <a:solidFill>
              <a:srgbClr val="000000"/>
            </a:solidFill>
          </p:spPr>
        </p:sp>
        <p:sp>
          <p:nvSpPr>
            <p:cNvPr name="TextBox 22" id="22"/>
            <p:cNvSpPr txBox="true"/>
            <p:nvPr/>
          </p:nvSpPr>
          <p:spPr>
            <a:xfrm>
              <a:off x="0" y="-9525"/>
              <a:ext cx="1533475" cy="86979"/>
            </a:xfrm>
            <a:prstGeom prst="rect">
              <a:avLst/>
            </a:prstGeom>
          </p:spPr>
          <p:txBody>
            <a:bodyPr anchor="ctr" rtlCol="false" tIns="50800" lIns="50800" bIns="50800" rIns="50800"/>
            <a:lstStyle/>
            <a:p>
              <a:pPr algn="ctr">
                <a:lnSpc>
                  <a:spcPts val="2400"/>
                </a:lnSpc>
              </a:pPr>
            </a:p>
          </p:txBody>
        </p:sp>
      </p:grpSp>
      <p:grpSp>
        <p:nvGrpSpPr>
          <p:cNvPr name="Group 23" id="23"/>
          <p:cNvGrpSpPr/>
          <p:nvPr/>
        </p:nvGrpSpPr>
        <p:grpSpPr>
          <a:xfrm rot="0">
            <a:off x="2459498" y="5295334"/>
            <a:ext cx="5013630" cy="294084"/>
            <a:chOff x="0" y="0"/>
            <a:chExt cx="1320462" cy="77454"/>
          </a:xfrm>
        </p:grpSpPr>
        <p:sp>
          <p:nvSpPr>
            <p:cNvPr name="Freeform 24" id="24"/>
            <p:cNvSpPr/>
            <p:nvPr/>
          </p:nvSpPr>
          <p:spPr>
            <a:xfrm flipH="false" flipV="false" rot="0">
              <a:off x="0" y="0"/>
              <a:ext cx="1320462" cy="77454"/>
            </a:xfrm>
            <a:custGeom>
              <a:avLst/>
              <a:gdLst/>
              <a:ahLst/>
              <a:cxnLst/>
              <a:rect r="r" b="b" t="t" l="l"/>
              <a:pathLst>
                <a:path h="77454" w="1320462">
                  <a:moveTo>
                    <a:pt x="0" y="0"/>
                  </a:moveTo>
                  <a:lnTo>
                    <a:pt x="1320462" y="0"/>
                  </a:lnTo>
                  <a:lnTo>
                    <a:pt x="1320462" y="77454"/>
                  </a:lnTo>
                  <a:lnTo>
                    <a:pt x="0" y="77454"/>
                  </a:lnTo>
                  <a:close/>
                </a:path>
              </a:pathLst>
            </a:custGeom>
            <a:solidFill>
              <a:srgbClr val="000000"/>
            </a:solidFill>
          </p:spPr>
        </p:sp>
        <p:sp>
          <p:nvSpPr>
            <p:cNvPr name="TextBox 25" id="25"/>
            <p:cNvSpPr txBox="true"/>
            <p:nvPr/>
          </p:nvSpPr>
          <p:spPr>
            <a:xfrm>
              <a:off x="0" y="-9525"/>
              <a:ext cx="1320462" cy="86979"/>
            </a:xfrm>
            <a:prstGeom prst="rect">
              <a:avLst/>
            </a:prstGeom>
          </p:spPr>
          <p:txBody>
            <a:bodyPr anchor="ctr" rtlCol="false" tIns="50800" lIns="50800" bIns="50800" rIns="50800"/>
            <a:lstStyle/>
            <a:p>
              <a:pPr algn="ctr">
                <a:lnSpc>
                  <a:spcPts val="2400"/>
                </a:lnSpc>
              </a:pPr>
            </a:p>
          </p:txBody>
        </p:sp>
      </p:grpSp>
      <p:grpSp>
        <p:nvGrpSpPr>
          <p:cNvPr name="Group 26" id="26"/>
          <p:cNvGrpSpPr/>
          <p:nvPr/>
        </p:nvGrpSpPr>
        <p:grpSpPr>
          <a:xfrm rot="0">
            <a:off x="2459498" y="6379993"/>
            <a:ext cx="3768858" cy="294084"/>
            <a:chOff x="0" y="0"/>
            <a:chExt cx="992621" cy="77454"/>
          </a:xfrm>
        </p:grpSpPr>
        <p:sp>
          <p:nvSpPr>
            <p:cNvPr name="Freeform 27" id="27"/>
            <p:cNvSpPr/>
            <p:nvPr/>
          </p:nvSpPr>
          <p:spPr>
            <a:xfrm flipH="false" flipV="false" rot="0">
              <a:off x="0" y="0"/>
              <a:ext cx="992621" cy="77454"/>
            </a:xfrm>
            <a:custGeom>
              <a:avLst/>
              <a:gdLst/>
              <a:ahLst/>
              <a:cxnLst/>
              <a:rect r="r" b="b" t="t" l="l"/>
              <a:pathLst>
                <a:path h="77454" w="992621">
                  <a:moveTo>
                    <a:pt x="0" y="0"/>
                  </a:moveTo>
                  <a:lnTo>
                    <a:pt x="992621" y="0"/>
                  </a:lnTo>
                  <a:lnTo>
                    <a:pt x="992621" y="77454"/>
                  </a:lnTo>
                  <a:lnTo>
                    <a:pt x="0" y="77454"/>
                  </a:lnTo>
                  <a:close/>
                </a:path>
              </a:pathLst>
            </a:custGeom>
            <a:solidFill>
              <a:srgbClr val="000000"/>
            </a:solidFill>
          </p:spPr>
        </p:sp>
        <p:sp>
          <p:nvSpPr>
            <p:cNvPr name="TextBox 28" id="28"/>
            <p:cNvSpPr txBox="true"/>
            <p:nvPr/>
          </p:nvSpPr>
          <p:spPr>
            <a:xfrm>
              <a:off x="0" y="-9525"/>
              <a:ext cx="992621" cy="86979"/>
            </a:xfrm>
            <a:prstGeom prst="rect">
              <a:avLst/>
            </a:prstGeom>
          </p:spPr>
          <p:txBody>
            <a:bodyPr anchor="ctr" rtlCol="false" tIns="50800" lIns="50800" bIns="50800" rIns="50800"/>
            <a:lstStyle/>
            <a:p>
              <a:pPr algn="ctr">
                <a:lnSpc>
                  <a:spcPts val="2400"/>
                </a:lnSpc>
              </a:pPr>
            </a:p>
          </p:txBody>
        </p:sp>
      </p:grpSp>
      <p:grpSp>
        <p:nvGrpSpPr>
          <p:cNvPr name="Group 29" id="29"/>
          <p:cNvGrpSpPr/>
          <p:nvPr/>
        </p:nvGrpSpPr>
        <p:grpSpPr>
          <a:xfrm rot="0">
            <a:off x="2459498" y="7539584"/>
            <a:ext cx="3510179" cy="294084"/>
            <a:chOff x="0" y="0"/>
            <a:chExt cx="924492" cy="77454"/>
          </a:xfrm>
        </p:grpSpPr>
        <p:sp>
          <p:nvSpPr>
            <p:cNvPr name="Freeform 30" id="30"/>
            <p:cNvSpPr/>
            <p:nvPr/>
          </p:nvSpPr>
          <p:spPr>
            <a:xfrm flipH="false" flipV="false" rot="0">
              <a:off x="0" y="0"/>
              <a:ext cx="924492" cy="77454"/>
            </a:xfrm>
            <a:custGeom>
              <a:avLst/>
              <a:gdLst/>
              <a:ahLst/>
              <a:cxnLst/>
              <a:rect r="r" b="b" t="t" l="l"/>
              <a:pathLst>
                <a:path h="77454" w="924492">
                  <a:moveTo>
                    <a:pt x="0" y="0"/>
                  </a:moveTo>
                  <a:lnTo>
                    <a:pt x="924492" y="0"/>
                  </a:lnTo>
                  <a:lnTo>
                    <a:pt x="924492" y="77454"/>
                  </a:lnTo>
                  <a:lnTo>
                    <a:pt x="0" y="77454"/>
                  </a:lnTo>
                  <a:close/>
                </a:path>
              </a:pathLst>
            </a:custGeom>
            <a:solidFill>
              <a:srgbClr val="000000"/>
            </a:solidFill>
          </p:spPr>
        </p:sp>
        <p:sp>
          <p:nvSpPr>
            <p:cNvPr name="TextBox 31" id="31"/>
            <p:cNvSpPr txBox="true"/>
            <p:nvPr/>
          </p:nvSpPr>
          <p:spPr>
            <a:xfrm>
              <a:off x="0" y="-9525"/>
              <a:ext cx="924492" cy="86979"/>
            </a:xfrm>
            <a:prstGeom prst="rect">
              <a:avLst/>
            </a:prstGeom>
          </p:spPr>
          <p:txBody>
            <a:bodyPr anchor="ctr" rtlCol="false" tIns="50800" lIns="50800" bIns="50800" rIns="50800"/>
            <a:lstStyle/>
            <a:p>
              <a:pPr algn="ctr">
                <a:lnSpc>
                  <a:spcPts val="2400"/>
                </a:lnSpc>
              </a:pPr>
            </a:p>
          </p:txBody>
        </p:sp>
      </p:grpSp>
      <p:grpSp>
        <p:nvGrpSpPr>
          <p:cNvPr name="Group 32" id="32"/>
          <p:cNvGrpSpPr/>
          <p:nvPr/>
        </p:nvGrpSpPr>
        <p:grpSpPr>
          <a:xfrm rot="0">
            <a:off x="2459498" y="8595151"/>
            <a:ext cx="2993648" cy="294084"/>
            <a:chOff x="0" y="0"/>
            <a:chExt cx="788451" cy="77454"/>
          </a:xfrm>
        </p:grpSpPr>
        <p:sp>
          <p:nvSpPr>
            <p:cNvPr name="Freeform 33" id="33"/>
            <p:cNvSpPr/>
            <p:nvPr/>
          </p:nvSpPr>
          <p:spPr>
            <a:xfrm flipH="false" flipV="false" rot="0">
              <a:off x="0" y="0"/>
              <a:ext cx="788451" cy="77454"/>
            </a:xfrm>
            <a:custGeom>
              <a:avLst/>
              <a:gdLst/>
              <a:ahLst/>
              <a:cxnLst/>
              <a:rect r="r" b="b" t="t" l="l"/>
              <a:pathLst>
                <a:path h="77454" w="788451">
                  <a:moveTo>
                    <a:pt x="0" y="0"/>
                  </a:moveTo>
                  <a:lnTo>
                    <a:pt x="788451" y="0"/>
                  </a:lnTo>
                  <a:lnTo>
                    <a:pt x="788451" y="77454"/>
                  </a:lnTo>
                  <a:lnTo>
                    <a:pt x="0" y="77454"/>
                  </a:lnTo>
                  <a:close/>
                </a:path>
              </a:pathLst>
            </a:custGeom>
            <a:solidFill>
              <a:srgbClr val="000000"/>
            </a:solidFill>
          </p:spPr>
        </p:sp>
        <p:sp>
          <p:nvSpPr>
            <p:cNvPr name="TextBox 34" id="34"/>
            <p:cNvSpPr txBox="true"/>
            <p:nvPr/>
          </p:nvSpPr>
          <p:spPr>
            <a:xfrm>
              <a:off x="0" y="-9525"/>
              <a:ext cx="788451" cy="86979"/>
            </a:xfrm>
            <a:prstGeom prst="rect">
              <a:avLst/>
            </a:prstGeom>
          </p:spPr>
          <p:txBody>
            <a:bodyPr anchor="ctr" rtlCol="false" tIns="50800" lIns="50800" bIns="50800" rIns="50800"/>
            <a:lstStyle/>
            <a:p>
              <a:pPr algn="ctr">
                <a:lnSpc>
                  <a:spcPts val="2400"/>
                </a:lnSpc>
              </a:pPr>
            </a:p>
          </p:txBody>
        </p:sp>
      </p:grpSp>
      <p:sp>
        <p:nvSpPr>
          <p:cNvPr name="TextBox 35" id="35"/>
          <p:cNvSpPr txBox="true"/>
          <p:nvPr/>
        </p:nvSpPr>
        <p:spPr>
          <a:xfrm rot="0">
            <a:off x="1366339" y="441751"/>
            <a:ext cx="15075811" cy="714375"/>
          </a:xfrm>
          <a:prstGeom prst="rect">
            <a:avLst/>
          </a:prstGeom>
        </p:spPr>
        <p:txBody>
          <a:bodyPr anchor="t" rtlCol="false" tIns="0" lIns="0" bIns="0" rIns="0">
            <a:spAutoFit/>
          </a:bodyPr>
          <a:lstStyle/>
          <a:p>
            <a:pPr algn="l">
              <a:lnSpc>
                <a:spcPts val="5400"/>
              </a:lnSpc>
            </a:pPr>
            <a:r>
              <a:rPr lang="en-US" sz="4500" b="true">
                <a:solidFill>
                  <a:srgbClr val="073763"/>
                </a:solidFill>
                <a:latin typeface="Ubuntu Bold"/>
                <a:ea typeface="Ubuntu Bold"/>
                <a:cs typeface="Ubuntu Bold"/>
                <a:sym typeface="Ubuntu Bold"/>
              </a:rPr>
              <a:t>HAMBATAN ORANG TUA</a:t>
            </a:r>
          </a:p>
        </p:txBody>
      </p:sp>
      <p:sp>
        <p:nvSpPr>
          <p:cNvPr name="TextBox 36" id="36"/>
          <p:cNvSpPr txBox="true"/>
          <p:nvPr/>
        </p:nvSpPr>
        <p:spPr>
          <a:xfrm rot="0">
            <a:off x="0" y="9972675"/>
            <a:ext cx="8449643" cy="314325"/>
          </a:xfrm>
          <a:prstGeom prst="rect">
            <a:avLst/>
          </a:prstGeom>
        </p:spPr>
        <p:txBody>
          <a:bodyPr anchor="t" rtlCol="false" tIns="0" lIns="0" bIns="0" rIns="0">
            <a:spAutoFit/>
          </a:bodyPr>
          <a:lstStyle/>
          <a:p>
            <a:pPr algn="ctr">
              <a:lnSpc>
                <a:spcPts val="2400"/>
              </a:lnSpc>
              <a:spcBef>
                <a:spcPct val="0"/>
              </a:spcBef>
            </a:pPr>
            <a:r>
              <a:rPr lang="en-US" sz="2000">
                <a:solidFill>
                  <a:srgbClr val="073763"/>
                </a:solidFill>
                <a:latin typeface="Open Sans"/>
                <a:ea typeface="Open Sans"/>
                <a:cs typeface="Open Sans"/>
                <a:sym typeface="Open Sans"/>
              </a:rPr>
              <a:t>[2] Kemenkes RI 2025 — mengutip SKI 2023 &amp; Nielsen–UNICEF Q3 2023 </a:t>
            </a:r>
          </a:p>
        </p:txBody>
      </p:sp>
      <p:sp>
        <p:nvSpPr>
          <p:cNvPr name="TextBox 37" id="37"/>
          <p:cNvSpPr txBox="true"/>
          <p:nvPr/>
        </p:nvSpPr>
        <p:spPr>
          <a:xfrm rot="0">
            <a:off x="1201576" y="1270426"/>
            <a:ext cx="8068509" cy="485775"/>
          </a:xfrm>
          <a:prstGeom prst="rect">
            <a:avLst/>
          </a:prstGeom>
        </p:spPr>
        <p:txBody>
          <a:bodyPr anchor="t" rtlCol="false" tIns="0" lIns="0" bIns="0" rIns="0">
            <a:spAutoFit/>
          </a:bodyPr>
          <a:lstStyle/>
          <a:p>
            <a:pPr algn="ctr">
              <a:lnSpc>
                <a:spcPts val="3600"/>
              </a:lnSpc>
              <a:spcBef>
                <a:spcPct val="0"/>
              </a:spcBef>
            </a:pPr>
            <a:r>
              <a:rPr lang="en-US" b="true" sz="3000">
                <a:solidFill>
                  <a:srgbClr val="073763"/>
                </a:solidFill>
                <a:latin typeface="Ubuntu Bold"/>
                <a:ea typeface="Ubuntu Bold"/>
                <a:cs typeface="Ubuntu Bold"/>
                <a:sym typeface="Ubuntu Bold"/>
              </a:rPr>
              <a:t> Mengapa Orang Tua Melewatkan Imunisasi?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2272098" y="-42200"/>
            <a:ext cx="5212196" cy="2224406"/>
          </a:xfrm>
          <a:custGeom>
            <a:avLst/>
            <a:gdLst/>
            <a:ahLst/>
            <a:cxnLst/>
            <a:rect r="r" b="b" t="t" l="l"/>
            <a:pathLst>
              <a:path h="2224406" w="5212196">
                <a:moveTo>
                  <a:pt x="0" y="0"/>
                </a:moveTo>
                <a:lnTo>
                  <a:pt x="5212196" y="0"/>
                </a:lnTo>
                <a:lnTo>
                  <a:pt x="5212196" y="2224406"/>
                </a:lnTo>
                <a:lnTo>
                  <a:pt x="0" y="22244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272098" y="-42200"/>
            <a:ext cx="3558030" cy="1814000"/>
            <a:chOff x="0" y="0"/>
            <a:chExt cx="4744040" cy="2418667"/>
          </a:xfrm>
        </p:grpSpPr>
        <p:sp>
          <p:nvSpPr>
            <p:cNvPr name="Freeform 4" id="4"/>
            <p:cNvSpPr/>
            <p:nvPr/>
          </p:nvSpPr>
          <p:spPr>
            <a:xfrm flipH="false" flipV="false" rot="0">
              <a:off x="0" y="0"/>
              <a:ext cx="4744085" cy="2418588"/>
            </a:xfrm>
            <a:custGeom>
              <a:avLst/>
              <a:gdLst/>
              <a:ahLst/>
              <a:cxnLst/>
              <a:rect r="r" b="b" t="t" l="l"/>
              <a:pathLst>
                <a:path h="2418588" w="4744085">
                  <a:moveTo>
                    <a:pt x="0" y="0"/>
                  </a:moveTo>
                  <a:lnTo>
                    <a:pt x="0" y="2038350"/>
                  </a:lnTo>
                  <a:cubicBezTo>
                    <a:pt x="295021" y="2289937"/>
                    <a:pt x="767080" y="2418588"/>
                    <a:pt x="1250950" y="2418588"/>
                  </a:cubicBezTo>
                  <a:cubicBezTo>
                    <a:pt x="1791716" y="2418588"/>
                    <a:pt x="2347214" y="2258187"/>
                    <a:pt x="2687574" y="1929384"/>
                  </a:cubicBezTo>
                  <a:cubicBezTo>
                    <a:pt x="3390138" y="1250950"/>
                    <a:pt x="3702685" y="327025"/>
                    <a:pt x="4744085" y="0"/>
                  </a:cubicBezTo>
                  <a:close/>
                </a:path>
              </a:pathLst>
            </a:custGeom>
            <a:gradFill rotWithShape="true">
              <a:gsLst>
                <a:gs pos="0">
                  <a:srgbClr val="61EEDD">
                    <a:alpha val="100000"/>
                  </a:srgbClr>
                </a:gs>
                <a:gs pos="100000">
                  <a:srgbClr val="79D3FE">
                    <a:alpha val="100000"/>
                  </a:srgbClr>
                </a:gs>
              </a:gsLst>
              <a:lin ang="5400016"/>
            </a:gradFill>
          </p:spPr>
        </p:sp>
      </p:grpSp>
      <p:sp>
        <p:nvSpPr>
          <p:cNvPr name="Freeform 5" id="5"/>
          <p:cNvSpPr/>
          <p:nvPr/>
        </p:nvSpPr>
        <p:spPr>
          <a:xfrm flipH="false" flipV="false" rot="0">
            <a:off x="12340338" y="4212013"/>
            <a:ext cx="12441906" cy="8880656"/>
          </a:xfrm>
          <a:custGeom>
            <a:avLst/>
            <a:gdLst/>
            <a:ahLst/>
            <a:cxnLst/>
            <a:rect r="r" b="b" t="t" l="l"/>
            <a:pathLst>
              <a:path h="8880656" w="12441906">
                <a:moveTo>
                  <a:pt x="0" y="0"/>
                </a:moveTo>
                <a:lnTo>
                  <a:pt x="12441906" y="0"/>
                </a:lnTo>
                <a:lnTo>
                  <a:pt x="12441906" y="8880656"/>
                </a:lnTo>
                <a:lnTo>
                  <a:pt x="0" y="88806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004288" y="3947863"/>
            <a:ext cx="12441906" cy="8880656"/>
          </a:xfrm>
          <a:custGeom>
            <a:avLst/>
            <a:gdLst/>
            <a:ahLst/>
            <a:cxnLst/>
            <a:rect r="r" b="b" t="t" l="l"/>
            <a:pathLst>
              <a:path h="8880656" w="12441906">
                <a:moveTo>
                  <a:pt x="0" y="0"/>
                </a:moveTo>
                <a:lnTo>
                  <a:pt x="12441906" y="0"/>
                </a:lnTo>
                <a:lnTo>
                  <a:pt x="12441906" y="8880656"/>
                </a:lnTo>
                <a:lnTo>
                  <a:pt x="0" y="88806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28726" y="5562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4234126" y="248211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0" y="4410278"/>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7859576" y="69602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192205" y="413325"/>
            <a:ext cx="13455739" cy="714375"/>
          </a:xfrm>
          <a:prstGeom prst="rect">
            <a:avLst/>
          </a:prstGeom>
        </p:spPr>
        <p:txBody>
          <a:bodyPr anchor="t" rtlCol="false" tIns="0" lIns="0" bIns="0" rIns="0">
            <a:spAutoFit/>
          </a:bodyPr>
          <a:lstStyle/>
          <a:p>
            <a:pPr algn="l">
              <a:lnSpc>
                <a:spcPts val="5400"/>
              </a:lnSpc>
            </a:pPr>
            <a:r>
              <a:rPr lang="en-US" b="true" sz="4500">
                <a:solidFill>
                  <a:srgbClr val="073763"/>
                </a:solidFill>
                <a:latin typeface="Ubuntu Bold"/>
                <a:ea typeface="Ubuntu Bold"/>
                <a:cs typeface="Ubuntu Bold"/>
                <a:sym typeface="Ubuntu Bold"/>
              </a:rPr>
              <a:t>D</a:t>
            </a:r>
            <a:r>
              <a:rPr lang="en-US" b="true" sz="4500">
                <a:solidFill>
                  <a:srgbClr val="073763"/>
                </a:solidFill>
                <a:latin typeface="Ubuntu Bold"/>
                <a:ea typeface="Ubuntu Bold"/>
                <a:cs typeface="Ubuntu Bold"/>
                <a:sym typeface="Ubuntu Bold"/>
              </a:rPr>
              <a:t>AMPAK NYATA: KLB 2025–2026</a:t>
            </a:r>
          </a:p>
        </p:txBody>
      </p:sp>
      <p:sp>
        <p:nvSpPr>
          <p:cNvPr name="Freeform 12" id="12"/>
          <p:cNvSpPr/>
          <p:nvPr/>
        </p:nvSpPr>
        <p:spPr>
          <a:xfrm flipH="false" flipV="false" rot="0">
            <a:off x="16615641" y="9527442"/>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5589869" y="9105147"/>
            <a:ext cx="941649" cy="911341"/>
          </a:xfrm>
          <a:custGeom>
            <a:avLst/>
            <a:gdLst/>
            <a:ahLst/>
            <a:cxnLst/>
            <a:rect r="r" b="b" t="t" l="l"/>
            <a:pathLst>
              <a:path h="911341" w="941649">
                <a:moveTo>
                  <a:pt x="0" y="0"/>
                </a:moveTo>
                <a:lnTo>
                  <a:pt x="941650" y="0"/>
                </a:lnTo>
                <a:lnTo>
                  <a:pt x="941650" y="911341"/>
                </a:lnTo>
                <a:lnTo>
                  <a:pt x="0" y="91134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16454803" y="6330534"/>
            <a:ext cx="719515" cy="703444"/>
          </a:xfrm>
          <a:custGeom>
            <a:avLst/>
            <a:gdLst/>
            <a:ahLst/>
            <a:cxnLst/>
            <a:rect r="r" b="b" t="t" l="l"/>
            <a:pathLst>
              <a:path h="703444" w="719515">
                <a:moveTo>
                  <a:pt x="0" y="0"/>
                </a:moveTo>
                <a:lnTo>
                  <a:pt x="719515" y="0"/>
                </a:lnTo>
                <a:lnTo>
                  <a:pt x="719515" y="703444"/>
                </a:lnTo>
                <a:lnTo>
                  <a:pt x="0" y="70344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5" id="15"/>
          <p:cNvSpPr/>
          <p:nvPr/>
        </p:nvSpPr>
        <p:spPr>
          <a:xfrm flipH="false" flipV="false" rot="0">
            <a:off x="17180958" y="8716549"/>
            <a:ext cx="914668" cy="939522"/>
          </a:xfrm>
          <a:custGeom>
            <a:avLst/>
            <a:gdLst/>
            <a:ahLst/>
            <a:cxnLst/>
            <a:rect r="r" b="b" t="t" l="l"/>
            <a:pathLst>
              <a:path h="939522" w="914668">
                <a:moveTo>
                  <a:pt x="0" y="0"/>
                </a:moveTo>
                <a:lnTo>
                  <a:pt x="914668" y="0"/>
                </a:lnTo>
                <a:lnTo>
                  <a:pt x="914668" y="939522"/>
                </a:lnTo>
                <a:lnTo>
                  <a:pt x="0" y="93952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6" id="16"/>
          <p:cNvSpPr/>
          <p:nvPr/>
        </p:nvSpPr>
        <p:spPr>
          <a:xfrm flipH="false" flipV="false" rot="0">
            <a:off x="16550744" y="7833535"/>
            <a:ext cx="722736" cy="707727"/>
          </a:xfrm>
          <a:custGeom>
            <a:avLst/>
            <a:gdLst/>
            <a:ahLst/>
            <a:cxnLst/>
            <a:rect r="r" b="b" t="t" l="l"/>
            <a:pathLst>
              <a:path h="707727" w="722736">
                <a:moveTo>
                  <a:pt x="0" y="0"/>
                </a:moveTo>
                <a:lnTo>
                  <a:pt x="722736" y="0"/>
                </a:lnTo>
                <a:lnTo>
                  <a:pt x="722736" y="707727"/>
                </a:lnTo>
                <a:lnTo>
                  <a:pt x="0" y="70772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7" id="17"/>
          <p:cNvSpPr/>
          <p:nvPr/>
        </p:nvSpPr>
        <p:spPr>
          <a:xfrm flipH="false" flipV="false" rot="0">
            <a:off x="13738597" y="-2216905"/>
            <a:ext cx="4810754" cy="4842770"/>
          </a:xfrm>
          <a:custGeom>
            <a:avLst/>
            <a:gdLst/>
            <a:ahLst/>
            <a:cxnLst/>
            <a:rect r="r" b="b" t="t" l="l"/>
            <a:pathLst>
              <a:path h="4842770" w="4810754">
                <a:moveTo>
                  <a:pt x="0" y="0"/>
                </a:moveTo>
                <a:lnTo>
                  <a:pt x="4810753" y="0"/>
                </a:lnTo>
                <a:lnTo>
                  <a:pt x="4810753" y="4842770"/>
                </a:lnTo>
                <a:lnTo>
                  <a:pt x="0" y="484277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18" id="18"/>
          <p:cNvGrpSpPr/>
          <p:nvPr/>
        </p:nvGrpSpPr>
        <p:grpSpPr>
          <a:xfrm rot="-1371185">
            <a:off x="16115676" y="1821968"/>
            <a:ext cx="1201948" cy="46246"/>
            <a:chOff x="0" y="0"/>
            <a:chExt cx="1602597" cy="61661"/>
          </a:xfrm>
        </p:grpSpPr>
        <p:sp>
          <p:nvSpPr>
            <p:cNvPr name="Freeform 19" id="19"/>
            <p:cNvSpPr/>
            <p:nvPr/>
          </p:nvSpPr>
          <p:spPr>
            <a:xfrm flipH="false" flipV="false" rot="0">
              <a:off x="0" y="0"/>
              <a:ext cx="1602613" cy="61722"/>
            </a:xfrm>
            <a:custGeom>
              <a:avLst/>
              <a:gdLst/>
              <a:ahLst/>
              <a:cxnLst/>
              <a:rect r="r" b="b" t="t" l="l"/>
              <a:pathLst>
                <a:path h="61722" w="1602613">
                  <a:moveTo>
                    <a:pt x="0" y="30861"/>
                  </a:moveTo>
                  <a:cubicBezTo>
                    <a:pt x="0" y="13843"/>
                    <a:pt x="13843" y="0"/>
                    <a:pt x="30861" y="0"/>
                  </a:cubicBezTo>
                  <a:lnTo>
                    <a:pt x="1571752" y="0"/>
                  </a:lnTo>
                  <a:cubicBezTo>
                    <a:pt x="1588770" y="0"/>
                    <a:pt x="1602613" y="13843"/>
                    <a:pt x="1602613" y="30861"/>
                  </a:cubicBezTo>
                  <a:cubicBezTo>
                    <a:pt x="1602613" y="47879"/>
                    <a:pt x="1588770" y="61722"/>
                    <a:pt x="1571752" y="61722"/>
                  </a:cubicBezTo>
                  <a:lnTo>
                    <a:pt x="30861" y="61722"/>
                  </a:lnTo>
                  <a:cubicBezTo>
                    <a:pt x="13843" y="61722"/>
                    <a:pt x="0" y="47879"/>
                    <a:pt x="0" y="30861"/>
                  </a:cubicBezTo>
                  <a:close/>
                </a:path>
              </a:pathLst>
            </a:custGeom>
            <a:gradFill rotWithShape="true">
              <a:gsLst>
                <a:gs pos="0">
                  <a:srgbClr val="191919">
                    <a:alpha val="25490"/>
                  </a:srgbClr>
                </a:gs>
                <a:gs pos="50000">
                  <a:srgbClr val="FFFFFF">
                    <a:alpha val="100000"/>
                  </a:srgbClr>
                </a:gs>
                <a:gs pos="100000">
                  <a:srgbClr val="191919">
                    <a:alpha val="31372"/>
                  </a:srgbClr>
                </a:gs>
              </a:gsLst>
              <a:lin ang="10746170"/>
            </a:gradFill>
          </p:spPr>
        </p:sp>
      </p:grpSp>
      <p:sp>
        <p:nvSpPr>
          <p:cNvPr name="Freeform 20" id="20"/>
          <p:cNvSpPr/>
          <p:nvPr/>
        </p:nvSpPr>
        <p:spPr>
          <a:xfrm flipH="false" flipV="false" rot="0">
            <a:off x="15925428" y="7056287"/>
            <a:ext cx="928490" cy="927857"/>
          </a:xfrm>
          <a:custGeom>
            <a:avLst/>
            <a:gdLst/>
            <a:ahLst/>
            <a:cxnLst/>
            <a:rect r="r" b="b" t="t" l="l"/>
            <a:pathLst>
              <a:path h="927857" w="928490">
                <a:moveTo>
                  <a:pt x="0" y="0"/>
                </a:moveTo>
                <a:lnTo>
                  <a:pt x="928489" y="0"/>
                </a:lnTo>
                <a:lnTo>
                  <a:pt x="928489" y="927856"/>
                </a:lnTo>
                <a:lnTo>
                  <a:pt x="0" y="92785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1" id="21"/>
          <p:cNvSpPr/>
          <p:nvPr/>
        </p:nvSpPr>
        <p:spPr>
          <a:xfrm flipH="false" flipV="false" rot="0">
            <a:off x="16280734" y="4980825"/>
            <a:ext cx="871862" cy="961717"/>
          </a:xfrm>
          <a:custGeom>
            <a:avLst/>
            <a:gdLst/>
            <a:ahLst/>
            <a:cxnLst/>
            <a:rect r="r" b="b" t="t" l="l"/>
            <a:pathLst>
              <a:path h="961717" w="871862">
                <a:moveTo>
                  <a:pt x="0" y="0"/>
                </a:moveTo>
                <a:lnTo>
                  <a:pt x="871862" y="0"/>
                </a:lnTo>
                <a:lnTo>
                  <a:pt x="871862" y="961717"/>
                </a:lnTo>
                <a:lnTo>
                  <a:pt x="0" y="961717"/>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2" id="22"/>
          <p:cNvSpPr/>
          <p:nvPr/>
        </p:nvSpPr>
        <p:spPr>
          <a:xfrm flipH="false" flipV="false" rot="0">
            <a:off x="16814427" y="4376371"/>
            <a:ext cx="720596" cy="714640"/>
          </a:xfrm>
          <a:custGeom>
            <a:avLst/>
            <a:gdLst/>
            <a:ahLst/>
            <a:cxnLst/>
            <a:rect r="r" b="b" t="t" l="l"/>
            <a:pathLst>
              <a:path h="714640" w="720596">
                <a:moveTo>
                  <a:pt x="0" y="0"/>
                </a:moveTo>
                <a:lnTo>
                  <a:pt x="720596" y="0"/>
                </a:lnTo>
                <a:lnTo>
                  <a:pt x="720596" y="714640"/>
                </a:lnTo>
                <a:lnTo>
                  <a:pt x="0" y="714640"/>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23" id="23"/>
          <p:cNvSpPr/>
          <p:nvPr/>
        </p:nvSpPr>
        <p:spPr>
          <a:xfrm flipH="false" flipV="false" rot="0">
            <a:off x="16355618" y="3437359"/>
            <a:ext cx="722736" cy="707727"/>
          </a:xfrm>
          <a:custGeom>
            <a:avLst/>
            <a:gdLst/>
            <a:ahLst/>
            <a:cxnLst/>
            <a:rect r="r" b="b" t="t" l="l"/>
            <a:pathLst>
              <a:path h="707727" w="722736">
                <a:moveTo>
                  <a:pt x="0" y="0"/>
                </a:moveTo>
                <a:lnTo>
                  <a:pt x="722736" y="0"/>
                </a:lnTo>
                <a:lnTo>
                  <a:pt x="722736" y="707727"/>
                </a:lnTo>
                <a:lnTo>
                  <a:pt x="0" y="70772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4" id="24"/>
          <p:cNvSpPr/>
          <p:nvPr/>
        </p:nvSpPr>
        <p:spPr>
          <a:xfrm flipH="false" flipV="false" rot="0">
            <a:off x="16621060" y="2395425"/>
            <a:ext cx="871862" cy="961717"/>
          </a:xfrm>
          <a:custGeom>
            <a:avLst/>
            <a:gdLst/>
            <a:ahLst/>
            <a:cxnLst/>
            <a:rect r="r" b="b" t="t" l="l"/>
            <a:pathLst>
              <a:path h="961717" w="871862">
                <a:moveTo>
                  <a:pt x="0" y="0"/>
                </a:moveTo>
                <a:lnTo>
                  <a:pt x="871862" y="0"/>
                </a:lnTo>
                <a:lnTo>
                  <a:pt x="871862" y="961717"/>
                </a:lnTo>
                <a:lnTo>
                  <a:pt x="0" y="961717"/>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5" id="25"/>
          <p:cNvSpPr/>
          <p:nvPr/>
        </p:nvSpPr>
        <p:spPr>
          <a:xfrm flipH="false" flipV="false" rot="0">
            <a:off x="16158553" y="8607934"/>
            <a:ext cx="719515" cy="703444"/>
          </a:xfrm>
          <a:custGeom>
            <a:avLst/>
            <a:gdLst/>
            <a:ahLst/>
            <a:cxnLst/>
            <a:rect r="r" b="b" t="t" l="l"/>
            <a:pathLst>
              <a:path h="703444" w="719515">
                <a:moveTo>
                  <a:pt x="0" y="0"/>
                </a:moveTo>
                <a:lnTo>
                  <a:pt x="719515" y="0"/>
                </a:lnTo>
                <a:lnTo>
                  <a:pt x="719515" y="703444"/>
                </a:lnTo>
                <a:lnTo>
                  <a:pt x="0" y="70344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6" id="26"/>
          <p:cNvSpPr/>
          <p:nvPr/>
        </p:nvSpPr>
        <p:spPr>
          <a:xfrm flipH="false" flipV="false" rot="0">
            <a:off x="1028700" y="2395425"/>
            <a:ext cx="12261768" cy="4107692"/>
          </a:xfrm>
          <a:custGeom>
            <a:avLst/>
            <a:gdLst/>
            <a:ahLst/>
            <a:cxnLst/>
            <a:rect r="r" b="b" t="t" l="l"/>
            <a:pathLst>
              <a:path h="4107692" w="12261768">
                <a:moveTo>
                  <a:pt x="0" y="0"/>
                </a:moveTo>
                <a:lnTo>
                  <a:pt x="12261768" y="0"/>
                </a:lnTo>
                <a:lnTo>
                  <a:pt x="12261768" y="4107692"/>
                </a:lnTo>
                <a:lnTo>
                  <a:pt x="0" y="4107692"/>
                </a:lnTo>
                <a:lnTo>
                  <a:pt x="0" y="0"/>
                </a:lnTo>
                <a:close/>
              </a:path>
            </a:pathLst>
          </a:custGeom>
          <a:blipFill>
            <a:blip r:embed="rId30"/>
            <a:stretch>
              <a:fillRect l="0" t="0" r="0" b="0"/>
            </a:stretch>
          </a:blipFill>
        </p:spPr>
      </p:sp>
      <p:sp>
        <p:nvSpPr>
          <p:cNvPr name="TextBox 27" id="27"/>
          <p:cNvSpPr txBox="true"/>
          <p:nvPr/>
        </p:nvSpPr>
        <p:spPr>
          <a:xfrm rot="0">
            <a:off x="1192205" y="1101816"/>
            <a:ext cx="7591068" cy="942975"/>
          </a:xfrm>
          <a:prstGeom prst="rect">
            <a:avLst/>
          </a:prstGeom>
        </p:spPr>
        <p:txBody>
          <a:bodyPr anchor="t" rtlCol="false" tIns="0" lIns="0" bIns="0" rIns="0">
            <a:spAutoFit/>
          </a:bodyPr>
          <a:lstStyle/>
          <a:p>
            <a:pPr algn="l">
              <a:lnSpc>
                <a:spcPts val="3600"/>
              </a:lnSpc>
              <a:spcBef>
                <a:spcPct val="0"/>
              </a:spcBef>
            </a:pPr>
            <a:r>
              <a:rPr lang="en-US" b="true" sz="3000">
                <a:solidFill>
                  <a:srgbClr val="FF4757"/>
                </a:solidFill>
                <a:latin typeface="Ubuntu Bold"/>
                <a:ea typeface="Ubuntu Bold"/>
                <a:cs typeface="Ubuntu Bold"/>
                <a:sym typeface="Ubuntu Bold"/>
              </a:rPr>
              <a:t>Apa yang Terjadi Jika Imunisasi Terlewat? </a:t>
            </a:r>
          </a:p>
          <a:p>
            <a:pPr algn="l">
              <a:lnSpc>
                <a:spcPts val="3600"/>
              </a:lnSpc>
              <a:spcBef>
                <a:spcPct val="0"/>
              </a:spcBef>
            </a:pPr>
            <a:r>
              <a:rPr lang="en-US" b="true" sz="3000">
                <a:solidFill>
                  <a:srgbClr val="FF4757"/>
                </a:solidFill>
                <a:latin typeface="Ubuntu Bold"/>
                <a:ea typeface="Ubuntu Bold"/>
                <a:cs typeface="Ubuntu Bold"/>
                <a:sym typeface="Ubuntu Bold"/>
              </a:rPr>
              <a:t>Data KLB Campak Indonesia [4]</a:t>
            </a:r>
          </a:p>
        </p:txBody>
      </p:sp>
      <p:sp>
        <p:nvSpPr>
          <p:cNvPr name="TextBox 28" id="28"/>
          <p:cNvSpPr txBox="true"/>
          <p:nvPr/>
        </p:nvSpPr>
        <p:spPr>
          <a:xfrm rot="0">
            <a:off x="0" y="9667875"/>
            <a:ext cx="6030992" cy="619125"/>
          </a:xfrm>
          <a:prstGeom prst="rect">
            <a:avLst/>
          </a:prstGeom>
        </p:spPr>
        <p:txBody>
          <a:bodyPr anchor="t" rtlCol="false" tIns="0" lIns="0" bIns="0" rIns="0">
            <a:spAutoFit/>
          </a:bodyPr>
          <a:lstStyle/>
          <a:p>
            <a:pPr algn="l">
              <a:lnSpc>
                <a:spcPts val="2400"/>
              </a:lnSpc>
              <a:spcBef>
                <a:spcPct val="0"/>
              </a:spcBef>
            </a:pPr>
            <a:r>
              <a:rPr lang="en-US" sz="2000">
                <a:solidFill>
                  <a:srgbClr val="FF4757"/>
                </a:solidFill>
                <a:latin typeface="Open Sans"/>
                <a:ea typeface="Open Sans"/>
                <a:cs typeface="Open Sans"/>
                <a:sym typeface="Open Sans"/>
              </a:rPr>
              <a:t>[3] Kemenkes RI, Agustus 2025  </a:t>
            </a:r>
          </a:p>
          <a:p>
            <a:pPr algn="ctr">
              <a:lnSpc>
                <a:spcPts val="2400"/>
              </a:lnSpc>
              <a:spcBef>
                <a:spcPct val="0"/>
              </a:spcBef>
            </a:pPr>
            <a:r>
              <a:rPr lang="en-US" sz="2000">
                <a:solidFill>
                  <a:srgbClr val="FF4757"/>
                </a:solidFill>
                <a:latin typeface="Open Sans"/>
                <a:ea typeface="Open Sans"/>
                <a:cs typeface="Open Sans"/>
                <a:sym typeface="Open Sans"/>
              </a:rPr>
              <a:t>[4] Kemenkes RI, Konferensi Pers 26 Februari 2026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5237260" y="-1758093"/>
            <a:ext cx="5132388" cy="5398095"/>
          </a:xfrm>
          <a:custGeom>
            <a:avLst/>
            <a:gdLst/>
            <a:ahLst/>
            <a:cxnLst/>
            <a:rect r="r" b="b" t="t" l="l"/>
            <a:pathLst>
              <a:path h="5398095" w="5132388">
                <a:moveTo>
                  <a:pt x="0" y="0"/>
                </a:moveTo>
                <a:lnTo>
                  <a:pt x="5132388" y="0"/>
                </a:lnTo>
                <a:lnTo>
                  <a:pt x="5132388" y="5398094"/>
                </a:lnTo>
                <a:lnTo>
                  <a:pt x="0" y="5398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384481" y="-1822853"/>
            <a:ext cx="5068530" cy="5348703"/>
          </a:xfrm>
          <a:custGeom>
            <a:avLst/>
            <a:gdLst/>
            <a:ahLst/>
            <a:cxnLst/>
            <a:rect r="r" b="b" t="t" l="l"/>
            <a:pathLst>
              <a:path h="5348703" w="5068530">
                <a:moveTo>
                  <a:pt x="0" y="0"/>
                </a:moveTo>
                <a:lnTo>
                  <a:pt x="5068530" y="0"/>
                </a:lnTo>
                <a:lnTo>
                  <a:pt x="5068530" y="5348704"/>
                </a:lnTo>
                <a:lnTo>
                  <a:pt x="0" y="53487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6390776" y="432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0" y="9949160"/>
            <a:ext cx="898616" cy="526367"/>
          </a:xfrm>
          <a:custGeom>
            <a:avLst/>
            <a:gdLst/>
            <a:ahLst/>
            <a:cxnLst/>
            <a:rect r="r" b="b" t="t" l="l"/>
            <a:pathLst>
              <a:path h="526367" w="898616">
                <a:moveTo>
                  <a:pt x="0" y="0"/>
                </a:moveTo>
                <a:lnTo>
                  <a:pt x="898616" y="0"/>
                </a:lnTo>
                <a:lnTo>
                  <a:pt x="898616" y="526367"/>
                </a:lnTo>
                <a:lnTo>
                  <a:pt x="0" y="5263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324058" y="9042330"/>
            <a:ext cx="963538" cy="714696"/>
          </a:xfrm>
          <a:custGeom>
            <a:avLst/>
            <a:gdLst/>
            <a:ahLst/>
            <a:cxnLst/>
            <a:rect r="r" b="b" t="t" l="l"/>
            <a:pathLst>
              <a:path h="714696" w="963538">
                <a:moveTo>
                  <a:pt x="0" y="0"/>
                </a:moveTo>
                <a:lnTo>
                  <a:pt x="963538" y="0"/>
                </a:lnTo>
                <a:lnTo>
                  <a:pt x="963538" y="714695"/>
                </a:lnTo>
                <a:lnTo>
                  <a:pt x="0" y="7146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11603350" y="6482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251126" y="5456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40876" y="83592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7282218" y="781749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16412289" y="8806265"/>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898616" y="9556421"/>
            <a:ext cx="714180" cy="697190"/>
          </a:xfrm>
          <a:custGeom>
            <a:avLst/>
            <a:gdLst/>
            <a:ahLst/>
            <a:cxnLst/>
            <a:rect r="r" b="b" t="t" l="l"/>
            <a:pathLst>
              <a:path h="697190" w="714180">
                <a:moveTo>
                  <a:pt x="0" y="0"/>
                </a:moveTo>
                <a:lnTo>
                  <a:pt x="714180" y="0"/>
                </a:lnTo>
                <a:lnTo>
                  <a:pt x="714180" y="697190"/>
                </a:lnTo>
                <a:lnTo>
                  <a:pt x="0" y="69719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3872054" y="2062254"/>
            <a:ext cx="11386298" cy="10255658"/>
          </a:xfrm>
          <a:custGeom>
            <a:avLst/>
            <a:gdLst/>
            <a:ahLst/>
            <a:cxnLst/>
            <a:rect r="r" b="b" t="t" l="l"/>
            <a:pathLst>
              <a:path h="10255658" w="11386298">
                <a:moveTo>
                  <a:pt x="0" y="0"/>
                </a:moveTo>
                <a:lnTo>
                  <a:pt x="11386298" y="0"/>
                </a:lnTo>
                <a:lnTo>
                  <a:pt x="11386298" y="10255658"/>
                </a:lnTo>
                <a:lnTo>
                  <a:pt x="0" y="102556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4" id="14"/>
          <p:cNvSpPr/>
          <p:nvPr/>
        </p:nvSpPr>
        <p:spPr>
          <a:xfrm flipH="false" flipV="false" rot="0">
            <a:off x="-3872046" y="2695634"/>
            <a:ext cx="11386298" cy="9981718"/>
          </a:xfrm>
          <a:custGeom>
            <a:avLst/>
            <a:gdLst/>
            <a:ahLst/>
            <a:cxnLst/>
            <a:rect r="r" b="b" t="t" l="l"/>
            <a:pathLst>
              <a:path h="9981718" w="11386298">
                <a:moveTo>
                  <a:pt x="0" y="0"/>
                </a:moveTo>
                <a:lnTo>
                  <a:pt x="11386298" y="0"/>
                </a:lnTo>
                <a:lnTo>
                  <a:pt x="11386298" y="9981718"/>
                </a:lnTo>
                <a:lnTo>
                  <a:pt x="0" y="998171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5" id="15"/>
          <p:cNvSpPr/>
          <p:nvPr/>
        </p:nvSpPr>
        <p:spPr>
          <a:xfrm flipH="false" flipV="false" rot="0">
            <a:off x="17307576" y="35543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3831103" y="9102859"/>
            <a:ext cx="1625665" cy="1150752"/>
          </a:xfrm>
          <a:custGeom>
            <a:avLst/>
            <a:gdLst/>
            <a:ahLst/>
            <a:cxnLst/>
            <a:rect r="r" b="b" t="t" l="l"/>
            <a:pathLst>
              <a:path h="1150752" w="1625665">
                <a:moveTo>
                  <a:pt x="0" y="0"/>
                </a:moveTo>
                <a:lnTo>
                  <a:pt x="1625665" y="0"/>
                </a:lnTo>
                <a:lnTo>
                  <a:pt x="1625665" y="1150752"/>
                </a:lnTo>
                <a:lnTo>
                  <a:pt x="0" y="1150752"/>
                </a:lnTo>
                <a:lnTo>
                  <a:pt x="0" y="0"/>
                </a:lnTo>
                <a:close/>
              </a:path>
            </a:pathLst>
          </a:custGeom>
          <a:blipFill>
            <a:blip r:embed="rId23"/>
            <a:stretch>
              <a:fillRect l="0" t="0" r="0" b="0"/>
            </a:stretch>
          </a:blipFill>
        </p:spPr>
      </p:sp>
      <p:sp>
        <p:nvSpPr>
          <p:cNvPr name="Freeform 17" id="17"/>
          <p:cNvSpPr/>
          <p:nvPr/>
        </p:nvSpPr>
        <p:spPr>
          <a:xfrm flipH="false" flipV="false" rot="0">
            <a:off x="15456768" y="9042330"/>
            <a:ext cx="1661699" cy="1244670"/>
          </a:xfrm>
          <a:custGeom>
            <a:avLst/>
            <a:gdLst/>
            <a:ahLst/>
            <a:cxnLst/>
            <a:rect r="r" b="b" t="t" l="l"/>
            <a:pathLst>
              <a:path h="1244670" w="1661699">
                <a:moveTo>
                  <a:pt x="0" y="0"/>
                </a:moveTo>
                <a:lnTo>
                  <a:pt x="1661699" y="0"/>
                </a:lnTo>
                <a:lnTo>
                  <a:pt x="1661699" y="1244670"/>
                </a:lnTo>
                <a:lnTo>
                  <a:pt x="0" y="1244670"/>
                </a:lnTo>
                <a:lnTo>
                  <a:pt x="0" y="0"/>
                </a:lnTo>
                <a:close/>
              </a:path>
            </a:pathLst>
          </a:custGeom>
          <a:blipFill>
            <a:blip r:embed="rId24"/>
            <a:stretch>
              <a:fillRect l="0" t="0" r="0" b="0"/>
            </a:stretch>
          </a:blipFill>
        </p:spPr>
      </p:sp>
      <p:sp>
        <p:nvSpPr>
          <p:cNvPr name="Freeform 18" id="18"/>
          <p:cNvSpPr/>
          <p:nvPr/>
        </p:nvSpPr>
        <p:spPr>
          <a:xfrm flipH="false" flipV="false" rot="0">
            <a:off x="17118467" y="8816426"/>
            <a:ext cx="1204092" cy="1493217"/>
          </a:xfrm>
          <a:custGeom>
            <a:avLst/>
            <a:gdLst/>
            <a:ahLst/>
            <a:cxnLst/>
            <a:rect r="r" b="b" t="t" l="l"/>
            <a:pathLst>
              <a:path h="1493217" w="1204092">
                <a:moveTo>
                  <a:pt x="0" y="0"/>
                </a:moveTo>
                <a:lnTo>
                  <a:pt x="1204092" y="0"/>
                </a:lnTo>
                <a:lnTo>
                  <a:pt x="1204092" y="1493217"/>
                </a:lnTo>
                <a:lnTo>
                  <a:pt x="0" y="1493217"/>
                </a:lnTo>
                <a:lnTo>
                  <a:pt x="0" y="0"/>
                </a:lnTo>
                <a:close/>
              </a:path>
            </a:pathLst>
          </a:custGeom>
          <a:blipFill>
            <a:blip r:embed="rId25"/>
            <a:stretch>
              <a:fillRect l="-51904" t="0" r="-47074" b="0"/>
            </a:stretch>
          </a:blipFill>
        </p:spPr>
      </p:sp>
      <p:sp>
        <p:nvSpPr>
          <p:cNvPr name="Freeform 19" id="19"/>
          <p:cNvSpPr/>
          <p:nvPr/>
        </p:nvSpPr>
        <p:spPr>
          <a:xfrm flipH="false" flipV="false" rot="0">
            <a:off x="16310912" y="7817497"/>
            <a:ext cx="2011647" cy="1005823"/>
          </a:xfrm>
          <a:custGeom>
            <a:avLst/>
            <a:gdLst/>
            <a:ahLst/>
            <a:cxnLst/>
            <a:rect r="r" b="b" t="t" l="l"/>
            <a:pathLst>
              <a:path h="1005823" w="2011647">
                <a:moveTo>
                  <a:pt x="0" y="0"/>
                </a:moveTo>
                <a:lnTo>
                  <a:pt x="2011647" y="0"/>
                </a:lnTo>
                <a:lnTo>
                  <a:pt x="2011647" y="1005823"/>
                </a:lnTo>
                <a:lnTo>
                  <a:pt x="0" y="1005823"/>
                </a:lnTo>
                <a:lnTo>
                  <a:pt x="0" y="0"/>
                </a:lnTo>
                <a:close/>
              </a:path>
            </a:pathLst>
          </a:custGeom>
          <a:blipFill>
            <a:blip r:embed="rId26"/>
            <a:stretch>
              <a:fillRect l="0" t="0" r="0" b="0"/>
            </a:stretch>
          </a:blipFill>
        </p:spPr>
      </p:sp>
      <p:sp>
        <p:nvSpPr>
          <p:cNvPr name="TextBox 20" id="20"/>
          <p:cNvSpPr txBox="true"/>
          <p:nvPr/>
        </p:nvSpPr>
        <p:spPr>
          <a:xfrm rot="0">
            <a:off x="1175751" y="404251"/>
            <a:ext cx="7968249" cy="714375"/>
          </a:xfrm>
          <a:prstGeom prst="rect">
            <a:avLst/>
          </a:prstGeom>
        </p:spPr>
        <p:txBody>
          <a:bodyPr anchor="t" rtlCol="false" tIns="0" lIns="0" bIns="0" rIns="0">
            <a:spAutoFit/>
          </a:bodyPr>
          <a:lstStyle/>
          <a:p>
            <a:pPr algn="l">
              <a:lnSpc>
                <a:spcPts val="5400"/>
              </a:lnSpc>
            </a:pPr>
            <a:r>
              <a:rPr lang="en-US" sz="4500" b="true">
                <a:solidFill>
                  <a:srgbClr val="073763"/>
                </a:solidFill>
                <a:latin typeface="Ubuntu Bold"/>
                <a:ea typeface="Ubuntu Bold"/>
                <a:cs typeface="Ubuntu Bold"/>
                <a:sym typeface="Ubuntu Bold"/>
              </a:rPr>
              <a:t>D</a:t>
            </a:r>
            <a:r>
              <a:rPr lang="en-US" sz="4500" b="true">
                <a:solidFill>
                  <a:srgbClr val="073763"/>
                </a:solidFill>
                <a:latin typeface="Ubuntu Bold"/>
                <a:ea typeface="Ubuntu Bold"/>
                <a:cs typeface="Ubuntu Bold"/>
                <a:sym typeface="Ubuntu Bold"/>
              </a:rPr>
              <a:t>AFTAR REFERENSI</a:t>
            </a:r>
          </a:p>
        </p:txBody>
      </p:sp>
      <p:sp>
        <p:nvSpPr>
          <p:cNvPr name="TextBox 21" id="21"/>
          <p:cNvSpPr txBox="true"/>
          <p:nvPr/>
        </p:nvSpPr>
        <p:spPr>
          <a:xfrm rot="0">
            <a:off x="1175751" y="1118626"/>
            <a:ext cx="7479098" cy="9286875"/>
          </a:xfrm>
          <a:prstGeom prst="rect">
            <a:avLst/>
          </a:prstGeom>
        </p:spPr>
        <p:txBody>
          <a:bodyPr anchor="t" rtlCol="false" tIns="0" lIns="0" bIns="0" rIns="0">
            <a:spAutoFit/>
          </a:bodyPr>
          <a:lstStyle/>
          <a:p>
            <a:pPr algn="l">
              <a:lnSpc>
                <a:spcPts val="2999"/>
              </a:lnSpc>
            </a:pPr>
            <a:r>
              <a:rPr lang="en-US" sz="2499" b="true">
                <a:solidFill>
                  <a:srgbClr val="434343"/>
                </a:solidFill>
                <a:latin typeface="Open Sans Bold"/>
                <a:ea typeface="Open Sans Bold"/>
                <a:cs typeface="Open Sans Bold"/>
                <a:sym typeface="Open Sans Bold"/>
              </a:rPr>
              <a:t>[1]  Kemenkes RI — BKPK. (2024).</a:t>
            </a:r>
          </a:p>
          <a:p>
            <a:pPr algn="l">
              <a:lnSpc>
                <a:spcPts val="2999"/>
              </a:lnSpc>
            </a:pPr>
            <a:r>
              <a:rPr lang="en-US" sz="2499">
                <a:solidFill>
                  <a:srgbClr val="434343"/>
                </a:solidFill>
                <a:latin typeface="Open Sans"/>
                <a:ea typeface="Open Sans"/>
                <a:cs typeface="Open Sans"/>
                <a:sym typeface="Open Sans"/>
              </a:rPr>
              <a:t>Hasil Utama Survei Kesehatan Indonesia (SKI) 2023. (2024)</a:t>
            </a:r>
          </a:p>
          <a:p>
            <a:pPr algn="l">
              <a:lnSpc>
                <a:spcPts val="2999"/>
              </a:lnSpc>
            </a:pPr>
            <a:r>
              <a:rPr lang="en-US" sz="2499">
                <a:solidFill>
                  <a:srgbClr val="434343"/>
                </a:solidFill>
                <a:latin typeface="Open Sans"/>
                <a:ea typeface="Open Sans"/>
                <a:cs typeface="Open Sans"/>
                <a:sym typeface="Open Sans"/>
              </a:rPr>
              <a:t>badankebijakan.kemkes.go.id</a:t>
            </a:r>
          </a:p>
          <a:p>
            <a:pPr algn="l">
              <a:lnSpc>
                <a:spcPts val="2999"/>
              </a:lnSpc>
            </a:pPr>
          </a:p>
          <a:p>
            <a:pPr algn="l">
              <a:lnSpc>
                <a:spcPts val="2999"/>
              </a:lnSpc>
            </a:pPr>
            <a:r>
              <a:rPr lang="en-US" sz="2499" b="true">
                <a:solidFill>
                  <a:srgbClr val="434343"/>
                </a:solidFill>
                <a:latin typeface="Open Sans Bold"/>
                <a:ea typeface="Open Sans Bold"/>
                <a:cs typeface="Open Sans Bold"/>
                <a:sym typeface="Open Sans Bold"/>
              </a:rPr>
              <a:t>[2]  Kemenkes RI. (2025).</a:t>
            </a:r>
          </a:p>
          <a:p>
            <a:pPr algn="l">
              <a:lnSpc>
                <a:spcPts val="2999"/>
              </a:lnSpc>
            </a:pPr>
            <a:r>
              <a:rPr lang="en-US" sz="2499">
                <a:solidFill>
                  <a:srgbClr val="434343"/>
                </a:solidFill>
                <a:latin typeface="Open Sans"/>
                <a:ea typeface="Open Sans"/>
                <a:cs typeface="Open Sans"/>
                <a:sym typeface="Open Sans"/>
              </a:rPr>
              <a:t>Pekan Imunisasi Dunia 2025.</a:t>
            </a:r>
          </a:p>
          <a:p>
            <a:pPr algn="l">
              <a:lnSpc>
                <a:spcPts val="2999"/>
              </a:lnSpc>
            </a:pPr>
            <a:r>
              <a:rPr lang="en-US" sz="2499">
                <a:solidFill>
                  <a:srgbClr val="434343"/>
                </a:solidFill>
                <a:latin typeface="Open Sans"/>
                <a:ea typeface="Open Sans"/>
                <a:cs typeface="Open Sans"/>
                <a:sym typeface="Open Sans"/>
              </a:rPr>
              <a:t>kemkes.go.id</a:t>
            </a:r>
          </a:p>
          <a:p>
            <a:pPr algn="l">
              <a:lnSpc>
                <a:spcPts val="2999"/>
              </a:lnSpc>
            </a:pPr>
          </a:p>
          <a:p>
            <a:pPr algn="l">
              <a:lnSpc>
                <a:spcPts val="2999"/>
              </a:lnSpc>
            </a:pPr>
            <a:r>
              <a:rPr lang="en-US" sz="2499" b="true">
                <a:solidFill>
                  <a:srgbClr val="434343"/>
                </a:solidFill>
                <a:latin typeface="Open Sans Bold"/>
                <a:ea typeface="Open Sans Bold"/>
                <a:cs typeface="Open Sans Bold"/>
                <a:sym typeface="Open Sans Bold"/>
              </a:rPr>
              <a:t>[3]  Kemenkes RI. (Agustus 2025). </a:t>
            </a:r>
          </a:p>
          <a:p>
            <a:pPr algn="l">
              <a:lnSpc>
                <a:spcPts val="2999"/>
              </a:lnSpc>
            </a:pPr>
            <a:r>
              <a:rPr lang="en-US" sz="2499">
                <a:solidFill>
                  <a:srgbClr val="434343"/>
                </a:solidFill>
                <a:latin typeface="Open Sans"/>
                <a:ea typeface="Open Sans"/>
                <a:cs typeface="Open Sans"/>
                <a:sym typeface="Open Sans"/>
              </a:rPr>
              <a:t>KLB Campak </a:t>
            </a:r>
            <a:r>
              <a:rPr lang="en-US" sz="2499">
                <a:solidFill>
                  <a:srgbClr val="434343"/>
                </a:solidFill>
                <a:latin typeface="Open Sans"/>
                <a:ea typeface="Open Sans"/>
                <a:cs typeface="Open Sans"/>
                <a:sym typeface="Open Sans"/>
              </a:rPr>
              <a:t>Meningkat, Kemenkes Ingatkan Pentingnya Imunisasi.  (Agustus 2025) </a:t>
            </a:r>
          </a:p>
          <a:p>
            <a:pPr algn="l">
              <a:lnSpc>
                <a:spcPts val="2999"/>
              </a:lnSpc>
            </a:pPr>
            <a:r>
              <a:rPr lang="en-US" sz="2499">
                <a:solidFill>
                  <a:srgbClr val="434343"/>
                </a:solidFill>
                <a:latin typeface="Open Sans"/>
                <a:ea typeface="Open Sans"/>
                <a:cs typeface="Open Sans"/>
                <a:sym typeface="Open Sans"/>
              </a:rPr>
              <a:t>kemkes.go.id                          </a:t>
            </a:r>
          </a:p>
          <a:p>
            <a:pPr algn="l">
              <a:lnSpc>
                <a:spcPts val="2999"/>
              </a:lnSpc>
            </a:pPr>
          </a:p>
          <a:p>
            <a:pPr algn="l">
              <a:lnSpc>
                <a:spcPts val="2999"/>
              </a:lnSpc>
            </a:pPr>
            <a:r>
              <a:rPr lang="en-US" sz="2499" b="true">
                <a:solidFill>
                  <a:srgbClr val="434343"/>
                </a:solidFill>
                <a:latin typeface="Open Sans Bold"/>
                <a:ea typeface="Open Sans Bold"/>
                <a:cs typeface="Open Sans Bold"/>
                <a:sym typeface="Open Sans Bold"/>
              </a:rPr>
              <a:t>[4]  Kemenkes RI. (Februari 2026).</a:t>
            </a:r>
          </a:p>
          <a:p>
            <a:pPr algn="l">
              <a:lnSpc>
                <a:spcPts val="2999"/>
              </a:lnSpc>
            </a:pPr>
            <a:r>
              <a:rPr lang="en-US" sz="2499">
                <a:solidFill>
                  <a:srgbClr val="434343"/>
                </a:solidFill>
                <a:latin typeface="Open Sans"/>
                <a:ea typeface="Open Sans"/>
                <a:cs typeface="Open Sans"/>
                <a:sym typeface="Open Sans"/>
              </a:rPr>
              <a:t>Dinamika Campak. (Feb 2026)</a:t>
            </a:r>
          </a:p>
          <a:p>
            <a:pPr algn="l">
              <a:lnSpc>
                <a:spcPts val="2999"/>
              </a:lnSpc>
            </a:pPr>
            <a:r>
              <a:rPr lang="en-US" sz="2499">
                <a:solidFill>
                  <a:srgbClr val="434343"/>
                </a:solidFill>
                <a:latin typeface="Open Sans"/>
                <a:ea typeface="Open Sans"/>
                <a:cs typeface="Open Sans"/>
                <a:sym typeface="Open Sans"/>
              </a:rPr>
              <a:t>kemkes.go.id </a:t>
            </a:r>
          </a:p>
          <a:p>
            <a:pPr algn="l">
              <a:lnSpc>
                <a:spcPts val="2999"/>
              </a:lnSpc>
            </a:pPr>
          </a:p>
          <a:p>
            <a:pPr algn="l">
              <a:lnSpc>
                <a:spcPts val="2999"/>
              </a:lnSpc>
            </a:pPr>
            <a:r>
              <a:rPr lang="en-US" sz="2499" b="true">
                <a:solidFill>
                  <a:srgbClr val="434343"/>
                </a:solidFill>
                <a:latin typeface="Open Sans Bold"/>
                <a:ea typeface="Open Sans Bold"/>
                <a:cs typeface="Open Sans Bold"/>
                <a:sym typeface="Open Sans Bold"/>
              </a:rPr>
              <a:t>[5] WHO Indonesia. (2025).</a:t>
            </a:r>
          </a:p>
          <a:p>
            <a:pPr algn="l">
              <a:lnSpc>
                <a:spcPts val="2999"/>
              </a:lnSpc>
            </a:pPr>
            <a:r>
              <a:rPr lang="en-US" sz="2499">
                <a:solidFill>
                  <a:srgbClr val="434343"/>
                </a:solidFill>
                <a:latin typeface="Open Sans"/>
                <a:ea typeface="Open Sans"/>
                <a:cs typeface="Open Sans"/>
                <a:sym typeface="Open Sans"/>
              </a:rPr>
              <a:t>Immunization, Foundation for Healthy Generation 2045. </a:t>
            </a:r>
          </a:p>
          <a:p>
            <a:pPr algn="l">
              <a:lnSpc>
                <a:spcPts val="2999"/>
              </a:lnSpc>
            </a:pPr>
            <a:r>
              <a:rPr lang="en-US" sz="2499">
                <a:solidFill>
                  <a:srgbClr val="434343"/>
                </a:solidFill>
                <a:latin typeface="Open Sans"/>
                <a:ea typeface="Open Sans"/>
                <a:cs typeface="Open Sans"/>
                <a:sym typeface="Open Sans"/>
              </a:rPr>
              <a:t>who.int/Indonesia</a:t>
            </a:r>
          </a:p>
          <a:p>
            <a:pPr algn="l">
              <a:lnSpc>
                <a:spcPts val="2999"/>
              </a:lnSpc>
            </a:pPr>
          </a:p>
          <a:p>
            <a:pPr algn="l">
              <a:lnSpc>
                <a:spcPts val="2999"/>
              </a:lnSpc>
            </a:pPr>
          </a:p>
          <a:p>
            <a:pPr algn="l">
              <a:lnSpc>
                <a:spcPts val="2999"/>
              </a:lnSpc>
            </a:pPr>
          </a:p>
        </p:txBody>
      </p:sp>
      <p:sp>
        <p:nvSpPr>
          <p:cNvPr name="TextBox 22" id="22"/>
          <p:cNvSpPr txBox="true"/>
          <p:nvPr/>
        </p:nvSpPr>
        <p:spPr>
          <a:xfrm rot="0">
            <a:off x="8688391" y="1118626"/>
            <a:ext cx="8430076" cy="7800975"/>
          </a:xfrm>
          <a:prstGeom prst="rect">
            <a:avLst/>
          </a:prstGeom>
        </p:spPr>
        <p:txBody>
          <a:bodyPr anchor="t" rtlCol="false" tIns="0" lIns="0" bIns="0" rIns="0">
            <a:spAutoFit/>
          </a:bodyPr>
          <a:lstStyle/>
          <a:p>
            <a:pPr algn="l">
              <a:lnSpc>
                <a:spcPts val="2999"/>
              </a:lnSpc>
              <a:spcBef>
                <a:spcPct val="0"/>
              </a:spcBef>
            </a:pPr>
            <a:r>
              <a:rPr lang="en-US" b="true" sz="2499">
                <a:solidFill>
                  <a:srgbClr val="FF4757"/>
                </a:solidFill>
                <a:latin typeface="Open Sans Bold"/>
                <a:ea typeface="Open Sans Bold"/>
                <a:cs typeface="Open Sans Bold"/>
                <a:sym typeface="Open Sans Bold"/>
              </a:rPr>
              <a:t>[6] Kaswandani, N. et al. — IDAI. (2024)</a:t>
            </a:r>
          </a:p>
          <a:p>
            <a:pPr algn="l">
              <a:lnSpc>
                <a:spcPts val="2999"/>
              </a:lnSpc>
              <a:spcBef>
                <a:spcPct val="0"/>
              </a:spcBef>
            </a:pPr>
            <a:r>
              <a:rPr lang="en-US" sz="2499">
                <a:solidFill>
                  <a:srgbClr val="FF4757"/>
                </a:solidFill>
                <a:latin typeface="Open Sans"/>
                <a:ea typeface="Open Sans"/>
                <a:cs typeface="Open Sans"/>
                <a:sym typeface="Open Sans"/>
              </a:rPr>
              <a:t>Jadwal Imunisasi Anak 0–18 Tahun:</a:t>
            </a:r>
          </a:p>
          <a:p>
            <a:pPr algn="l">
              <a:lnSpc>
                <a:spcPts val="2999"/>
              </a:lnSpc>
              <a:spcBef>
                <a:spcPct val="0"/>
              </a:spcBef>
            </a:pPr>
            <a:r>
              <a:rPr lang="en-US" sz="2499">
                <a:solidFill>
                  <a:srgbClr val="FF4757"/>
                </a:solidFill>
                <a:latin typeface="Open Sans"/>
                <a:ea typeface="Open Sans"/>
                <a:cs typeface="Open Sans"/>
                <a:sym typeface="Open Sans"/>
              </a:rPr>
              <a:t>Rekomendasi IDAI 2024.</a:t>
            </a:r>
          </a:p>
          <a:p>
            <a:pPr algn="l">
              <a:lnSpc>
                <a:spcPts val="2999"/>
              </a:lnSpc>
              <a:spcBef>
                <a:spcPct val="0"/>
              </a:spcBef>
            </a:pPr>
            <a:r>
              <a:rPr lang="en-US" sz="2499">
                <a:solidFill>
                  <a:srgbClr val="FF4757"/>
                </a:solidFill>
                <a:latin typeface="Open Sans"/>
                <a:ea typeface="Open Sans"/>
                <a:cs typeface="Open Sans"/>
                <a:sym typeface="Open Sans"/>
              </a:rPr>
              <a:t>Sari Pediatri. saripediatri.org </a:t>
            </a:r>
          </a:p>
          <a:p>
            <a:pPr algn="l">
              <a:lnSpc>
                <a:spcPts val="2999"/>
              </a:lnSpc>
              <a:spcBef>
                <a:spcPct val="0"/>
              </a:spcBef>
            </a:pPr>
            <a:r>
              <a:rPr lang="en-US" sz="2499">
                <a:solidFill>
                  <a:srgbClr val="FF4757"/>
                </a:solidFill>
                <a:latin typeface="Open Sans"/>
                <a:ea typeface="Open Sans"/>
                <a:cs typeface="Open Sans"/>
                <a:sym typeface="Open Sans"/>
              </a:rPr>
              <a:t> </a:t>
            </a:r>
          </a:p>
          <a:p>
            <a:pPr algn="l">
              <a:lnSpc>
                <a:spcPts val="2999"/>
              </a:lnSpc>
              <a:spcBef>
                <a:spcPct val="0"/>
              </a:spcBef>
            </a:pPr>
            <a:r>
              <a:rPr lang="en-US" b="true" sz="2499">
                <a:solidFill>
                  <a:srgbClr val="FF4757"/>
                </a:solidFill>
                <a:latin typeface="Open Sans Bold"/>
                <a:ea typeface="Open Sans Bold"/>
                <a:cs typeface="Open Sans Bold"/>
                <a:sym typeface="Open Sans Bold"/>
              </a:rPr>
              <a:t>[7] WHO. (2021).</a:t>
            </a:r>
          </a:p>
          <a:p>
            <a:pPr algn="l">
              <a:lnSpc>
                <a:spcPts val="2999"/>
              </a:lnSpc>
              <a:spcBef>
                <a:spcPct val="0"/>
              </a:spcBef>
            </a:pPr>
            <a:r>
              <a:rPr lang="en-US" sz="2499">
                <a:solidFill>
                  <a:srgbClr val="FF4757"/>
                </a:solidFill>
                <a:latin typeface="Open Sans"/>
                <a:ea typeface="Open Sans"/>
                <a:cs typeface="Open Sans"/>
                <a:sym typeface="Open Sans"/>
              </a:rPr>
              <a:t>Immunization Agenda 2030.</a:t>
            </a:r>
          </a:p>
          <a:p>
            <a:pPr algn="l">
              <a:lnSpc>
                <a:spcPts val="2999"/>
              </a:lnSpc>
              <a:spcBef>
                <a:spcPct val="0"/>
              </a:spcBef>
            </a:pPr>
            <a:r>
              <a:rPr lang="en-US" sz="2499">
                <a:solidFill>
                  <a:srgbClr val="FF4757"/>
                </a:solidFill>
                <a:latin typeface="Open Sans"/>
                <a:ea typeface="Open Sans"/>
                <a:cs typeface="Open Sans"/>
                <a:sym typeface="Open Sans"/>
              </a:rPr>
              <a:t>who.int/publications </a:t>
            </a:r>
          </a:p>
          <a:p>
            <a:pPr algn="l">
              <a:lnSpc>
                <a:spcPts val="2999"/>
              </a:lnSpc>
              <a:spcBef>
                <a:spcPct val="0"/>
              </a:spcBef>
            </a:pPr>
          </a:p>
          <a:p>
            <a:pPr algn="l">
              <a:lnSpc>
                <a:spcPts val="2999"/>
              </a:lnSpc>
              <a:spcBef>
                <a:spcPct val="0"/>
              </a:spcBef>
            </a:pPr>
            <a:r>
              <a:rPr lang="en-US" b="true" sz="2499">
                <a:solidFill>
                  <a:srgbClr val="FF4757"/>
                </a:solidFill>
                <a:latin typeface="Open Sans Bold"/>
                <a:ea typeface="Open Sans Bold"/>
                <a:cs typeface="Open Sans Bold"/>
                <a:sym typeface="Open Sans Bold"/>
              </a:rPr>
              <a:t>[8] Kemenkes RI.</a:t>
            </a:r>
          </a:p>
          <a:p>
            <a:pPr algn="l">
              <a:lnSpc>
                <a:spcPts val="2999"/>
              </a:lnSpc>
              <a:spcBef>
                <a:spcPct val="0"/>
              </a:spcBef>
            </a:pPr>
            <a:r>
              <a:rPr lang="en-US" sz="2499">
                <a:solidFill>
                  <a:srgbClr val="FF4757"/>
                </a:solidFill>
                <a:latin typeface="Open Sans"/>
                <a:ea typeface="Open Sans"/>
                <a:cs typeface="Open Sans"/>
                <a:sym typeface="Open Sans"/>
              </a:rPr>
              <a:t>Buku KIA 2024. </a:t>
            </a:r>
          </a:p>
          <a:p>
            <a:pPr algn="l">
              <a:lnSpc>
                <a:spcPts val="2999"/>
              </a:lnSpc>
              <a:spcBef>
                <a:spcPct val="0"/>
              </a:spcBef>
            </a:pPr>
            <a:r>
              <a:rPr lang="en-US" sz="2499">
                <a:solidFill>
                  <a:srgbClr val="FF4757"/>
                </a:solidFill>
                <a:latin typeface="Open Sans"/>
                <a:ea typeface="Open Sans"/>
                <a:cs typeface="Open Sans"/>
                <a:sym typeface="Open Sans"/>
              </a:rPr>
              <a:t>kesprimkom. kemkes.go.id</a:t>
            </a:r>
          </a:p>
          <a:p>
            <a:pPr algn="l">
              <a:lnSpc>
                <a:spcPts val="2999"/>
              </a:lnSpc>
              <a:spcBef>
                <a:spcPct val="0"/>
              </a:spcBef>
            </a:pPr>
          </a:p>
          <a:p>
            <a:pPr algn="l">
              <a:lnSpc>
                <a:spcPts val="2999"/>
              </a:lnSpc>
              <a:spcBef>
                <a:spcPct val="0"/>
              </a:spcBef>
            </a:pPr>
            <a:r>
              <a:rPr lang="en-US" b="true" sz="2499">
                <a:solidFill>
                  <a:srgbClr val="FF4757"/>
                </a:solidFill>
                <a:latin typeface="Open Sans Bold"/>
                <a:ea typeface="Open Sans Bold"/>
                <a:cs typeface="Open Sans Bold"/>
                <a:sym typeface="Open Sans Bold"/>
              </a:rPr>
              <a:t>[9] UNICEF.</a:t>
            </a:r>
          </a:p>
          <a:p>
            <a:pPr algn="l">
              <a:lnSpc>
                <a:spcPts val="2999"/>
              </a:lnSpc>
              <a:spcBef>
                <a:spcPct val="0"/>
              </a:spcBef>
            </a:pPr>
            <a:r>
              <a:rPr lang="en-US" sz="2499">
                <a:solidFill>
                  <a:srgbClr val="FF4757"/>
                </a:solidFill>
                <a:latin typeface="Open Sans"/>
                <a:ea typeface="Open Sans"/>
                <a:cs typeface="Open Sans"/>
                <a:sym typeface="Open Sans"/>
              </a:rPr>
              <a:t>State of the World's Children 2023.</a:t>
            </a:r>
          </a:p>
          <a:p>
            <a:pPr algn="l">
              <a:lnSpc>
                <a:spcPts val="2999"/>
              </a:lnSpc>
              <a:spcBef>
                <a:spcPct val="0"/>
              </a:spcBef>
            </a:pPr>
            <a:r>
              <a:rPr lang="en-US" sz="2499">
                <a:solidFill>
                  <a:srgbClr val="FF4757"/>
                </a:solidFill>
                <a:latin typeface="Open Sans"/>
                <a:ea typeface="Open Sans"/>
                <a:cs typeface="Open Sans"/>
                <a:sym typeface="Open Sans"/>
              </a:rPr>
              <a:t>unicef.org</a:t>
            </a:r>
          </a:p>
          <a:p>
            <a:pPr algn="l">
              <a:lnSpc>
                <a:spcPts val="2999"/>
              </a:lnSpc>
              <a:spcBef>
                <a:spcPct val="0"/>
              </a:spcBef>
            </a:pPr>
          </a:p>
          <a:p>
            <a:pPr algn="l">
              <a:lnSpc>
                <a:spcPts val="2999"/>
              </a:lnSpc>
              <a:spcBef>
                <a:spcPct val="0"/>
              </a:spcBef>
            </a:pPr>
          </a:p>
          <a:p>
            <a:pPr algn="l">
              <a:lnSpc>
                <a:spcPts val="2999"/>
              </a:lnSpc>
              <a:spcBef>
                <a:spcPct val="0"/>
              </a:spcBef>
            </a:pPr>
          </a:p>
          <a:p>
            <a:pPr algn="l">
              <a:lnSpc>
                <a:spcPts val="2999"/>
              </a:lnSpc>
              <a:spcBef>
                <a:spcPct val="0"/>
              </a:spcBef>
            </a:pPr>
          </a:p>
          <a:p>
            <a:pPr algn="l">
              <a:lnSpc>
                <a:spcPts val="29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480400" y="2827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7142026" y="5834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927300" y="-768900"/>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927304" y="-8903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72976" y="9109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451076" y="87597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536176" y="38181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075326" y="1130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7113154" y="461942"/>
            <a:ext cx="972144" cy="797579"/>
          </a:xfrm>
          <a:custGeom>
            <a:avLst/>
            <a:gdLst/>
            <a:ahLst/>
            <a:cxnLst/>
            <a:rect r="r" b="b" t="t" l="l"/>
            <a:pathLst>
              <a:path h="797579" w="972144">
                <a:moveTo>
                  <a:pt x="0" y="0"/>
                </a:moveTo>
                <a:lnTo>
                  <a:pt x="972144" y="0"/>
                </a:lnTo>
                <a:lnTo>
                  <a:pt x="972144" y="797579"/>
                </a:lnTo>
                <a:lnTo>
                  <a:pt x="0" y="7975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7799523" y="-227398"/>
            <a:ext cx="489389" cy="881149"/>
          </a:xfrm>
          <a:custGeom>
            <a:avLst/>
            <a:gdLst/>
            <a:ahLst/>
            <a:cxnLst/>
            <a:rect r="r" b="b" t="t" l="l"/>
            <a:pathLst>
              <a:path h="881149" w="489389">
                <a:moveTo>
                  <a:pt x="0" y="0"/>
                </a:moveTo>
                <a:lnTo>
                  <a:pt x="489389" y="0"/>
                </a:lnTo>
                <a:lnTo>
                  <a:pt x="489389" y="881149"/>
                </a:lnTo>
                <a:lnTo>
                  <a:pt x="0" y="8811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7096271" y="-355167"/>
            <a:ext cx="703252" cy="710335"/>
          </a:xfrm>
          <a:custGeom>
            <a:avLst/>
            <a:gdLst/>
            <a:ahLst/>
            <a:cxnLst/>
            <a:rect r="r" b="b" t="t" l="l"/>
            <a:pathLst>
              <a:path h="710335" w="703252">
                <a:moveTo>
                  <a:pt x="0" y="0"/>
                </a:moveTo>
                <a:lnTo>
                  <a:pt x="703252" y="0"/>
                </a:lnTo>
                <a:lnTo>
                  <a:pt x="703252" y="710334"/>
                </a:lnTo>
                <a:lnTo>
                  <a:pt x="0" y="7103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048716" y="-392269"/>
            <a:ext cx="1974067" cy="2107325"/>
          </a:xfrm>
          <a:custGeom>
            <a:avLst/>
            <a:gdLst/>
            <a:ahLst/>
            <a:cxnLst/>
            <a:rect r="r" b="b" t="t" l="l"/>
            <a:pathLst>
              <a:path h="2107325" w="1974067">
                <a:moveTo>
                  <a:pt x="0" y="0"/>
                </a:moveTo>
                <a:lnTo>
                  <a:pt x="1974067" y="0"/>
                </a:lnTo>
                <a:lnTo>
                  <a:pt x="1974067" y="2107325"/>
                </a:lnTo>
                <a:lnTo>
                  <a:pt x="0" y="210732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281907" y="562331"/>
            <a:ext cx="2712083" cy="2619986"/>
          </a:xfrm>
          <a:custGeom>
            <a:avLst/>
            <a:gdLst/>
            <a:ahLst/>
            <a:cxnLst/>
            <a:rect r="r" b="b" t="t" l="l"/>
            <a:pathLst>
              <a:path h="2619986" w="2712083">
                <a:moveTo>
                  <a:pt x="0" y="0"/>
                </a:moveTo>
                <a:lnTo>
                  <a:pt x="2712083" y="0"/>
                </a:lnTo>
                <a:lnTo>
                  <a:pt x="2712083" y="2619986"/>
                </a:lnTo>
                <a:lnTo>
                  <a:pt x="0" y="261998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18044218" y="562331"/>
            <a:ext cx="714180" cy="697190"/>
          </a:xfrm>
          <a:custGeom>
            <a:avLst/>
            <a:gdLst/>
            <a:ahLst/>
            <a:cxnLst/>
            <a:rect r="r" b="b" t="t" l="l"/>
            <a:pathLst>
              <a:path h="697190" w="714180">
                <a:moveTo>
                  <a:pt x="0" y="0"/>
                </a:moveTo>
                <a:lnTo>
                  <a:pt x="714180" y="0"/>
                </a:lnTo>
                <a:lnTo>
                  <a:pt x="714180" y="697190"/>
                </a:lnTo>
                <a:lnTo>
                  <a:pt x="0" y="69719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0" y="1715056"/>
            <a:ext cx="18288000" cy="2560320"/>
          </a:xfrm>
          <a:custGeom>
            <a:avLst/>
            <a:gdLst/>
            <a:ahLst/>
            <a:cxnLst/>
            <a:rect r="r" b="b" t="t" l="l"/>
            <a:pathLst>
              <a:path h="2560320" w="18288000">
                <a:moveTo>
                  <a:pt x="0" y="0"/>
                </a:moveTo>
                <a:lnTo>
                  <a:pt x="18288000" y="0"/>
                </a:lnTo>
                <a:lnTo>
                  <a:pt x="18288000" y="2560320"/>
                </a:lnTo>
                <a:lnTo>
                  <a:pt x="0" y="2560320"/>
                </a:lnTo>
                <a:lnTo>
                  <a:pt x="0" y="0"/>
                </a:lnTo>
                <a:close/>
              </a:path>
            </a:pathLst>
          </a:custGeom>
          <a:blipFill>
            <a:blip r:embed="rId22"/>
            <a:stretch>
              <a:fillRect l="0" t="0" r="0" b="0"/>
            </a:stretch>
          </a:blipFill>
        </p:spPr>
      </p:sp>
      <p:sp>
        <p:nvSpPr>
          <p:cNvPr name="Freeform 17" id="17"/>
          <p:cNvSpPr/>
          <p:nvPr/>
        </p:nvSpPr>
        <p:spPr>
          <a:xfrm flipH="false" flipV="false" rot="0">
            <a:off x="0" y="4500822"/>
            <a:ext cx="18484103" cy="2610880"/>
          </a:xfrm>
          <a:custGeom>
            <a:avLst/>
            <a:gdLst/>
            <a:ahLst/>
            <a:cxnLst/>
            <a:rect r="r" b="b" t="t" l="l"/>
            <a:pathLst>
              <a:path h="2610880" w="18484103">
                <a:moveTo>
                  <a:pt x="0" y="0"/>
                </a:moveTo>
                <a:lnTo>
                  <a:pt x="18484103" y="0"/>
                </a:lnTo>
                <a:lnTo>
                  <a:pt x="18484103" y="2610879"/>
                </a:lnTo>
                <a:lnTo>
                  <a:pt x="0" y="2610879"/>
                </a:lnTo>
                <a:lnTo>
                  <a:pt x="0" y="0"/>
                </a:lnTo>
                <a:close/>
              </a:path>
            </a:pathLst>
          </a:custGeom>
          <a:blipFill>
            <a:blip r:embed="rId23"/>
            <a:stretch>
              <a:fillRect l="0" t="0" r="0" b="0"/>
            </a:stretch>
          </a:blipFill>
        </p:spPr>
      </p:sp>
      <p:sp>
        <p:nvSpPr>
          <p:cNvPr name="TextBox 18" id="18"/>
          <p:cNvSpPr txBox="true"/>
          <p:nvPr/>
        </p:nvSpPr>
        <p:spPr>
          <a:xfrm rot="0">
            <a:off x="1477877" y="14892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Competitive</a:t>
            </a:r>
            <a:r>
              <a:rPr lang="en-US" b="true" sz="6400">
                <a:solidFill>
                  <a:srgbClr val="073763"/>
                </a:solidFill>
                <a:latin typeface="Ubuntu Bold"/>
                <a:ea typeface="Ubuntu Bold"/>
                <a:cs typeface="Ubuntu Bold"/>
                <a:sym typeface="Ubuntu Bold"/>
              </a:rPr>
              <a:t> Analysis</a:t>
            </a:r>
          </a:p>
        </p:txBody>
      </p:sp>
      <p:sp>
        <p:nvSpPr>
          <p:cNvPr name="TextBox 19" id="19"/>
          <p:cNvSpPr txBox="true"/>
          <p:nvPr/>
        </p:nvSpPr>
        <p:spPr>
          <a:xfrm rot="0">
            <a:off x="422030" y="7359351"/>
            <a:ext cx="17377493" cy="1066800"/>
          </a:xfrm>
          <a:prstGeom prst="rect">
            <a:avLst/>
          </a:prstGeom>
        </p:spPr>
        <p:txBody>
          <a:bodyPr anchor="t" rtlCol="false" tIns="0" lIns="0" bIns="0" rIns="0">
            <a:spAutoFit/>
          </a:bodyPr>
          <a:lstStyle/>
          <a:p>
            <a:pPr algn="just">
              <a:lnSpc>
                <a:spcPts val="2848"/>
              </a:lnSpc>
              <a:spcBef>
                <a:spcPct val="0"/>
              </a:spcBef>
            </a:pPr>
            <a:r>
              <a:rPr lang="en-US" b="true" sz="2374">
                <a:solidFill>
                  <a:srgbClr val="073763"/>
                </a:solidFill>
                <a:latin typeface="Ubuntu Bold"/>
                <a:ea typeface="Ubuntu Bold"/>
                <a:cs typeface="Ubuntu Bold"/>
                <a:sym typeface="Ubuntu Bold"/>
              </a:rPr>
              <a:t>Analisis terhadap 10 aplikasi menunjukkan bahwa aplikasi lokal unggul dalam validitas medis (jadwal vaksin resmi dan akses dokter Indonesia), sementara aplikasi global unggul dalam fitur pintar (prediksi tidur AI dan tutorial video kreatif). Secara ekonomi, aplikasi lokal lebih aksesibel karena gratis, sedangkan aplikasi global mayoritas bersifat berlangganan.</a:t>
            </a:r>
          </a:p>
        </p:txBody>
      </p:sp>
      <p:sp>
        <p:nvSpPr>
          <p:cNvPr name="TextBox 20" id="20"/>
          <p:cNvSpPr txBox="true"/>
          <p:nvPr/>
        </p:nvSpPr>
        <p:spPr>
          <a:xfrm rot="0">
            <a:off x="422030" y="8626176"/>
            <a:ext cx="17377493" cy="1066800"/>
          </a:xfrm>
          <a:prstGeom prst="rect">
            <a:avLst/>
          </a:prstGeom>
        </p:spPr>
        <p:txBody>
          <a:bodyPr anchor="t" rtlCol="false" tIns="0" lIns="0" bIns="0" rIns="0">
            <a:spAutoFit/>
          </a:bodyPr>
          <a:lstStyle/>
          <a:p>
            <a:pPr algn="just">
              <a:lnSpc>
                <a:spcPts val="2844"/>
              </a:lnSpc>
              <a:spcBef>
                <a:spcPct val="0"/>
              </a:spcBef>
            </a:pPr>
            <a:r>
              <a:rPr lang="en-US" b="true" sz="2370">
                <a:solidFill>
                  <a:srgbClr val="073763"/>
                </a:solidFill>
                <a:latin typeface="Ubuntu Bold"/>
                <a:ea typeface="Ubuntu Bold"/>
                <a:cs typeface="Ubuntu Bold"/>
                <a:sym typeface="Ubuntu Bold"/>
              </a:rPr>
              <a:t>K</a:t>
            </a:r>
            <a:r>
              <a:rPr lang="en-US" b="true" sz="2370">
                <a:solidFill>
                  <a:srgbClr val="073763"/>
                </a:solidFill>
                <a:latin typeface="Ubuntu Bold"/>
                <a:ea typeface="Ubuntu Bold"/>
                <a:cs typeface="Ubuntu Bold"/>
                <a:sym typeface="Ubuntu Bold"/>
              </a:rPr>
              <a:t>esimpulannya, aplikasi lokal berfungsi sebagai "Buku Medis Digital" yang wajib dimiliki untuk urusan resmi, sementara aplikasi global berperan sebagai "Asisten Harian" untuk kemudahan pola asuh. Keduanya saling melengkapi, dan berpeluang untuk ke depan nya dengan menggabungkan akurasi data medis lokal dengan kecanggihan teknologi  global.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45450" y="850850"/>
            <a:ext cx="15247996" cy="10287048"/>
          </a:xfrm>
          <a:custGeom>
            <a:avLst/>
            <a:gdLst/>
            <a:ahLst/>
            <a:cxnLst/>
            <a:rect r="r" b="b" t="t" l="l"/>
            <a:pathLst>
              <a:path h="10287048" w="15247996">
                <a:moveTo>
                  <a:pt x="0" y="0"/>
                </a:moveTo>
                <a:lnTo>
                  <a:pt x="15247996" y="0"/>
                </a:lnTo>
                <a:lnTo>
                  <a:pt x="15247996" y="10287048"/>
                </a:lnTo>
                <a:lnTo>
                  <a:pt x="0" y="102870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840650" y="546050"/>
            <a:ext cx="15247996" cy="10287048"/>
          </a:xfrm>
          <a:custGeom>
            <a:avLst/>
            <a:gdLst/>
            <a:ahLst/>
            <a:cxnLst/>
            <a:rect r="r" b="b" t="t" l="l"/>
            <a:pathLst>
              <a:path h="10287048" w="15247996">
                <a:moveTo>
                  <a:pt x="0" y="0"/>
                </a:moveTo>
                <a:lnTo>
                  <a:pt x="15247996" y="0"/>
                </a:lnTo>
                <a:lnTo>
                  <a:pt x="15247996" y="10287048"/>
                </a:lnTo>
                <a:lnTo>
                  <a:pt x="0" y="102870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09550" y="-384300"/>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327176" y="10583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8236026" y="28315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4988392" y="9315017"/>
            <a:ext cx="869332" cy="848872"/>
          </a:xfrm>
          <a:custGeom>
            <a:avLst/>
            <a:gdLst/>
            <a:ahLst/>
            <a:cxnLst/>
            <a:rect r="r" b="b" t="t" l="l"/>
            <a:pathLst>
              <a:path h="848872" w="869332">
                <a:moveTo>
                  <a:pt x="0" y="0"/>
                </a:moveTo>
                <a:lnTo>
                  <a:pt x="869332" y="0"/>
                </a:lnTo>
                <a:lnTo>
                  <a:pt x="869332" y="848872"/>
                </a:lnTo>
                <a:lnTo>
                  <a:pt x="0" y="848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4405573" y="8749992"/>
            <a:ext cx="613304" cy="934024"/>
          </a:xfrm>
          <a:custGeom>
            <a:avLst/>
            <a:gdLst/>
            <a:ahLst/>
            <a:cxnLst/>
            <a:rect r="r" b="b" t="t" l="l"/>
            <a:pathLst>
              <a:path h="934024" w="613304">
                <a:moveTo>
                  <a:pt x="0" y="0"/>
                </a:moveTo>
                <a:lnTo>
                  <a:pt x="613303" y="0"/>
                </a:lnTo>
                <a:lnTo>
                  <a:pt x="613303" y="934025"/>
                </a:lnTo>
                <a:lnTo>
                  <a:pt x="0" y="9340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2737509" y="8935365"/>
            <a:ext cx="941712" cy="911514"/>
          </a:xfrm>
          <a:custGeom>
            <a:avLst/>
            <a:gdLst/>
            <a:ahLst/>
            <a:cxnLst/>
            <a:rect r="r" b="b" t="t" l="l"/>
            <a:pathLst>
              <a:path h="911514" w="941712">
                <a:moveTo>
                  <a:pt x="0" y="0"/>
                </a:moveTo>
                <a:lnTo>
                  <a:pt x="941712" y="0"/>
                </a:lnTo>
                <a:lnTo>
                  <a:pt x="941712" y="911513"/>
                </a:lnTo>
                <a:lnTo>
                  <a:pt x="0" y="91151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7778850" y="8261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3788800" y="7138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3289016" y="8267538"/>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4" id="14"/>
          <p:cNvSpPr/>
          <p:nvPr/>
        </p:nvSpPr>
        <p:spPr>
          <a:xfrm flipH="false" flipV="false" rot="0">
            <a:off x="508340" y="2464438"/>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5" id="15"/>
          <p:cNvSpPr/>
          <p:nvPr/>
        </p:nvSpPr>
        <p:spPr>
          <a:xfrm flipH="false" flipV="false" rot="0">
            <a:off x="1719125" y="2632104"/>
            <a:ext cx="871562" cy="854959"/>
          </a:xfrm>
          <a:custGeom>
            <a:avLst/>
            <a:gdLst/>
            <a:ahLst/>
            <a:cxnLst/>
            <a:rect r="r" b="b" t="t" l="l"/>
            <a:pathLst>
              <a:path h="854959" w="871562">
                <a:moveTo>
                  <a:pt x="0" y="0"/>
                </a:moveTo>
                <a:lnTo>
                  <a:pt x="871562" y="0"/>
                </a:lnTo>
                <a:lnTo>
                  <a:pt x="871562" y="854958"/>
                </a:lnTo>
                <a:lnTo>
                  <a:pt x="0" y="85495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6" id="16"/>
          <p:cNvSpPr/>
          <p:nvPr/>
        </p:nvSpPr>
        <p:spPr>
          <a:xfrm flipH="false" flipV="false" rot="0">
            <a:off x="1559772" y="3749658"/>
            <a:ext cx="903722" cy="536677"/>
          </a:xfrm>
          <a:custGeom>
            <a:avLst/>
            <a:gdLst/>
            <a:ahLst/>
            <a:cxnLst/>
            <a:rect r="r" b="b" t="t" l="l"/>
            <a:pathLst>
              <a:path h="536677" w="903722">
                <a:moveTo>
                  <a:pt x="0" y="0"/>
                </a:moveTo>
                <a:lnTo>
                  <a:pt x="903721" y="0"/>
                </a:lnTo>
                <a:lnTo>
                  <a:pt x="903721" y="536677"/>
                </a:lnTo>
                <a:lnTo>
                  <a:pt x="0" y="536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7" id="17"/>
          <p:cNvSpPr/>
          <p:nvPr/>
        </p:nvSpPr>
        <p:spPr>
          <a:xfrm flipH="false" flipV="false" rot="0">
            <a:off x="2229050" y="6467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383426" y="4547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19" id="19"/>
          <p:cNvSpPr/>
          <p:nvPr/>
        </p:nvSpPr>
        <p:spPr>
          <a:xfrm flipH="false" flipV="false" rot="0">
            <a:off x="17345576" y="7692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20" id="20"/>
          <p:cNvSpPr/>
          <p:nvPr/>
        </p:nvSpPr>
        <p:spPr>
          <a:xfrm flipH="false" flipV="false" rot="0">
            <a:off x="1145426" y="88513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21" id="21"/>
          <p:cNvSpPr/>
          <p:nvPr/>
        </p:nvSpPr>
        <p:spPr>
          <a:xfrm flipH="false" flipV="false" rot="0">
            <a:off x="16854754" y="680314"/>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2" id="22"/>
          <p:cNvSpPr/>
          <p:nvPr/>
        </p:nvSpPr>
        <p:spPr>
          <a:xfrm flipH="false" flipV="false" rot="0">
            <a:off x="16701699" y="2351057"/>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23" id="23"/>
          <p:cNvSpPr/>
          <p:nvPr/>
        </p:nvSpPr>
        <p:spPr>
          <a:xfrm flipH="false" flipV="false" rot="0">
            <a:off x="5946476" y="13986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11533916" y="9539238"/>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5" id="25"/>
          <p:cNvSpPr/>
          <p:nvPr/>
        </p:nvSpPr>
        <p:spPr>
          <a:xfrm flipH="false" flipV="false" rot="0">
            <a:off x="16088626" y="5559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26" id="26"/>
          <p:cNvSpPr/>
          <p:nvPr/>
        </p:nvSpPr>
        <p:spPr>
          <a:xfrm flipH="false" flipV="false" rot="0">
            <a:off x="13490576" y="546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TextBox 27" id="27"/>
          <p:cNvSpPr txBox="true"/>
          <p:nvPr/>
        </p:nvSpPr>
        <p:spPr>
          <a:xfrm rot="0">
            <a:off x="2867625" y="3643122"/>
            <a:ext cx="12552750" cy="4038981"/>
          </a:xfrm>
          <a:prstGeom prst="rect">
            <a:avLst/>
          </a:prstGeom>
        </p:spPr>
        <p:txBody>
          <a:bodyPr anchor="t" rtlCol="false" tIns="0" lIns="0" bIns="0" rIns="0">
            <a:spAutoFit/>
          </a:bodyPr>
          <a:lstStyle/>
          <a:p>
            <a:pPr algn="ctr">
              <a:lnSpc>
                <a:spcPts val="15552"/>
              </a:lnSpc>
            </a:pPr>
            <a:r>
              <a:rPr lang="en-US" b="true" sz="14400">
                <a:solidFill>
                  <a:srgbClr val="073763"/>
                </a:solidFill>
                <a:latin typeface="Ubuntu Bold"/>
                <a:ea typeface="Ubuntu Bold"/>
                <a:cs typeface="Ubuntu Bold"/>
                <a:sym typeface="Ubuntu Bold"/>
              </a:rPr>
              <a:t>ONLINE </a:t>
            </a:r>
            <a:r>
              <a:rPr lang="en-US" b="true" sz="14400">
                <a:solidFill>
                  <a:srgbClr val="FFFFFF"/>
                </a:solidFill>
                <a:latin typeface="Ubuntu Bold"/>
                <a:ea typeface="Ubuntu Bold"/>
                <a:cs typeface="Ubuntu Bold"/>
                <a:sym typeface="Ubuntu Bold"/>
              </a:rPr>
              <a:t>SURVEY</a:t>
            </a:r>
          </a:p>
        </p:txBody>
      </p:sp>
      <p:sp>
        <p:nvSpPr>
          <p:cNvPr name="Freeform 28" id="28"/>
          <p:cNvSpPr/>
          <p:nvPr/>
        </p:nvSpPr>
        <p:spPr>
          <a:xfrm flipH="false" flipV="false" rot="0">
            <a:off x="12935189" y="-371926"/>
            <a:ext cx="3117270" cy="3932358"/>
          </a:xfrm>
          <a:custGeom>
            <a:avLst/>
            <a:gdLst/>
            <a:ahLst/>
            <a:cxnLst/>
            <a:rect r="r" b="b" t="t" l="l"/>
            <a:pathLst>
              <a:path h="3932358" w="3117270">
                <a:moveTo>
                  <a:pt x="0" y="0"/>
                </a:moveTo>
                <a:lnTo>
                  <a:pt x="3117270" y="0"/>
                </a:lnTo>
                <a:lnTo>
                  <a:pt x="3117270" y="3932359"/>
                </a:lnTo>
                <a:lnTo>
                  <a:pt x="0" y="3932359"/>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45450" y="850850"/>
            <a:ext cx="15247996" cy="10287048"/>
          </a:xfrm>
          <a:custGeom>
            <a:avLst/>
            <a:gdLst/>
            <a:ahLst/>
            <a:cxnLst/>
            <a:rect r="r" b="b" t="t" l="l"/>
            <a:pathLst>
              <a:path h="10287048" w="15247996">
                <a:moveTo>
                  <a:pt x="0" y="0"/>
                </a:moveTo>
                <a:lnTo>
                  <a:pt x="15247996" y="0"/>
                </a:lnTo>
                <a:lnTo>
                  <a:pt x="15247996" y="10287048"/>
                </a:lnTo>
                <a:lnTo>
                  <a:pt x="0" y="102870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840650" y="546050"/>
            <a:ext cx="15247996" cy="10287048"/>
          </a:xfrm>
          <a:custGeom>
            <a:avLst/>
            <a:gdLst/>
            <a:ahLst/>
            <a:cxnLst/>
            <a:rect r="r" b="b" t="t" l="l"/>
            <a:pathLst>
              <a:path h="10287048" w="15247996">
                <a:moveTo>
                  <a:pt x="0" y="0"/>
                </a:moveTo>
                <a:lnTo>
                  <a:pt x="15247996" y="0"/>
                </a:lnTo>
                <a:lnTo>
                  <a:pt x="15247996" y="10287048"/>
                </a:lnTo>
                <a:lnTo>
                  <a:pt x="0" y="102870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09550" y="-384300"/>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327176" y="10583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8236026" y="28315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4988392" y="9315017"/>
            <a:ext cx="869332" cy="848872"/>
          </a:xfrm>
          <a:custGeom>
            <a:avLst/>
            <a:gdLst/>
            <a:ahLst/>
            <a:cxnLst/>
            <a:rect r="r" b="b" t="t" l="l"/>
            <a:pathLst>
              <a:path h="848872" w="869332">
                <a:moveTo>
                  <a:pt x="0" y="0"/>
                </a:moveTo>
                <a:lnTo>
                  <a:pt x="869332" y="0"/>
                </a:lnTo>
                <a:lnTo>
                  <a:pt x="869332" y="848872"/>
                </a:lnTo>
                <a:lnTo>
                  <a:pt x="0" y="848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4405573" y="8749992"/>
            <a:ext cx="613304" cy="934024"/>
          </a:xfrm>
          <a:custGeom>
            <a:avLst/>
            <a:gdLst/>
            <a:ahLst/>
            <a:cxnLst/>
            <a:rect r="r" b="b" t="t" l="l"/>
            <a:pathLst>
              <a:path h="934024" w="613304">
                <a:moveTo>
                  <a:pt x="0" y="0"/>
                </a:moveTo>
                <a:lnTo>
                  <a:pt x="613303" y="0"/>
                </a:lnTo>
                <a:lnTo>
                  <a:pt x="613303" y="934025"/>
                </a:lnTo>
                <a:lnTo>
                  <a:pt x="0" y="9340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2737509" y="8935365"/>
            <a:ext cx="941712" cy="911514"/>
          </a:xfrm>
          <a:custGeom>
            <a:avLst/>
            <a:gdLst/>
            <a:ahLst/>
            <a:cxnLst/>
            <a:rect r="r" b="b" t="t" l="l"/>
            <a:pathLst>
              <a:path h="911514" w="941712">
                <a:moveTo>
                  <a:pt x="0" y="0"/>
                </a:moveTo>
                <a:lnTo>
                  <a:pt x="941712" y="0"/>
                </a:lnTo>
                <a:lnTo>
                  <a:pt x="941712" y="911513"/>
                </a:lnTo>
                <a:lnTo>
                  <a:pt x="0" y="91151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7778850" y="8261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3788800" y="7138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3289016" y="8267538"/>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4" id="14"/>
          <p:cNvSpPr/>
          <p:nvPr/>
        </p:nvSpPr>
        <p:spPr>
          <a:xfrm flipH="false" flipV="false" rot="0">
            <a:off x="3455087" y="348723"/>
            <a:ext cx="859524" cy="851805"/>
          </a:xfrm>
          <a:custGeom>
            <a:avLst/>
            <a:gdLst/>
            <a:ahLst/>
            <a:cxnLst/>
            <a:rect r="r" b="b" t="t" l="l"/>
            <a:pathLst>
              <a:path h="851805" w="859524">
                <a:moveTo>
                  <a:pt x="0" y="0"/>
                </a:moveTo>
                <a:lnTo>
                  <a:pt x="859524" y="0"/>
                </a:lnTo>
                <a:lnTo>
                  <a:pt x="859524" y="851806"/>
                </a:lnTo>
                <a:lnTo>
                  <a:pt x="0" y="85180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5" id="15"/>
          <p:cNvSpPr/>
          <p:nvPr/>
        </p:nvSpPr>
        <p:spPr>
          <a:xfrm flipH="false" flipV="false" rot="0">
            <a:off x="4698321" y="252834"/>
            <a:ext cx="871562" cy="854959"/>
          </a:xfrm>
          <a:custGeom>
            <a:avLst/>
            <a:gdLst/>
            <a:ahLst/>
            <a:cxnLst/>
            <a:rect r="r" b="b" t="t" l="l"/>
            <a:pathLst>
              <a:path h="854959" w="871562">
                <a:moveTo>
                  <a:pt x="0" y="0"/>
                </a:moveTo>
                <a:lnTo>
                  <a:pt x="871562" y="0"/>
                </a:lnTo>
                <a:lnTo>
                  <a:pt x="871562" y="854959"/>
                </a:lnTo>
                <a:lnTo>
                  <a:pt x="0" y="85495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6" id="16"/>
          <p:cNvSpPr/>
          <p:nvPr/>
        </p:nvSpPr>
        <p:spPr>
          <a:xfrm flipH="false" flipV="false" rot="0">
            <a:off x="4314611" y="1058300"/>
            <a:ext cx="903722" cy="536677"/>
          </a:xfrm>
          <a:custGeom>
            <a:avLst/>
            <a:gdLst/>
            <a:ahLst/>
            <a:cxnLst/>
            <a:rect r="r" b="b" t="t" l="l"/>
            <a:pathLst>
              <a:path h="536677" w="903722">
                <a:moveTo>
                  <a:pt x="0" y="0"/>
                </a:moveTo>
                <a:lnTo>
                  <a:pt x="903722" y="0"/>
                </a:lnTo>
                <a:lnTo>
                  <a:pt x="903722" y="536677"/>
                </a:lnTo>
                <a:lnTo>
                  <a:pt x="0" y="536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7" id="17"/>
          <p:cNvSpPr/>
          <p:nvPr/>
        </p:nvSpPr>
        <p:spPr>
          <a:xfrm flipH="false" flipV="false" rot="0">
            <a:off x="2229050" y="6467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383426" y="4547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19" id="19"/>
          <p:cNvSpPr/>
          <p:nvPr/>
        </p:nvSpPr>
        <p:spPr>
          <a:xfrm flipH="false" flipV="false" rot="0">
            <a:off x="17345576" y="7692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20" id="20"/>
          <p:cNvSpPr/>
          <p:nvPr/>
        </p:nvSpPr>
        <p:spPr>
          <a:xfrm flipH="false" flipV="false" rot="0">
            <a:off x="1145426" y="88513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21" id="21"/>
          <p:cNvSpPr/>
          <p:nvPr/>
        </p:nvSpPr>
        <p:spPr>
          <a:xfrm flipH="false" flipV="false" rot="0">
            <a:off x="16854754" y="680314"/>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2" id="22"/>
          <p:cNvSpPr/>
          <p:nvPr/>
        </p:nvSpPr>
        <p:spPr>
          <a:xfrm flipH="false" flipV="false" rot="0">
            <a:off x="16701699" y="2351057"/>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23" id="23"/>
          <p:cNvSpPr/>
          <p:nvPr/>
        </p:nvSpPr>
        <p:spPr>
          <a:xfrm flipH="false" flipV="false" rot="0">
            <a:off x="5946476" y="13986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11533916" y="9539238"/>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5" id="25"/>
          <p:cNvSpPr/>
          <p:nvPr/>
        </p:nvSpPr>
        <p:spPr>
          <a:xfrm flipH="false" flipV="false" rot="0">
            <a:off x="16088626" y="5559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26" id="26"/>
          <p:cNvSpPr/>
          <p:nvPr/>
        </p:nvSpPr>
        <p:spPr>
          <a:xfrm flipH="false" flipV="false" rot="0">
            <a:off x="13490576" y="546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11">
              <a:extLst>
                <a:ext uri="{96DAC541-7B7A-43D3-8B79-37D633B846F1}">
                  <asvg:svgBlip xmlns:asvg="http://schemas.microsoft.com/office/drawing/2016/SVG/main" r:embed="rId25"/>
                </a:ext>
              </a:extLst>
            </a:blip>
            <a:stretch>
              <a:fillRect l="0" t="0" r="0" b="0"/>
            </a:stretch>
          </a:blipFill>
        </p:spPr>
      </p:sp>
      <p:sp>
        <p:nvSpPr>
          <p:cNvPr name="Freeform 27" id="27"/>
          <p:cNvSpPr/>
          <p:nvPr/>
        </p:nvSpPr>
        <p:spPr>
          <a:xfrm flipH="false" flipV="false" rot="0">
            <a:off x="11125695" y="34162"/>
            <a:ext cx="2163320" cy="2728975"/>
          </a:xfrm>
          <a:custGeom>
            <a:avLst/>
            <a:gdLst/>
            <a:ahLst/>
            <a:cxnLst/>
            <a:rect r="r" b="b" t="t" l="l"/>
            <a:pathLst>
              <a:path h="2728975" w="2163320">
                <a:moveTo>
                  <a:pt x="0" y="0"/>
                </a:moveTo>
                <a:lnTo>
                  <a:pt x="2163321" y="0"/>
                </a:lnTo>
                <a:lnTo>
                  <a:pt x="2163321" y="2728976"/>
                </a:lnTo>
                <a:lnTo>
                  <a:pt x="0" y="2728976"/>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28" id="28"/>
          <p:cNvSpPr/>
          <p:nvPr/>
        </p:nvSpPr>
        <p:spPr>
          <a:xfrm flipH="false" flipV="false" rot="0">
            <a:off x="10290311" y="5143500"/>
            <a:ext cx="6564444" cy="4603316"/>
          </a:xfrm>
          <a:custGeom>
            <a:avLst/>
            <a:gdLst/>
            <a:ahLst/>
            <a:cxnLst/>
            <a:rect r="r" b="b" t="t" l="l"/>
            <a:pathLst>
              <a:path h="4603316" w="6564444">
                <a:moveTo>
                  <a:pt x="0" y="0"/>
                </a:moveTo>
                <a:lnTo>
                  <a:pt x="6564443" y="0"/>
                </a:lnTo>
                <a:lnTo>
                  <a:pt x="6564443" y="4603316"/>
                </a:lnTo>
                <a:lnTo>
                  <a:pt x="0" y="4603316"/>
                </a:lnTo>
                <a:lnTo>
                  <a:pt x="0" y="0"/>
                </a:lnTo>
                <a:close/>
              </a:path>
            </a:pathLst>
          </a:custGeom>
          <a:blipFill>
            <a:blip r:embed="rId32"/>
            <a:stretch>
              <a:fillRect l="0" t="0" r="0" b="0"/>
            </a:stretch>
          </a:blipFill>
        </p:spPr>
      </p:sp>
      <p:sp>
        <p:nvSpPr>
          <p:cNvPr name="Freeform 29" id="29"/>
          <p:cNvSpPr/>
          <p:nvPr/>
        </p:nvSpPr>
        <p:spPr>
          <a:xfrm flipH="false" flipV="false" rot="0">
            <a:off x="529590" y="5117664"/>
            <a:ext cx="8266747" cy="4729214"/>
          </a:xfrm>
          <a:custGeom>
            <a:avLst/>
            <a:gdLst/>
            <a:ahLst/>
            <a:cxnLst/>
            <a:rect r="r" b="b" t="t" l="l"/>
            <a:pathLst>
              <a:path h="4729214" w="8266747">
                <a:moveTo>
                  <a:pt x="0" y="0"/>
                </a:moveTo>
                <a:lnTo>
                  <a:pt x="8266748" y="0"/>
                </a:lnTo>
                <a:lnTo>
                  <a:pt x="8266748" y="4729214"/>
                </a:lnTo>
                <a:lnTo>
                  <a:pt x="0" y="4729214"/>
                </a:lnTo>
                <a:lnTo>
                  <a:pt x="0" y="0"/>
                </a:lnTo>
                <a:close/>
              </a:path>
            </a:pathLst>
          </a:custGeom>
          <a:blipFill>
            <a:blip r:embed="rId33"/>
            <a:stretch>
              <a:fillRect l="0" t="-8892" r="0" b="0"/>
            </a:stretch>
          </a:blipFill>
        </p:spPr>
      </p:sp>
      <p:sp>
        <p:nvSpPr>
          <p:cNvPr name="TextBox 30" id="30"/>
          <p:cNvSpPr txBox="true"/>
          <p:nvPr/>
        </p:nvSpPr>
        <p:spPr>
          <a:xfrm rot="0">
            <a:off x="6241423" y="100837"/>
            <a:ext cx="5322341" cy="2615401"/>
          </a:xfrm>
          <a:prstGeom prst="rect">
            <a:avLst/>
          </a:prstGeom>
        </p:spPr>
        <p:txBody>
          <a:bodyPr anchor="t" rtlCol="false" tIns="0" lIns="0" bIns="0" rIns="0">
            <a:spAutoFit/>
          </a:bodyPr>
          <a:lstStyle/>
          <a:p>
            <a:pPr algn="ctr">
              <a:lnSpc>
                <a:spcPts val="10020"/>
              </a:lnSpc>
            </a:pPr>
            <a:r>
              <a:rPr lang="en-US" b="true" sz="9277">
                <a:solidFill>
                  <a:srgbClr val="073763"/>
                </a:solidFill>
                <a:latin typeface="Ubuntu Bold"/>
                <a:ea typeface="Ubuntu Bold"/>
                <a:cs typeface="Ubuntu Bold"/>
                <a:sym typeface="Ubuntu Bold"/>
              </a:rPr>
              <a:t>Online</a:t>
            </a:r>
          </a:p>
          <a:p>
            <a:pPr algn="ctr">
              <a:lnSpc>
                <a:spcPts val="10020"/>
              </a:lnSpc>
            </a:pPr>
            <a:r>
              <a:rPr lang="en-US" b="true" sz="9277">
                <a:solidFill>
                  <a:srgbClr val="073763"/>
                </a:solidFill>
                <a:latin typeface="Ubuntu Bold"/>
                <a:ea typeface="Ubuntu Bold"/>
                <a:cs typeface="Ubuntu Bold"/>
                <a:sym typeface="Ubuntu Bold"/>
              </a:rPr>
              <a:t> </a:t>
            </a:r>
            <a:r>
              <a:rPr lang="en-US" b="true" sz="9277">
                <a:solidFill>
                  <a:srgbClr val="FFFFFF"/>
                </a:solidFill>
                <a:latin typeface="Ubuntu Bold"/>
                <a:ea typeface="Ubuntu Bold"/>
                <a:cs typeface="Ubuntu Bold"/>
                <a:sym typeface="Ubuntu Bold"/>
              </a:rPr>
              <a:t>Survey</a:t>
            </a:r>
          </a:p>
        </p:txBody>
      </p:sp>
      <p:sp>
        <p:nvSpPr>
          <p:cNvPr name="TextBox 31" id="31"/>
          <p:cNvSpPr txBox="true"/>
          <p:nvPr/>
        </p:nvSpPr>
        <p:spPr>
          <a:xfrm rot="0">
            <a:off x="9139238" y="4638675"/>
            <a:ext cx="9525" cy="990600"/>
          </a:xfrm>
          <a:prstGeom prst="rect">
            <a:avLst/>
          </a:prstGeom>
        </p:spPr>
        <p:txBody>
          <a:bodyPr anchor="t" rtlCol="false" tIns="0" lIns="0" bIns="0" rIns="0">
            <a:spAutoFit/>
          </a:bodyPr>
          <a:lstStyle/>
          <a:p>
            <a:pPr algn="ctr">
              <a:lnSpc>
                <a:spcPts val="7679"/>
              </a:lnSpc>
              <a:spcBef>
                <a:spcPct val="0"/>
              </a:spcBef>
            </a:pPr>
          </a:p>
        </p:txBody>
      </p:sp>
      <p:sp>
        <p:nvSpPr>
          <p:cNvPr name="TextBox 32" id="32"/>
          <p:cNvSpPr txBox="true"/>
          <p:nvPr/>
        </p:nvSpPr>
        <p:spPr>
          <a:xfrm rot="0">
            <a:off x="1036422" y="2836991"/>
            <a:ext cx="1649828" cy="611708"/>
          </a:xfrm>
          <a:prstGeom prst="rect">
            <a:avLst/>
          </a:prstGeom>
        </p:spPr>
        <p:txBody>
          <a:bodyPr anchor="t" rtlCol="false" tIns="0" lIns="0" bIns="0" rIns="0">
            <a:spAutoFit/>
          </a:bodyPr>
          <a:lstStyle/>
          <a:p>
            <a:pPr algn="ctr">
              <a:lnSpc>
                <a:spcPts val="4609"/>
              </a:lnSpc>
              <a:spcBef>
                <a:spcPct val="0"/>
              </a:spcBef>
            </a:pPr>
            <a:r>
              <a:rPr lang="en-US" b="true" sz="3841">
                <a:solidFill>
                  <a:srgbClr val="000000"/>
                </a:solidFill>
                <a:latin typeface="Ubuntu Bold"/>
                <a:ea typeface="Ubuntu Bold"/>
                <a:cs typeface="Ubuntu Bold"/>
                <a:sym typeface="Ubuntu Bold"/>
              </a:rPr>
              <a:t>Target:</a:t>
            </a:r>
          </a:p>
        </p:txBody>
      </p:sp>
      <p:sp>
        <p:nvSpPr>
          <p:cNvPr name="TextBox 33" id="33"/>
          <p:cNvSpPr txBox="true"/>
          <p:nvPr/>
        </p:nvSpPr>
        <p:spPr>
          <a:xfrm rot="0">
            <a:off x="1036422" y="3691062"/>
            <a:ext cx="2107398" cy="620848"/>
          </a:xfrm>
          <a:prstGeom prst="rect">
            <a:avLst/>
          </a:prstGeom>
        </p:spPr>
        <p:txBody>
          <a:bodyPr anchor="t" rtlCol="false" tIns="0" lIns="0" bIns="0" rIns="0">
            <a:spAutoFit/>
          </a:bodyPr>
          <a:lstStyle/>
          <a:p>
            <a:pPr algn="ctr">
              <a:lnSpc>
                <a:spcPts val="4757"/>
              </a:lnSpc>
              <a:spcBef>
                <a:spcPct val="0"/>
              </a:spcBef>
            </a:pPr>
            <a:r>
              <a:rPr lang="en-US" b="true" sz="3964">
                <a:solidFill>
                  <a:srgbClr val="000000"/>
                </a:solidFill>
                <a:latin typeface="Ubuntu Bold"/>
                <a:ea typeface="Ubuntu Bold"/>
                <a:cs typeface="Ubuntu Bold"/>
                <a:sym typeface="Ubuntu Bold"/>
              </a:rPr>
              <a:t>Metode: </a:t>
            </a:r>
          </a:p>
        </p:txBody>
      </p:sp>
      <p:sp>
        <p:nvSpPr>
          <p:cNvPr name="TextBox 34" id="34"/>
          <p:cNvSpPr txBox="true"/>
          <p:nvPr/>
        </p:nvSpPr>
        <p:spPr>
          <a:xfrm rot="0">
            <a:off x="9889304" y="2956564"/>
            <a:ext cx="3683229" cy="503524"/>
          </a:xfrm>
          <a:prstGeom prst="rect">
            <a:avLst/>
          </a:prstGeom>
        </p:spPr>
        <p:txBody>
          <a:bodyPr anchor="t" rtlCol="false" tIns="0" lIns="0" bIns="0" rIns="0">
            <a:spAutoFit/>
          </a:bodyPr>
          <a:lstStyle/>
          <a:p>
            <a:pPr algn="ctr">
              <a:lnSpc>
                <a:spcPts val="3829"/>
              </a:lnSpc>
              <a:spcBef>
                <a:spcPct val="0"/>
              </a:spcBef>
            </a:pPr>
            <a:r>
              <a:rPr lang="en-US" b="true" sz="3191">
                <a:solidFill>
                  <a:srgbClr val="000000"/>
                </a:solidFill>
                <a:latin typeface="Ubuntu Bold"/>
                <a:ea typeface="Ubuntu Bold"/>
                <a:cs typeface="Ubuntu Bold"/>
                <a:sym typeface="Ubuntu Bold"/>
              </a:rPr>
              <a:t>Jumlah responder: </a:t>
            </a:r>
          </a:p>
        </p:txBody>
      </p:sp>
      <p:sp>
        <p:nvSpPr>
          <p:cNvPr name="TextBox 35" id="35"/>
          <p:cNvSpPr txBox="true"/>
          <p:nvPr/>
        </p:nvSpPr>
        <p:spPr>
          <a:xfrm rot="0">
            <a:off x="9889304" y="3512639"/>
            <a:ext cx="1522662" cy="519097"/>
          </a:xfrm>
          <a:prstGeom prst="rect">
            <a:avLst/>
          </a:prstGeom>
        </p:spPr>
        <p:txBody>
          <a:bodyPr anchor="t" rtlCol="false" tIns="0" lIns="0" bIns="0" rIns="0">
            <a:spAutoFit/>
          </a:bodyPr>
          <a:lstStyle/>
          <a:p>
            <a:pPr algn="ctr">
              <a:lnSpc>
                <a:spcPts val="3952"/>
              </a:lnSpc>
              <a:spcBef>
                <a:spcPct val="0"/>
              </a:spcBef>
            </a:pPr>
            <a:r>
              <a:rPr lang="en-US" b="true" sz="3294">
                <a:solidFill>
                  <a:srgbClr val="000000"/>
                </a:solidFill>
                <a:latin typeface="Ubuntu Bold"/>
                <a:ea typeface="Ubuntu Bold"/>
                <a:cs typeface="Ubuntu Bold"/>
                <a:sym typeface="Ubuntu Bold"/>
              </a:rPr>
              <a:t>Tujuan: </a:t>
            </a:r>
          </a:p>
        </p:txBody>
      </p:sp>
      <p:sp>
        <p:nvSpPr>
          <p:cNvPr name="TextBox 36" id="36"/>
          <p:cNvSpPr txBox="true"/>
          <p:nvPr/>
        </p:nvSpPr>
        <p:spPr>
          <a:xfrm rot="0">
            <a:off x="1374026" y="3803137"/>
            <a:ext cx="5632350" cy="438150"/>
          </a:xfrm>
          <a:prstGeom prst="rect">
            <a:avLst/>
          </a:prstGeom>
        </p:spPr>
        <p:txBody>
          <a:bodyPr anchor="t" rtlCol="false" tIns="0" lIns="0" bIns="0" rIns="0">
            <a:spAutoFit/>
          </a:bodyPr>
          <a:lstStyle/>
          <a:p>
            <a:pPr algn="ctr">
              <a:lnSpc>
                <a:spcPts val="3359"/>
              </a:lnSpc>
            </a:pPr>
            <a:r>
              <a:rPr lang="en-US" sz="2799">
                <a:solidFill>
                  <a:srgbClr val="434343"/>
                </a:solidFill>
                <a:latin typeface="Arimo"/>
                <a:ea typeface="Arimo"/>
                <a:cs typeface="Arimo"/>
                <a:sym typeface="Arimo"/>
              </a:rPr>
              <a:t>Goo</a:t>
            </a:r>
            <a:r>
              <a:rPr lang="en-US" sz="2799">
                <a:solidFill>
                  <a:srgbClr val="434343"/>
                </a:solidFill>
                <a:latin typeface="Arimo"/>
                <a:ea typeface="Arimo"/>
                <a:cs typeface="Arimo"/>
                <a:sym typeface="Arimo"/>
              </a:rPr>
              <a:t>gle Form</a:t>
            </a:r>
          </a:p>
        </p:txBody>
      </p:sp>
      <p:sp>
        <p:nvSpPr>
          <p:cNvPr name="TextBox 37" id="37"/>
          <p:cNvSpPr txBox="true"/>
          <p:nvPr/>
        </p:nvSpPr>
        <p:spPr>
          <a:xfrm rot="0">
            <a:off x="2686250" y="2935521"/>
            <a:ext cx="6339161" cy="424174"/>
          </a:xfrm>
          <a:prstGeom prst="rect">
            <a:avLst/>
          </a:prstGeom>
        </p:spPr>
        <p:txBody>
          <a:bodyPr anchor="t" rtlCol="false" tIns="0" lIns="0" bIns="0" rIns="0">
            <a:spAutoFit/>
          </a:bodyPr>
          <a:lstStyle/>
          <a:p>
            <a:pPr algn="ctr">
              <a:lnSpc>
                <a:spcPts val="3247"/>
              </a:lnSpc>
            </a:pPr>
            <a:r>
              <a:rPr lang="en-US" sz="2706">
                <a:solidFill>
                  <a:srgbClr val="434343"/>
                </a:solidFill>
                <a:latin typeface="Arimo"/>
                <a:ea typeface="Arimo"/>
                <a:cs typeface="Arimo"/>
                <a:sym typeface="Arimo"/>
              </a:rPr>
              <a:t> O</a:t>
            </a:r>
            <a:r>
              <a:rPr lang="en-US" sz="2706">
                <a:solidFill>
                  <a:srgbClr val="434343"/>
                </a:solidFill>
                <a:latin typeface="Arimo"/>
                <a:ea typeface="Arimo"/>
                <a:cs typeface="Arimo"/>
                <a:sym typeface="Arimo"/>
              </a:rPr>
              <a:t>rang tua dengan anak usia 0–2 tahun</a:t>
            </a:r>
          </a:p>
        </p:txBody>
      </p:sp>
      <p:sp>
        <p:nvSpPr>
          <p:cNvPr name="TextBox 38" id="38"/>
          <p:cNvSpPr txBox="true"/>
          <p:nvPr/>
        </p:nvSpPr>
        <p:spPr>
          <a:xfrm rot="0">
            <a:off x="11235992" y="3003770"/>
            <a:ext cx="6339161" cy="424174"/>
          </a:xfrm>
          <a:prstGeom prst="rect">
            <a:avLst/>
          </a:prstGeom>
        </p:spPr>
        <p:txBody>
          <a:bodyPr anchor="t" rtlCol="false" tIns="0" lIns="0" bIns="0" rIns="0">
            <a:spAutoFit/>
          </a:bodyPr>
          <a:lstStyle/>
          <a:p>
            <a:pPr algn="ctr">
              <a:lnSpc>
                <a:spcPts val="3247"/>
              </a:lnSpc>
            </a:pPr>
            <a:r>
              <a:rPr lang="en-US" sz="2706">
                <a:solidFill>
                  <a:srgbClr val="434343"/>
                </a:solidFill>
                <a:latin typeface="Arimo"/>
                <a:ea typeface="Arimo"/>
                <a:cs typeface="Arimo"/>
                <a:sym typeface="Arimo"/>
              </a:rPr>
              <a:t>23 orang</a:t>
            </a:r>
          </a:p>
        </p:txBody>
      </p:sp>
      <p:sp>
        <p:nvSpPr>
          <p:cNvPr name="TextBox 39" id="39"/>
          <p:cNvSpPr txBox="true"/>
          <p:nvPr/>
        </p:nvSpPr>
        <p:spPr>
          <a:xfrm rot="0">
            <a:off x="11730918" y="3485481"/>
            <a:ext cx="6339161" cy="1247775"/>
          </a:xfrm>
          <a:prstGeom prst="rect">
            <a:avLst/>
          </a:prstGeom>
        </p:spPr>
        <p:txBody>
          <a:bodyPr anchor="t" rtlCol="false" tIns="0" lIns="0" bIns="0" rIns="0">
            <a:spAutoFit/>
          </a:bodyPr>
          <a:lstStyle/>
          <a:p>
            <a:pPr algn="l">
              <a:lnSpc>
                <a:spcPts val="3247"/>
              </a:lnSpc>
            </a:pPr>
            <a:r>
              <a:rPr lang="en-US" sz="2706">
                <a:solidFill>
                  <a:srgbClr val="434343"/>
                </a:solidFill>
                <a:latin typeface="Arimo"/>
                <a:ea typeface="Arimo"/>
                <a:cs typeface="Arimo"/>
                <a:sym typeface="Arimo"/>
              </a:rPr>
              <a:t> Memahami pe</a:t>
            </a:r>
            <a:r>
              <a:rPr lang="en-US" sz="2706">
                <a:solidFill>
                  <a:srgbClr val="434343"/>
                </a:solidFill>
                <a:latin typeface="Arimo"/>
                <a:ea typeface="Arimo"/>
                <a:cs typeface="Arimo"/>
                <a:sym typeface="Arimo"/>
              </a:rPr>
              <a:t>rilaku, kendala, dan kebutuhan dalam mengelola jadwal imunisasi anak</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5994061" y="-1005133"/>
            <a:ext cx="2408239" cy="2189042"/>
          </a:xfrm>
          <a:custGeom>
            <a:avLst/>
            <a:gdLst/>
            <a:ahLst/>
            <a:cxnLst/>
            <a:rect r="r" b="b" t="t" l="l"/>
            <a:pathLst>
              <a:path h="2189042" w="2408239">
                <a:moveTo>
                  <a:pt x="0" y="0"/>
                </a:moveTo>
                <a:lnTo>
                  <a:pt x="2408239" y="0"/>
                </a:lnTo>
                <a:lnTo>
                  <a:pt x="2408239" y="2189042"/>
                </a:lnTo>
                <a:lnTo>
                  <a:pt x="0" y="21890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7075158" y="-528279"/>
            <a:ext cx="2732598" cy="2877119"/>
          </a:xfrm>
          <a:custGeom>
            <a:avLst/>
            <a:gdLst/>
            <a:ahLst/>
            <a:cxnLst/>
            <a:rect r="r" b="b" t="t" l="l"/>
            <a:pathLst>
              <a:path h="2877119" w="2732598">
                <a:moveTo>
                  <a:pt x="0" y="0"/>
                </a:moveTo>
                <a:lnTo>
                  <a:pt x="2732598" y="0"/>
                </a:lnTo>
                <a:lnTo>
                  <a:pt x="2732598" y="2877119"/>
                </a:lnTo>
                <a:lnTo>
                  <a:pt x="0" y="28771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8761126" y="4551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7252976" y="2882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4683476" y="2982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7252976" y="78859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6726976" y="95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993126" y="298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683726" y="288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703162" y="334802"/>
            <a:ext cx="16697223" cy="1091924"/>
          </a:xfrm>
          <a:prstGeom prst="rect">
            <a:avLst/>
          </a:prstGeom>
        </p:spPr>
        <p:txBody>
          <a:bodyPr anchor="t" rtlCol="false" tIns="0" lIns="0" bIns="0" rIns="0">
            <a:spAutoFit/>
          </a:bodyPr>
          <a:lstStyle/>
          <a:p>
            <a:pPr algn="r">
              <a:lnSpc>
                <a:spcPts val="8405"/>
              </a:lnSpc>
            </a:pPr>
            <a:r>
              <a:rPr lang="en-US" b="true" sz="7004">
                <a:solidFill>
                  <a:srgbClr val="073763"/>
                </a:solidFill>
                <a:latin typeface="Ubuntu Bold"/>
                <a:ea typeface="Ubuntu Bold"/>
                <a:cs typeface="Ubuntu Bold"/>
                <a:sym typeface="Ubuntu Bold"/>
              </a:rPr>
              <a:t>Behavior</a:t>
            </a:r>
            <a:r>
              <a:rPr lang="en-US" b="true" sz="7004">
                <a:solidFill>
                  <a:srgbClr val="073763"/>
                </a:solidFill>
                <a:latin typeface="Ubuntu Bold"/>
                <a:ea typeface="Ubuntu Bold"/>
                <a:cs typeface="Ubuntu Bold"/>
                <a:sym typeface="Ubuntu Bold"/>
              </a:rPr>
              <a:t> (Perilaku Pengguna)</a:t>
            </a:r>
          </a:p>
        </p:txBody>
      </p:sp>
      <p:sp>
        <p:nvSpPr>
          <p:cNvPr name="TextBox 12" id="12"/>
          <p:cNvSpPr txBox="true"/>
          <p:nvPr/>
        </p:nvSpPr>
        <p:spPr>
          <a:xfrm rot="0">
            <a:off x="-1471527" y="1527700"/>
            <a:ext cx="9909481" cy="1480077"/>
          </a:xfrm>
          <a:prstGeom prst="rect">
            <a:avLst/>
          </a:prstGeom>
        </p:spPr>
        <p:txBody>
          <a:bodyPr anchor="t" rtlCol="false" tIns="0" lIns="0" bIns="0" rIns="0">
            <a:spAutoFit/>
          </a:bodyPr>
          <a:lstStyle/>
          <a:p>
            <a:pPr algn="r">
              <a:lnSpc>
                <a:spcPts val="3874"/>
              </a:lnSpc>
            </a:pPr>
            <a:r>
              <a:rPr lang="en-US" b="true" sz="3229">
                <a:solidFill>
                  <a:srgbClr val="073763"/>
                </a:solidFill>
                <a:latin typeface="Ubuntu Bold"/>
                <a:ea typeface="Ubuntu Bold"/>
                <a:cs typeface="Ubuntu Bold"/>
                <a:sym typeface="Ubuntu Bold"/>
              </a:rPr>
              <a:t>Temuan Perilaku Utama:</a:t>
            </a:r>
          </a:p>
          <a:p>
            <a:pPr algn="r">
              <a:lnSpc>
                <a:spcPts val="3874"/>
              </a:lnSpc>
            </a:pPr>
          </a:p>
          <a:p>
            <a:pPr algn="r">
              <a:lnSpc>
                <a:spcPts val="3874"/>
              </a:lnSpc>
            </a:pPr>
          </a:p>
        </p:txBody>
      </p:sp>
      <p:sp>
        <p:nvSpPr>
          <p:cNvPr name="TextBox 13" id="13"/>
          <p:cNvSpPr txBox="true"/>
          <p:nvPr/>
        </p:nvSpPr>
        <p:spPr>
          <a:xfrm rot="0">
            <a:off x="3398026" y="2039601"/>
            <a:ext cx="13367308" cy="2952750"/>
          </a:xfrm>
          <a:prstGeom prst="rect">
            <a:avLst/>
          </a:prstGeom>
        </p:spPr>
        <p:txBody>
          <a:bodyPr anchor="t" rtlCol="false" tIns="0" lIns="0" bIns="0" rIns="0">
            <a:spAutoFit/>
          </a:bodyPr>
          <a:lstStyle/>
          <a:p>
            <a:pPr algn="just" marL="604519" indent="-302260" lvl="1">
              <a:lnSpc>
                <a:spcPts val="3359"/>
              </a:lnSpc>
              <a:buFont typeface="Arial"/>
              <a:buChar char="•"/>
            </a:pPr>
            <a:r>
              <a:rPr lang="en-US" sz="2799">
                <a:solidFill>
                  <a:srgbClr val="434343"/>
                </a:solidFill>
                <a:latin typeface="Arimo"/>
                <a:ea typeface="Arimo"/>
                <a:cs typeface="Arimo"/>
                <a:sym typeface="Arimo"/>
              </a:rPr>
              <a:t>Mayoritas responden mengetahui jadwal imunisasi dari Buku KIA</a:t>
            </a:r>
          </a:p>
          <a:p>
            <a:pPr algn="just" marL="604519" indent="-302260" lvl="1">
              <a:lnSpc>
                <a:spcPts val="3359"/>
              </a:lnSpc>
              <a:buFont typeface="Arial"/>
              <a:buChar char="•"/>
            </a:pPr>
            <a:r>
              <a:rPr lang="en-US" sz="2799">
                <a:solidFill>
                  <a:srgbClr val="434343"/>
                </a:solidFill>
                <a:latin typeface="Arimo"/>
                <a:ea typeface="Arimo"/>
                <a:cs typeface="Arimo"/>
                <a:sym typeface="Arimo"/>
              </a:rPr>
              <a:t>Sebagian responden juga mengandalkan tenaga kesehatan dan internet</a:t>
            </a:r>
          </a:p>
          <a:p>
            <a:pPr algn="just" marL="604519" indent="-302260" lvl="1">
              <a:lnSpc>
                <a:spcPts val="3359"/>
              </a:lnSpc>
              <a:buFont typeface="Arial"/>
              <a:buChar char="•"/>
            </a:pPr>
            <a:r>
              <a:rPr lang="en-US" sz="2799">
                <a:solidFill>
                  <a:srgbClr val="434343"/>
                </a:solidFill>
                <a:latin typeface="Arimo"/>
                <a:ea typeface="Arimo"/>
                <a:cs typeface="Arimo"/>
                <a:sym typeface="Arimo"/>
              </a:rPr>
              <a:t>Sebagian besar responden mengecek jadwal secara berkala, namun belum konsisten</a:t>
            </a:r>
          </a:p>
          <a:p>
            <a:pPr algn="just" marL="604520" indent="-302260" lvl="1">
              <a:lnSpc>
                <a:spcPts val="3359"/>
              </a:lnSpc>
              <a:buFont typeface="Arial"/>
              <a:buChar char="•"/>
            </a:pPr>
            <a:r>
              <a:rPr lang="en-US" sz="2799">
                <a:solidFill>
                  <a:srgbClr val="434343"/>
                </a:solidFill>
                <a:latin typeface="Arimo"/>
                <a:ea typeface="Arimo"/>
                <a:cs typeface="Arimo"/>
                <a:sym typeface="Arimo"/>
              </a:rPr>
              <a:t>Setelah imunisasi, pencatatan masih dilakukan secara manual atau hanya mengandalkan ingatan</a:t>
            </a:r>
          </a:p>
          <a:p>
            <a:pPr algn="just">
              <a:lnSpc>
                <a:spcPts val="3359"/>
              </a:lnSpc>
            </a:pPr>
          </a:p>
        </p:txBody>
      </p:sp>
      <p:sp>
        <p:nvSpPr>
          <p:cNvPr name="Freeform 14" id="14"/>
          <p:cNvSpPr/>
          <p:nvPr/>
        </p:nvSpPr>
        <p:spPr>
          <a:xfrm flipH="false" flipV="false" rot="0">
            <a:off x="912326" y="298026"/>
            <a:ext cx="1950272" cy="2348840"/>
          </a:xfrm>
          <a:custGeom>
            <a:avLst/>
            <a:gdLst/>
            <a:ahLst/>
            <a:cxnLst/>
            <a:rect r="r" b="b" t="t" l="l"/>
            <a:pathLst>
              <a:path h="2348840" w="1950272">
                <a:moveTo>
                  <a:pt x="0" y="0"/>
                </a:moveTo>
                <a:lnTo>
                  <a:pt x="1950272" y="0"/>
                </a:lnTo>
                <a:lnTo>
                  <a:pt x="1950272" y="2348840"/>
                </a:lnTo>
                <a:lnTo>
                  <a:pt x="0" y="23488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506765" y="2272501"/>
            <a:ext cx="608105" cy="384541"/>
          </a:xfrm>
          <a:custGeom>
            <a:avLst/>
            <a:gdLst/>
            <a:ahLst/>
            <a:cxnLst/>
            <a:rect r="r" b="b" t="t" l="l"/>
            <a:pathLst>
              <a:path h="384541" w="608105">
                <a:moveTo>
                  <a:pt x="0" y="0"/>
                </a:moveTo>
                <a:lnTo>
                  <a:pt x="608105" y="0"/>
                </a:lnTo>
                <a:lnTo>
                  <a:pt x="608105" y="384541"/>
                </a:lnTo>
                <a:lnTo>
                  <a:pt x="0" y="3845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2605719" y="1995959"/>
            <a:ext cx="513758" cy="553084"/>
          </a:xfrm>
          <a:custGeom>
            <a:avLst/>
            <a:gdLst/>
            <a:ahLst/>
            <a:cxnLst/>
            <a:rect r="r" b="b" t="t" l="l"/>
            <a:pathLst>
              <a:path h="553084" w="513758">
                <a:moveTo>
                  <a:pt x="0" y="0"/>
                </a:moveTo>
                <a:lnTo>
                  <a:pt x="513758" y="0"/>
                </a:lnTo>
                <a:lnTo>
                  <a:pt x="513758" y="553084"/>
                </a:lnTo>
                <a:lnTo>
                  <a:pt x="0" y="55308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884107" y="1821954"/>
            <a:ext cx="461527" cy="450547"/>
          </a:xfrm>
          <a:custGeom>
            <a:avLst/>
            <a:gdLst/>
            <a:ahLst/>
            <a:cxnLst/>
            <a:rect r="r" b="b" t="t" l="l"/>
            <a:pathLst>
              <a:path h="450547" w="461527">
                <a:moveTo>
                  <a:pt x="0" y="0"/>
                </a:moveTo>
                <a:lnTo>
                  <a:pt x="461527" y="0"/>
                </a:lnTo>
                <a:lnTo>
                  <a:pt x="461527" y="450547"/>
                </a:lnTo>
                <a:lnTo>
                  <a:pt x="0" y="45054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3398026" y="80013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338895" y="5404935"/>
            <a:ext cx="9603562" cy="4674750"/>
          </a:xfrm>
          <a:custGeom>
            <a:avLst/>
            <a:gdLst/>
            <a:ahLst/>
            <a:cxnLst/>
            <a:rect r="r" b="b" t="t" l="l"/>
            <a:pathLst>
              <a:path h="4674750" w="9603562">
                <a:moveTo>
                  <a:pt x="0" y="0"/>
                </a:moveTo>
                <a:lnTo>
                  <a:pt x="9603562" y="0"/>
                </a:lnTo>
                <a:lnTo>
                  <a:pt x="9603562" y="4674750"/>
                </a:lnTo>
                <a:lnTo>
                  <a:pt x="0" y="4674750"/>
                </a:lnTo>
                <a:lnTo>
                  <a:pt x="0" y="0"/>
                </a:lnTo>
                <a:close/>
              </a:path>
            </a:pathLst>
          </a:custGeom>
          <a:blipFill>
            <a:blip r:embed="rId18"/>
            <a:stretch>
              <a:fillRect l="0" t="0" r="0" b="0"/>
            </a:stretch>
          </a:blipFill>
        </p:spPr>
      </p:sp>
      <p:sp>
        <p:nvSpPr>
          <p:cNvPr name="Freeform 20" id="20"/>
          <p:cNvSpPr/>
          <p:nvPr/>
        </p:nvSpPr>
        <p:spPr>
          <a:xfrm flipH="false" flipV="false" rot="0">
            <a:off x="10679525" y="5637884"/>
            <a:ext cx="4165991" cy="4396192"/>
          </a:xfrm>
          <a:custGeom>
            <a:avLst/>
            <a:gdLst/>
            <a:ahLst/>
            <a:cxnLst/>
            <a:rect r="r" b="b" t="t" l="l"/>
            <a:pathLst>
              <a:path h="4396192" w="4165991">
                <a:moveTo>
                  <a:pt x="0" y="0"/>
                </a:moveTo>
                <a:lnTo>
                  <a:pt x="4165991" y="0"/>
                </a:lnTo>
                <a:lnTo>
                  <a:pt x="4165991" y="4396192"/>
                </a:lnTo>
                <a:lnTo>
                  <a:pt x="0" y="4396192"/>
                </a:lnTo>
                <a:lnTo>
                  <a:pt x="0" y="0"/>
                </a:lnTo>
                <a:close/>
              </a:path>
            </a:pathLst>
          </a:custGeom>
          <a:blipFill>
            <a:blip r:embed="rId19"/>
            <a:stretch>
              <a:fillRect l="-3145" t="0" r="-132105" b="0"/>
            </a:stretch>
          </a:blipFill>
        </p:spPr>
      </p:sp>
      <p:sp>
        <p:nvSpPr>
          <p:cNvPr name="Freeform 21" id="21"/>
          <p:cNvSpPr/>
          <p:nvPr/>
        </p:nvSpPr>
        <p:spPr>
          <a:xfrm flipH="false" flipV="false" rot="0">
            <a:off x="15107592" y="5704559"/>
            <a:ext cx="2864660" cy="1694006"/>
          </a:xfrm>
          <a:custGeom>
            <a:avLst/>
            <a:gdLst/>
            <a:ahLst/>
            <a:cxnLst/>
            <a:rect r="r" b="b" t="t" l="l"/>
            <a:pathLst>
              <a:path h="1694006" w="2864660">
                <a:moveTo>
                  <a:pt x="0" y="0"/>
                </a:moveTo>
                <a:lnTo>
                  <a:pt x="2864660" y="0"/>
                </a:lnTo>
                <a:lnTo>
                  <a:pt x="2864660" y="1694006"/>
                </a:lnTo>
                <a:lnTo>
                  <a:pt x="0" y="1694006"/>
                </a:lnTo>
                <a:lnTo>
                  <a:pt x="0" y="0"/>
                </a:lnTo>
                <a:close/>
              </a:path>
            </a:pathLst>
          </a:custGeom>
          <a:blipFill>
            <a:blip r:embed="rId20"/>
            <a:stretch>
              <a:fillRect l="0" t="0" r="0" b="0"/>
            </a:stretch>
          </a:blipFill>
        </p:spPr>
      </p:sp>
      <p:sp>
        <p:nvSpPr>
          <p:cNvPr name="TextBox 22" id="22"/>
          <p:cNvSpPr txBox="true"/>
          <p:nvPr/>
        </p:nvSpPr>
        <p:spPr>
          <a:xfrm rot="0">
            <a:off x="-1471527" y="4973301"/>
            <a:ext cx="9033396" cy="912745"/>
          </a:xfrm>
          <a:prstGeom prst="rect">
            <a:avLst/>
          </a:prstGeom>
        </p:spPr>
        <p:txBody>
          <a:bodyPr anchor="t" rtlCol="false" tIns="0" lIns="0" bIns="0" rIns="0">
            <a:spAutoFit/>
          </a:bodyPr>
          <a:lstStyle/>
          <a:p>
            <a:pPr algn="r">
              <a:lnSpc>
                <a:spcPts val="3532"/>
              </a:lnSpc>
            </a:pPr>
            <a:r>
              <a:rPr lang="en-US" b="true" sz="2943">
                <a:solidFill>
                  <a:srgbClr val="073763"/>
                </a:solidFill>
                <a:latin typeface="Ubuntu Bold"/>
                <a:ea typeface="Ubuntu Bold"/>
                <a:cs typeface="Ubuntu Bold"/>
                <a:sym typeface="Ubuntu Bold"/>
              </a:rPr>
              <a:t>Sumb</a:t>
            </a:r>
            <a:r>
              <a:rPr lang="en-US" b="true" sz="2943">
                <a:solidFill>
                  <a:srgbClr val="073763"/>
                </a:solidFill>
                <a:latin typeface="Ubuntu Bold"/>
                <a:ea typeface="Ubuntu Bold"/>
                <a:cs typeface="Ubuntu Bold"/>
                <a:sym typeface="Ubuntu Bold"/>
              </a:rPr>
              <a:t>er Informasi Jadwal Imunisasi Anak</a:t>
            </a:r>
          </a:p>
          <a:p>
            <a:pPr algn="r">
              <a:lnSpc>
                <a:spcPts val="3532"/>
              </a:lnSpc>
            </a:pPr>
          </a:p>
        </p:txBody>
      </p:sp>
      <p:sp>
        <p:nvSpPr>
          <p:cNvPr name="TextBox 23" id="23"/>
          <p:cNvSpPr txBox="true"/>
          <p:nvPr/>
        </p:nvSpPr>
        <p:spPr>
          <a:xfrm rot="0">
            <a:off x="8761126" y="4973301"/>
            <a:ext cx="9033396" cy="465897"/>
          </a:xfrm>
          <a:prstGeom prst="rect">
            <a:avLst/>
          </a:prstGeom>
        </p:spPr>
        <p:txBody>
          <a:bodyPr anchor="t" rtlCol="false" tIns="0" lIns="0" bIns="0" rIns="0">
            <a:spAutoFit/>
          </a:bodyPr>
          <a:lstStyle/>
          <a:p>
            <a:pPr algn="r">
              <a:lnSpc>
                <a:spcPts val="3532"/>
              </a:lnSpc>
            </a:pPr>
            <a:r>
              <a:rPr lang="en-US" b="true" sz="2943">
                <a:solidFill>
                  <a:srgbClr val="073763"/>
                </a:solidFill>
                <a:latin typeface="Ubuntu Bold"/>
                <a:ea typeface="Ubuntu Bold"/>
                <a:cs typeface="Ubuntu Bold"/>
                <a:sym typeface="Ubuntu Bold"/>
              </a:rPr>
              <a:t>Freku</a:t>
            </a:r>
            <a:r>
              <a:rPr lang="en-US" b="true" sz="2943">
                <a:solidFill>
                  <a:srgbClr val="073763"/>
                </a:solidFill>
                <a:latin typeface="Ubuntu Bold"/>
                <a:ea typeface="Ubuntu Bold"/>
                <a:cs typeface="Ubuntu Bold"/>
                <a:sym typeface="Ubuntu Bold"/>
              </a:rPr>
              <a:t>ensi Pengecekan Jadwal Imunisasi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553434" y="8474193"/>
            <a:ext cx="3942606" cy="2040433"/>
          </a:xfrm>
          <a:custGeom>
            <a:avLst/>
            <a:gdLst/>
            <a:ahLst/>
            <a:cxnLst/>
            <a:rect r="r" b="b" t="t" l="l"/>
            <a:pathLst>
              <a:path h="2040433" w="3942606">
                <a:moveTo>
                  <a:pt x="0" y="0"/>
                </a:moveTo>
                <a:lnTo>
                  <a:pt x="3942606" y="0"/>
                </a:lnTo>
                <a:lnTo>
                  <a:pt x="3942606" y="2040433"/>
                </a:lnTo>
                <a:lnTo>
                  <a:pt x="0" y="20404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8420470" y="2857354"/>
            <a:ext cx="12503451" cy="7657276"/>
          </a:xfrm>
          <a:custGeom>
            <a:avLst/>
            <a:gdLst/>
            <a:ahLst/>
            <a:cxnLst/>
            <a:rect r="r" b="b" t="t" l="l"/>
            <a:pathLst>
              <a:path h="7657276" w="12503451">
                <a:moveTo>
                  <a:pt x="0" y="0"/>
                </a:moveTo>
                <a:lnTo>
                  <a:pt x="12503451" y="0"/>
                </a:lnTo>
                <a:lnTo>
                  <a:pt x="12503451" y="7657276"/>
                </a:lnTo>
                <a:lnTo>
                  <a:pt x="0" y="76572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338226" y="80482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6618176" y="8773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539726" y="2985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8272126" y="7537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605726" y="4408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02576" y="3996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5616830" y="698983"/>
            <a:ext cx="926298" cy="918219"/>
          </a:xfrm>
          <a:custGeom>
            <a:avLst/>
            <a:gdLst/>
            <a:ahLst/>
            <a:cxnLst/>
            <a:rect r="r" b="b" t="t" l="l"/>
            <a:pathLst>
              <a:path h="918219" w="926298">
                <a:moveTo>
                  <a:pt x="0" y="0"/>
                </a:moveTo>
                <a:lnTo>
                  <a:pt x="926298" y="0"/>
                </a:lnTo>
                <a:lnTo>
                  <a:pt x="926298" y="918219"/>
                </a:lnTo>
                <a:lnTo>
                  <a:pt x="0" y="91821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16982326" y="5377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485629" y="9098299"/>
            <a:ext cx="714180" cy="697190"/>
          </a:xfrm>
          <a:custGeom>
            <a:avLst/>
            <a:gdLst/>
            <a:ahLst/>
            <a:cxnLst/>
            <a:rect r="r" b="b" t="t" l="l"/>
            <a:pathLst>
              <a:path h="697190" w="714180">
                <a:moveTo>
                  <a:pt x="0" y="0"/>
                </a:moveTo>
                <a:lnTo>
                  <a:pt x="714180" y="0"/>
                </a:lnTo>
                <a:lnTo>
                  <a:pt x="714180" y="697190"/>
                </a:lnTo>
                <a:lnTo>
                  <a:pt x="0" y="69719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8" id="18"/>
          <p:cNvSpPr/>
          <p:nvPr/>
        </p:nvSpPr>
        <p:spPr>
          <a:xfrm flipH="false" flipV="false" rot="0">
            <a:off x="17481179" y="446123"/>
            <a:ext cx="714180" cy="697190"/>
          </a:xfrm>
          <a:custGeom>
            <a:avLst/>
            <a:gdLst/>
            <a:ahLst/>
            <a:cxnLst/>
            <a:rect r="r" b="b" t="t" l="l"/>
            <a:pathLst>
              <a:path h="697190" w="714180">
                <a:moveTo>
                  <a:pt x="0" y="0"/>
                </a:moveTo>
                <a:lnTo>
                  <a:pt x="714180" y="0"/>
                </a:lnTo>
                <a:lnTo>
                  <a:pt x="714180" y="697190"/>
                </a:lnTo>
                <a:lnTo>
                  <a:pt x="0" y="69719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9" id="19"/>
          <p:cNvSpPr/>
          <p:nvPr/>
        </p:nvSpPr>
        <p:spPr>
          <a:xfrm flipH="false" flipV="false" rot="0">
            <a:off x="859724" y="8591935"/>
            <a:ext cx="871562" cy="854959"/>
          </a:xfrm>
          <a:custGeom>
            <a:avLst/>
            <a:gdLst/>
            <a:ahLst/>
            <a:cxnLst/>
            <a:rect r="r" b="b" t="t" l="l"/>
            <a:pathLst>
              <a:path h="854959" w="871562">
                <a:moveTo>
                  <a:pt x="0" y="0"/>
                </a:moveTo>
                <a:lnTo>
                  <a:pt x="871562" y="0"/>
                </a:lnTo>
                <a:lnTo>
                  <a:pt x="871562" y="854959"/>
                </a:lnTo>
                <a:lnTo>
                  <a:pt x="0" y="85495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0" id="20"/>
          <p:cNvSpPr/>
          <p:nvPr/>
        </p:nvSpPr>
        <p:spPr>
          <a:xfrm flipH="false" flipV="false" rot="0">
            <a:off x="2005437" y="9345977"/>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1" id="21"/>
          <p:cNvSpPr/>
          <p:nvPr/>
        </p:nvSpPr>
        <p:spPr>
          <a:xfrm flipH="false" flipV="false" rot="0">
            <a:off x="1259776" y="9345977"/>
            <a:ext cx="943020" cy="638695"/>
          </a:xfrm>
          <a:custGeom>
            <a:avLst/>
            <a:gdLst/>
            <a:ahLst/>
            <a:cxnLst/>
            <a:rect r="r" b="b" t="t" l="l"/>
            <a:pathLst>
              <a:path h="638695" w="943020">
                <a:moveTo>
                  <a:pt x="0" y="0"/>
                </a:moveTo>
                <a:lnTo>
                  <a:pt x="943020" y="0"/>
                </a:lnTo>
                <a:lnTo>
                  <a:pt x="943020" y="638694"/>
                </a:lnTo>
                <a:lnTo>
                  <a:pt x="0" y="638694"/>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22" id="22"/>
          <p:cNvSpPr/>
          <p:nvPr/>
        </p:nvSpPr>
        <p:spPr>
          <a:xfrm flipH="false" flipV="false" rot="0">
            <a:off x="636005" y="4994412"/>
            <a:ext cx="5982171" cy="4263888"/>
          </a:xfrm>
          <a:custGeom>
            <a:avLst/>
            <a:gdLst/>
            <a:ahLst/>
            <a:cxnLst/>
            <a:rect r="r" b="b" t="t" l="l"/>
            <a:pathLst>
              <a:path h="4263888" w="5982171">
                <a:moveTo>
                  <a:pt x="0" y="0"/>
                </a:moveTo>
                <a:lnTo>
                  <a:pt x="5982171" y="0"/>
                </a:lnTo>
                <a:lnTo>
                  <a:pt x="5982171" y="4263888"/>
                </a:lnTo>
                <a:lnTo>
                  <a:pt x="0" y="4263888"/>
                </a:lnTo>
                <a:lnTo>
                  <a:pt x="0" y="0"/>
                </a:lnTo>
                <a:close/>
              </a:path>
            </a:pathLst>
          </a:custGeom>
          <a:blipFill>
            <a:blip r:embed="rId30"/>
            <a:stretch>
              <a:fillRect l="0" t="0" r="0" b="0"/>
            </a:stretch>
          </a:blipFill>
        </p:spPr>
      </p:sp>
      <p:sp>
        <p:nvSpPr>
          <p:cNvPr name="Freeform 23" id="23"/>
          <p:cNvSpPr/>
          <p:nvPr/>
        </p:nvSpPr>
        <p:spPr>
          <a:xfrm flipH="false" flipV="false" rot="0">
            <a:off x="7075376" y="4671295"/>
            <a:ext cx="10731296" cy="5124194"/>
          </a:xfrm>
          <a:custGeom>
            <a:avLst/>
            <a:gdLst/>
            <a:ahLst/>
            <a:cxnLst/>
            <a:rect r="r" b="b" t="t" l="l"/>
            <a:pathLst>
              <a:path h="5124194" w="10731296">
                <a:moveTo>
                  <a:pt x="0" y="0"/>
                </a:moveTo>
                <a:lnTo>
                  <a:pt x="10731296" y="0"/>
                </a:lnTo>
                <a:lnTo>
                  <a:pt x="10731296" y="5124194"/>
                </a:lnTo>
                <a:lnTo>
                  <a:pt x="0" y="5124194"/>
                </a:lnTo>
                <a:lnTo>
                  <a:pt x="0" y="0"/>
                </a:lnTo>
                <a:close/>
              </a:path>
            </a:pathLst>
          </a:custGeom>
          <a:blipFill>
            <a:blip r:embed="rId31"/>
            <a:stretch>
              <a:fillRect l="0" t="0" r="0" b="0"/>
            </a:stretch>
          </a:blipFill>
        </p:spPr>
      </p:sp>
      <p:sp>
        <p:nvSpPr>
          <p:cNvPr name="TextBox 24" id="24"/>
          <p:cNvSpPr txBox="true"/>
          <p:nvPr/>
        </p:nvSpPr>
        <p:spPr>
          <a:xfrm rot="0">
            <a:off x="6182851" y="152713"/>
            <a:ext cx="15225150" cy="990600"/>
          </a:xfrm>
          <a:prstGeom prst="rect">
            <a:avLst/>
          </a:prstGeom>
        </p:spPr>
        <p:txBody>
          <a:bodyPr anchor="t" rtlCol="false" tIns="0" lIns="0" bIns="0" rIns="0">
            <a:spAutoFit/>
          </a:bodyPr>
          <a:lstStyle/>
          <a:p>
            <a:pPr algn="l">
              <a:lnSpc>
                <a:spcPts val="7680"/>
              </a:lnSpc>
            </a:pPr>
            <a:r>
              <a:rPr lang="en-US" b="true" sz="6400">
                <a:solidFill>
                  <a:srgbClr val="2F878A"/>
                </a:solidFill>
                <a:latin typeface="Ubuntu Bold"/>
                <a:ea typeface="Ubuntu Bold"/>
                <a:cs typeface="Ubuntu Bold"/>
                <a:sym typeface="Ubuntu Bold"/>
              </a:rPr>
              <a:t>Pain</a:t>
            </a:r>
            <a:r>
              <a:rPr lang="en-US" b="true" sz="6400">
                <a:solidFill>
                  <a:srgbClr val="2F878A"/>
                </a:solidFill>
                <a:latin typeface="Ubuntu Bold"/>
                <a:ea typeface="Ubuntu Bold"/>
                <a:cs typeface="Ubuntu Bold"/>
                <a:sym typeface="Ubuntu Bold"/>
              </a:rPr>
              <a:t> Points </a:t>
            </a:r>
          </a:p>
        </p:txBody>
      </p:sp>
      <p:sp>
        <p:nvSpPr>
          <p:cNvPr name="TextBox 25" id="25"/>
          <p:cNvSpPr txBox="true"/>
          <p:nvPr/>
        </p:nvSpPr>
        <p:spPr>
          <a:xfrm rot="0">
            <a:off x="1199809" y="1297213"/>
            <a:ext cx="7468944" cy="657841"/>
          </a:xfrm>
          <a:prstGeom prst="rect">
            <a:avLst/>
          </a:prstGeom>
        </p:spPr>
        <p:txBody>
          <a:bodyPr anchor="t" rtlCol="false" tIns="0" lIns="0" bIns="0" rIns="0">
            <a:spAutoFit/>
          </a:bodyPr>
          <a:lstStyle/>
          <a:p>
            <a:pPr algn="ctr">
              <a:lnSpc>
                <a:spcPts val="5169"/>
              </a:lnSpc>
            </a:pPr>
            <a:r>
              <a:rPr lang="en-US" b="true" sz="4307">
                <a:solidFill>
                  <a:srgbClr val="073763"/>
                </a:solidFill>
                <a:latin typeface="Ubuntu Bold"/>
                <a:ea typeface="Ubuntu Bold"/>
                <a:cs typeface="Ubuntu Bold"/>
                <a:sym typeface="Ubuntu Bold"/>
              </a:rPr>
              <a:t>Masalah ya</a:t>
            </a:r>
            <a:r>
              <a:rPr lang="en-US" b="true" sz="4307">
                <a:solidFill>
                  <a:srgbClr val="073763"/>
                </a:solidFill>
                <a:latin typeface="Ubuntu Bold"/>
                <a:ea typeface="Ubuntu Bold"/>
                <a:cs typeface="Ubuntu Bold"/>
                <a:sym typeface="Ubuntu Bold"/>
              </a:rPr>
              <a:t>ng Ditemukan:</a:t>
            </a:r>
          </a:p>
        </p:txBody>
      </p:sp>
      <p:sp>
        <p:nvSpPr>
          <p:cNvPr name="TextBox 26" id="26"/>
          <p:cNvSpPr txBox="true"/>
          <p:nvPr/>
        </p:nvSpPr>
        <p:spPr>
          <a:xfrm rot="0">
            <a:off x="1199809" y="1936004"/>
            <a:ext cx="14694791" cy="3371850"/>
          </a:xfrm>
          <a:prstGeom prst="rect">
            <a:avLst/>
          </a:prstGeom>
        </p:spPr>
        <p:txBody>
          <a:bodyPr anchor="t" rtlCol="false" tIns="0" lIns="0" bIns="0" rIns="0">
            <a:spAutoFit/>
          </a:bodyPr>
          <a:lstStyle/>
          <a:p>
            <a:pPr algn="just" marL="604519" indent="-302260" lvl="1">
              <a:lnSpc>
                <a:spcPts val="3359"/>
              </a:lnSpc>
              <a:buFont typeface="Arial"/>
              <a:buChar char="•"/>
            </a:pPr>
            <a:r>
              <a:rPr lang="en-US" sz="2799">
                <a:solidFill>
                  <a:srgbClr val="434343"/>
                </a:solidFill>
                <a:latin typeface="Arimo"/>
                <a:ea typeface="Arimo"/>
                <a:cs typeface="Arimo"/>
                <a:sym typeface="Arimo"/>
              </a:rPr>
              <a:t>Sebagian respond</a:t>
            </a:r>
            <a:r>
              <a:rPr lang="en-US" sz="2799">
                <a:solidFill>
                  <a:srgbClr val="434343"/>
                </a:solidFill>
                <a:latin typeface="Arimo"/>
                <a:ea typeface="Arimo"/>
                <a:cs typeface="Arimo"/>
                <a:sym typeface="Arimo"/>
              </a:rPr>
              <a:t>en pernah melewatkan jadwal imunisasi anak</a:t>
            </a:r>
          </a:p>
          <a:p>
            <a:pPr algn="just" marL="604519" indent="-302260" lvl="1">
              <a:lnSpc>
                <a:spcPts val="3359"/>
              </a:lnSpc>
              <a:buFont typeface="Arial"/>
              <a:buChar char="•"/>
            </a:pPr>
            <a:r>
              <a:rPr lang="en-US" sz="2799">
                <a:solidFill>
                  <a:srgbClr val="434343"/>
                </a:solidFill>
                <a:latin typeface="Arimo"/>
                <a:ea typeface="Arimo"/>
                <a:cs typeface="Arimo"/>
                <a:sym typeface="Arimo"/>
              </a:rPr>
              <a:t>Penyebab utama yang paling dominan adalah anak sedang sakit (50%)</a:t>
            </a:r>
          </a:p>
          <a:p>
            <a:pPr algn="just" marL="604519" indent="-302260" lvl="1">
              <a:lnSpc>
                <a:spcPts val="3359"/>
              </a:lnSpc>
              <a:buFont typeface="Arial"/>
              <a:buChar char="•"/>
            </a:pPr>
            <a:r>
              <a:rPr lang="en-US" sz="2799">
                <a:solidFill>
                  <a:srgbClr val="434343"/>
                </a:solidFill>
                <a:latin typeface="Arimo"/>
                <a:ea typeface="Arimo"/>
                <a:cs typeface="Arimo"/>
                <a:sym typeface="Arimo"/>
              </a:rPr>
              <a:t>Selain itu, beberapa responden juga mengalami: lupa jadwal, kesibukan</a:t>
            </a:r>
          </a:p>
          <a:p>
            <a:pPr algn="just" marL="604519" indent="-302260" lvl="1">
              <a:lnSpc>
                <a:spcPts val="3359"/>
              </a:lnSpc>
              <a:buFont typeface="Arial"/>
              <a:buChar char="•"/>
            </a:pPr>
            <a:r>
              <a:rPr lang="en-US" sz="2799">
                <a:solidFill>
                  <a:srgbClr val="434343"/>
                </a:solidFill>
                <a:latin typeface="Arimo"/>
                <a:ea typeface="Arimo"/>
                <a:cs typeface="Arimo"/>
                <a:sym typeface="Arimo"/>
              </a:rPr>
              <a:t>Terdapat juga berbagai penyebab lain yang beragam dari responden</a:t>
            </a:r>
          </a:p>
          <a:p>
            <a:pPr algn="just" marL="604519" indent="-302260" lvl="1">
              <a:lnSpc>
                <a:spcPts val="3359"/>
              </a:lnSpc>
              <a:buFont typeface="Arial"/>
              <a:buChar char="•"/>
            </a:pPr>
            <a:r>
              <a:rPr lang="en-US" sz="2799">
                <a:solidFill>
                  <a:srgbClr val="434343"/>
                </a:solidFill>
                <a:latin typeface="Arimo"/>
                <a:ea typeface="Arimo"/>
                <a:cs typeface="Arimo"/>
                <a:sym typeface="Arimo"/>
              </a:rPr>
              <a:t>Hal ini menunjukkan bahwa permasalahan yang dialami tidak hanya berasal dari faktor teknis, tetapi juga kondisi situasional anak</a:t>
            </a:r>
          </a:p>
          <a:p>
            <a:pPr algn="just">
              <a:lnSpc>
                <a:spcPts val="3359"/>
              </a:lnSpc>
            </a:pPr>
          </a:p>
          <a:p>
            <a:pPr algn="ctr">
              <a:lnSpc>
                <a:spcPts val="335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697726" y="753250"/>
            <a:ext cx="15552796" cy="10591848"/>
          </a:xfrm>
          <a:custGeom>
            <a:avLst/>
            <a:gdLst/>
            <a:ahLst/>
            <a:cxnLst/>
            <a:rect r="r" b="b" t="t" l="l"/>
            <a:pathLst>
              <a:path h="10591848" w="15552796">
                <a:moveTo>
                  <a:pt x="0" y="0"/>
                </a:moveTo>
                <a:lnTo>
                  <a:pt x="15552796" y="0"/>
                </a:lnTo>
                <a:lnTo>
                  <a:pt x="15552796" y="10591848"/>
                </a:lnTo>
                <a:lnTo>
                  <a:pt x="0" y="105918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09550" y="7552696"/>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09554" y="7766632"/>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327176" y="9116698"/>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5946476" y="323827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7053892" y="817559"/>
            <a:ext cx="869332" cy="848872"/>
          </a:xfrm>
          <a:custGeom>
            <a:avLst/>
            <a:gdLst/>
            <a:ahLst/>
            <a:cxnLst/>
            <a:rect r="r" b="b" t="t" l="l"/>
            <a:pathLst>
              <a:path h="848872" w="869332">
                <a:moveTo>
                  <a:pt x="0" y="0"/>
                </a:moveTo>
                <a:lnTo>
                  <a:pt x="869332" y="0"/>
                </a:lnTo>
                <a:lnTo>
                  <a:pt x="869332" y="848872"/>
                </a:lnTo>
                <a:lnTo>
                  <a:pt x="0" y="8488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6471073" y="1297431"/>
            <a:ext cx="613304" cy="934024"/>
          </a:xfrm>
          <a:custGeom>
            <a:avLst/>
            <a:gdLst/>
            <a:ahLst/>
            <a:cxnLst/>
            <a:rect r="r" b="b" t="t" l="l"/>
            <a:pathLst>
              <a:path h="934024" w="613304">
                <a:moveTo>
                  <a:pt x="0" y="0"/>
                </a:moveTo>
                <a:lnTo>
                  <a:pt x="613303" y="0"/>
                </a:lnTo>
                <a:lnTo>
                  <a:pt x="613303" y="934025"/>
                </a:lnTo>
                <a:lnTo>
                  <a:pt x="0" y="9340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6089559" y="135396"/>
            <a:ext cx="941712" cy="911514"/>
          </a:xfrm>
          <a:custGeom>
            <a:avLst/>
            <a:gdLst/>
            <a:ahLst/>
            <a:cxnLst/>
            <a:rect r="r" b="b" t="t" l="l"/>
            <a:pathLst>
              <a:path h="911514" w="941712">
                <a:moveTo>
                  <a:pt x="0" y="0"/>
                </a:moveTo>
                <a:lnTo>
                  <a:pt x="941712" y="0"/>
                </a:lnTo>
                <a:lnTo>
                  <a:pt x="941712" y="911513"/>
                </a:lnTo>
                <a:lnTo>
                  <a:pt x="0" y="91151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7778850" y="191342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3033400" y="213362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388790" y="8276855"/>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1445775" y="8275336"/>
            <a:ext cx="871562" cy="854959"/>
          </a:xfrm>
          <a:custGeom>
            <a:avLst/>
            <a:gdLst/>
            <a:ahLst/>
            <a:cxnLst/>
            <a:rect r="r" b="b" t="t" l="l"/>
            <a:pathLst>
              <a:path h="854959" w="871562">
                <a:moveTo>
                  <a:pt x="0" y="0"/>
                </a:moveTo>
                <a:lnTo>
                  <a:pt x="871562" y="0"/>
                </a:lnTo>
                <a:lnTo>
                  <a:pt x="871562" y="854958"/>
                </a:lnTo>
                <a:lnTo>
                  <a:pt x="0" y="8549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4" id="14"/>
          <p:cNvSpPr/>
          <p:nvPr/>
        </p:nvSpPr>
        <p:spPr>
          <a:xfrm flipH="false" flipV="false" rot="0">
            <a:off x="4069700" y="554517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1552650" y="600237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14652576" y="911672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1"/>
                </a:ext>
              </a:extLst>
            </a:blip>
            <a:stretch>
              <a:fillRect l="0" t="0" r="0" b="0"/>
            </a:stretch>
          </a:blipFill>
        </p:spPr>
      </p:sp>
      <p:sp>
        <p:nvSpPr>
          <p:cNvPr name="Freeform 17" id="17"/>
          <p:cNvSpPr/>
          <p:nvPr/>
        </p:nvSpPr>
        <p:spPr>
          <a:xfrm flipH="false" flipV="false" rot="0">
            <a:off x="17345576" y="248217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797276" y="278107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1"/>
                </a:ext>
              </a:extLst>
            </a:blip>
            <a:stretch>
              <a:fillRect l="0" t="0" r="0" b="0"/>
            </a:stretch>
          </a:blipFill>
        </p:spPr>
      </p:sp>
      <p:sp>
        <p:nvSpPr>
          <p:cNvPr name="Freeform 19" id="19"/>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0" id="20"/>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1" id="21"/>
          <p:cNvSpPr/>
          <p:nvPr/>
        </p:nvSpPr>
        <p:spPr>
          <a:xfrm flipH="false" flipV="false" rot="0">
            <a:off x="9088400" y="934062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2" id="22"/>
          <p:cNvSpPr/>
          <p:nvPr/>
        </p:nvSpPr>
        <p:spPr>
          <a:xfrm flipH="false" flipV="false" rot="0">
            <a:off x="14652576" y="4659972"/>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1"/>
                </a:ext>
              </a:extLst>
            </a:blip>
            <a:stretch>
              <a:fillRect l="0" t="0" r="0" b="0"/>
            </a:stretch>
          </a:blipFill>
        </p:spPr>
      </p:sp>
      <p:sp>
        <p:nvSpPr>
          <p:cNvPr name="TextBox 23" id="23"/>
          <p:cNvSpPr txBox="true"/>
          <p:nvPr/>
        </p:nvSpPr>
        <p:spPr>
          <a:xfrm rot="0">
            <a:off x="6884222" y="273619"/>
            <a:ext cx="16451108" cy="1068831"/>
          </a:xfrm>
          <a:prstGeom prst="rect">
            <a:avLst/>
          </a:prstGeom>
        </p:spPr>
        <p:txBody>
          <a:bodyPr anchor="t" rtlCol="false" tIns="0" lIns="0" bIns="0" rIns="0">
            <a:spAutoFit/>
          </a:bodyPr>
          <a:lstStyle/>
          <a:p>
            <a:pPr algn="l">
              <a:lnSpc>
                <a:spcPts val="8298"/>
              </a:lnSpc>
            </a:pPr>
            <a:r>
              <a:rPr lang="en-US" b="true" sz="6915">
                <a:solidFill>
                  <a:srgbClr val="073763"/>
                </a:solidFill>
                <a:latin typeface="Ubuntu Bold"/>
                <a:ea typeface="Ubuntu Bold"/>
                <a:cs typeface="Ubuntu Bold"/>
                <a:sym typeface="Ubuntu Bold"/>
              </a:rPr>
              <a:t> </a:t>
            </a:r>
            <a:r>
              <a:rPr lang="en-US" b="true" sz="6915">
                <a:solidFill>
                  <a:srgbClr val="073763"/>
                </a:solidFill>
                <a:latin typeface="Ubuntu Bold"/>
                <a:ea typeface="Ubuntu Bold"/>
                <a:cs typeface="Ubuntu Bold"/>
                <a:sym typeface="Ubuntu Bold"/>
              </a:rPr>
              <a:t>Insight</a:t>
            </a:r>
          </a:p>
        </p:txBody>
      </p:sp>
      <p:sp>
        <p:nvSpPr>
          <p:cNvPr name="TextBox 24" id="24"/>
          <p:cNvSpPr txBox="true"/>
          <p:nvPr/>
        </p:nvSpPr>
        <p:spPr>
          <a:xfrm rot="0">
            <a:off x="2086050" y="2589376"/>
            <a:ext cx="14216830" cy="6668924"/>
          </a:xfrm>
          <a:prstGeom prst="rect">
            <a:avLst/>
          </a:prstGeom>
        </p:spPr>
        <p:txBody>
          <a:bodyPr anchor="t" rtlCol="false" tIns="0" lIns="0" bIns="0" rIns="0">
            <a:spAutoFit/>
          </a:bodyPr>
          <a:lstStyle/>
          <a:p>
            <a:pPr algn="just" marL="794455" indent="-397227" lvl="1">
              <a:lnSpc>
                <a:spcPts val="4415"/>
              </a:lnSpc>
              <a:buFont typeface="Arial"/>
              <a:buChar char="•"/>
            </a:pPr>
            <a:r>
              <a:rPr lang="en-US" sz="3679">
                <a:solidFill>
                  <a:srgbClr val="434343"/>
                </a:solidFill>
                <a:latin typeface="Questrial"/>
                <a:ea typeface="Questrial"/>
                <a:cs typeface="Questrial"/>
                <a:sym typeface="Questrial"/>
              </a:rPr>
              <a:t>Orang t</a:t>
            </a:r>
            <a:r>
              <a:rPr lang="en-US" sz="3679">
                <a:solidFill>
                  <a:srgbClr val="434343"/>
                </a:solidFill>
                <a:latin typeface="Questrial"/>
                <a:ea typeface="Questrial"/>
                <a:cs typeface="Questrial"/>
                <a:sym typeface="Questrial"/>
              </a:rPr>
              <a:t>ua sudah memiliki akses informasi terkait jadwal imunisasi, terutama melalui Buku KIA, namun masih mengalami kesulitan dalam mengelola jadwal secara konsisten</a:t>
            </a:r>
          </a:p>
          <a:p>
            <a:pPr algn="just" marL="794455" indent="-397227" lvl="1">
              <a:lnSpc>
                <a:spcPts val="4415"/>
              </a:lnSpc>
              <a:buFont typeface="Arial"/>
              <a:buChar char="•"/>
            </a:pPr>
            <a:r>
              <a:rPr lang="en-US" sz="3679">
                <a:solidFill>
                  <a:srgbClr val="434343"/>
                </a:solidFill>
                <a:latin typeface="Questrial"/>
                <a:ea typeface="Questrial"/>
                <a:cs typeface="Questrial"/>
                <a:sym typeface="Questrial"/>
              </a:rPr>
              <a:t>Melewatkan jadwal imunisasi tidak hanya disebabkan oleh faktor teknis seperti lupa, tetapi juga dipengaruhi oleh kondisi situasional, seperti anak sedang sakit</a:t>
            </a:r>
          </a:p>
          <a:p>
            <a:pPr algn="just" marL="794455" indent="-397227" lvl="1">
              <a:lnSpc>
                <a:spcPts val="4415"/>
              </a:lnSpc>
              <a:buFont typeface="Arial"/>
              <a:buChar char="•"/>
            </a:pPr>
            <a:r>
              <a:rPr lang="en-US" sz="3679">
                <a:solidFill>
                  <a:srgbClr val="434343"/>
                </a:solidFill>
                <a:latin typeface="Questrial"/>
                <a:ea typeface="Questrial"/>
                <a:cs typeface="Questrial"/>
                <a:sym typeface="Questrial"/>
              </a:rPr>
              <a:t>Proses pengelolaan jadwal yang masih manual meningkatkan risiko jadwal imunisasi terlewat</a:t>
            </a:r>
          </a:p>
          <a:p>
            <a:pPr algn="just" marL="794455" indent="-397227" lvl="1">
              <a:lnSpc>
                <a:spcPts val="4415"/>
              </a:lnSpc>
              <a:buFont typeface="Arial"/>
              <a:buChar char="•"/>
            </a:pPr>
            <a:r>
              <a:rPr lang="en-US" sz="3679">
                <a:solidFill>
                  <a:srgbClr val="434343"/>
                </a:solidFill>
                <a:latin typeface="Questrial"/>
                <a:ea typeface="Questrial"/>
                <a:cs typeface="Questrial"/>
                <a:sym typeface="Questrial"/>
              </a:rPr>
              <a:t>Orang tua membutuhkan sistem yang dapat membantu dalam mengingat, mengatur, dan menyesuaikan jadwal imunisasi anak secara lebih praktis</a:t>
            </a:r>
          </a:p>
          <a:p>
            <a:pPr algn="just">
              <a:lnSpc>
                <a:spcPts val="4415"/>
              </a:lnSpc>
            </a:pPr>
          </a:p>
        </p:txBody>
      </p:sp>
      <p:sp>
        <p:nvSpPr>
          <p:cNvPr name="TextBox 25" id="25"/>
          <p:cNvSpPr txBox="true"/>
          <p:nvPr/>
        </p:nvSpPr>
        <p:spPr>
          <a:xfrm rot="0">
            <a:off x="5336155" y="1581734"/>
            <a:ext cx="7265672" cy="649721"/>
          </a:xfrm>
          <a:prstGeom prst="rect">
            <a:avLst/>
          </a:prstGeom>
        </p:spPr>
        <p:txBody>
          <a:bodyPr anchor="t" rtlCol="false" tIns="0" lIns="0" bIns="0" rIns="0">
            <a:spAutoFit/>
          </a:bodyPr>
          <a:lstStyle/>
          <a:p>
            <a:pPr algn="ctr">
              <a:lnSpc>
                <a:spcPts val="5028"/>
              </a:lnSpc>
            </a:pPr>
            <a:r>
              <a:rPr lang="en-US" b="true" sz="4190">
                <a:solidFill>
                  <a:srgbClr val="073763"/>
                </a:solidFill>
                <a:latin typeface="Ubuntu Bold"/>
                <a:ea typeface="Ubuntu Bold"/>
                <a:cs typeface="Ubuntu Bold"/>
                <a:sym typeface="Ubuntu Bold"/>
              </a:rPr>
              <a:t>Insight dari</a:t>
            </a:r>
            <a:r>
              <a:rPr lang="en-US" b="true" sz="4190">
                <a:solidFill>
                  <a:srgbClr val="073763"/>
                </a:solidFill>
                <a:latin typeface="Ubuntu Bold"/>
                <a:ea typeface="Ubuntu Bold"/>
                <a:cs typeface="Ubuntu Bold"/>
                <a:sym typeface="Ubuntu Bold"/>
              </a:rPr>
              <a:t> Hasil Survey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01081" y="-237076"/>
            <a:ext cx="16159193" cy="12595936"/>
          </a:xfrm>
          <a:custGeom>
            <a:avLst/>
            <a:gdLst/>
            <a:ahLst/>
            <a:cxnLst/>
            <a:rect r="r" b="b" t="t" l="l"/>
            <a:pathLst>
              <a:path h="12595936" w="16159193">
                <a:moveTo>
                  <a:pt x="0" y="0"/>
                </a:moveTo>
                <a:lnTo>
                  <a:pt x="16159193" y="0"/>
                </a:lnTo>
                <a:lnTo>
                  <a:pt x="16159193" y="12595937"/>
                </a:lnTo>
                <a:lnTo>
                  <a:pt x="0" y="125959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726972" y="3235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097000" y="822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242976" y="13891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3050" y="12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892950" y="1199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7269072" y="2984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831472" y="77055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7100134" y="8293614"/>
            <a:ext cx="1860140" cy="1929373"/>
          </a:xfrm>
          <a:custGeom>
            <a:avLst/>
            <a:gdLst/>
            <a:ahLst/>
            <a:cxnLst/>
            <a:rect r="r" b="b" t="t" l="l"/>
            <a:pathLst>
              <a:path h="1929373" w="1860140">
                <a:moveTo>
                  <a:pt x="0" y="0"/>
                </a:moveTo>
                <a:lnTo>
                  <a:pt x="1860140" y="0"/>
                </a:lnTo>
                <a:lnTo>
                  <a:pt x="1860140" y="1929372"/>
                </a:lnTo>
                <a:lnTo>
                  <a:pt x="0" y="19293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035070" y="8228976"/>
            <a:ext cx="2925203" cy="2764644"/>
          </a:xfrm>
          <a:custGeom>
            <a:avLst/>
            <a:gdLst/>
            <a:ahLst/>
            <a:cxnLst/>
            <a:rect r="r" b="b" t="t" l="l"/>
            <a:pathLst>
              <a:path h="2764644" w="2925203">
                <a:moveTo>
                  <a:pt x="0" y="0"/>
                </a:moveTo>
                <a:lnTo>
                  <a:pt x="2925204" y="0"/>
                </a:lnTo>
                <a:lnTo>
                  <a:pt x="2925204" y="2764644"/>
                </a:lnTo>
                <a:lnTo>
                  <a:pt x="0" y="27646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593050" y="4480717"/>
            <a:ext cx="9362522" cy="4777583"/>
          </a:xfrm>
          <a:custGeom>
            <a:avLst/>
            <a:gdLst/>
            <a:ahLst/>
            <a:cxnLst/>
            <a:rect r="r" b="b" t="t" l="l"/>
            <a:pathLst>
              <a:path h="4777583" w="9362522">
                <a:moveTo>
                  <a:pt x="0" y="0"/>
                </a:moveTo>
                <a:lnTo>
                  <a:pt x="9362522" y="0"/>
                </a:lnTo>
                <a:lnTo>
                  <a:pt x="9362522" y="4777583"/>
                </a:lnTo>
                <a:lnTo>
                  <a:pt x="0" y="4777583"/>
                </a:lnTo>
                <a:lnTo>
                  <a:pt x="0" y="0"/>
                </a:lnTo>
                <a:close/>
              </a:path>
            </a:pathLst>
          </a:custGeom>
          <a:blipFill>
            <a:blip r:embed="rId12"/>
            <a:stretch>
              <a:fillRect l="0" t="0" r="0" b="0"/>
            </a:stretch>
          </a:blipFill>
        </p:spPr>
      </p:sp>
      <p:sp>
        <p:nvSpPr>
          <p:cNvPr name="Freeform 13" id="13"/>
          <p:cNvSpPr/>
          <p:nvPr/>
        </p:nvSpPr>
        <p:spPr>
          <a:xfrm flipH="false" flipV="false" rot="0">
            <a:off x="10198534" y="5015687"/>
            <a:ext cx="7846032" cy="3441889"/>
          </a:xfrm>
          <a:custGeom>
            <a:avLst/>
            <a:gdLst/>
            <a:ahLst/>
            <a:cxnLst/>
            <a:rect r="r" b="b" t="t" l="l"/>
            <a:pathLst>
              <a:path h="3441889" w="7846032">
                <a:moveTo>
                  <a:pt x="0" y="0"/>
                </a:moveTo>
                <a:lnTo>
                  <a:pt x="7846032" y="0"/>
                </a:lnTo>
                <a:lnTo>
                  <a:pt x="7846032" y="3441889"/>
                </a:lnTo>
                <a:lnTo>
                  <a:pt x="0" y="3441889"/>
                </a:lnTo>
                <a:lnTo>
                  <a:pt x="0" y="0"/>
                </a:lnTo>
                <a:close/>
              </a:path>
            </a:pathLst>
          </a:custGeom>
          <a:blipFill>
            <a:blip r:embed="rId13"/>
            <a:stretch>
              <a:fillRect l="0" t="-977" r="-5860" b="-977"/>
            </a:stretch>
          </a:blipFill>
        </p:spPr>
      </p:sp>
      <p:sp>
        <p:nvSpPr>
          <p:cNvPr name="TextBox 14" id="14"/>
          <p:cNvSpPr txBox="true"/>
          <p:nvPr/>
        </p:nvSpPr>
        <p:spPr>
          <a:xfrm rot="0">
            <a:off x="4952416" y="292623"/>
            <a:ext cx="8940534" cy="1804681"/>
          </a:xfrm>
          <a:prstGeom prst="rect">
            <a:avLst/>
          </a:prstGeom>
        </p:spPr>
        <p:txBody>
          <a:bodyPr anchor="t" rtlCol="false" tIns="0" lIns="0" bIns="0" rIns="0">
            <a:spAutoFit/>
          </a:bodyPr>
          <a:lstStyle/>
          <a:p>
            <a:pPr algn="ctr">
              <a:lnSpc>
                <a:spcPts val="7098"/>
              </a:lnSpc>
            </a:pPr>
            <a:r>
              <a:rPr lang="en-US" b="true" sz="5915">
                <a:solidFill>
                  <a:srgbClr val="073763"/>
                </a:solidFill>
                <a:latin typeface="Ubuntu Bold"/>
                <a:ea typeface="Ubuntu Bold"/>
                <a:cs typeface="Ubuntu Bold"/>
                <a:sym typeface="Ubuntu Bold"/>
              </a:rPr>
              <a:t>Kebutuhan Pengguna </a:t>
            </a:r>
            <a:r>
              <a:rPr lang="en-US" b="true" sz="5915">
                <a:solidFill>
                  <a:srgbClr val="2F878A"/>
                </a:solidFill>
                <a:latin typeface="Ubuntu Bold"/>
                <a:ea typeface="Ubuntu Bold"/>
                <a:cs typeface="Ubuntu Bold"/>
                <a:sym typeface="Ubuntu Bold"/>
              </a:rPr>
              <a:t>terhadap</a:t>
            </a:r>
            <a:r>
              <a:rPr lang="en-US" b="true" sz="5915">
                <a:solidFill>
                  <a:srgbClr val="2F878A"/>
                </a:solidFill>
                <a:latin typeface="Ubuntu Bold"/>
                <a:ea typeface="Ubuntu Bold"/>
                <a:cs typeface="Ubuntu Bold"/>
                <a:sym typeface="Ubuntu Bold"/>
              </a:rPr>
              <a:t> Aplikasi</a:t>
            </a:r>
            <a:r>
              <a:rPr lang="en-US" b="true" sz="5915">
                <a:solidFill>
                  <a:srgbClr val="F2F2F2"/>
                </a:solidFill>
                <a:latin typeface="Ubuntu Bold"/>
                <a:ea typeface="Ubuntu Bold"/>
                <a:cs typeface="Ubuntu Bold"/>
                <a:sym typeface="Ubuntu Bold"/>
              </a:rPr>
              <a:t> </a:t>
            </a:r>
          </a:p>
        </p:txBody>
      </p:sp>
      <p:sp>
        <p:nvSpPr>
          <p:cNvPr name="TextBox 15" id="15"/>
          <p:cNvSpPr txBox="true"/>
          <p:nvPr/>
        </p:nvSpPr>
        <p:spPr>
          <a:xfrm rot="0">
            <a:off x="459305" y="2264176"/>
            <a:ext cx="16191321" cy="2216541"/>
          </a:xfrm>
          <a:prstGeom prst="rect">
            <a:avLst/>
          </a:prstGeom>
        </p:spPr>
        <p:txBody>
          <a:bodyPr anchor="t" rtlCol="false" tIns="0" lIns="0" bIns="0" rIns="0">
            <a:spAutoFit/>
          </a:bodyPr>
          <a:lstStyle/>
          <a:p>
            <a:pPr algn="l" marL="627541" indent="-313771" lvl="1">
              <a:lnSpc>
                <a:spcPts val="3487"/>
              </a:lnSpc>
              <a:buFont typeface="Arial"/>
              <a:buChar char="•"/>
            </a:pPr>
            <a:r>
              <a:rPr lang="en-US" sz="2906">
                <a:solidFill>
                  <a:srgbClr val="073763"/>
                </a:solidFill>
                <a:latin typeface="Ubuntu"/>
                <a:ea typeface="Ubuntu"/>
                <a:cs typeface="Ubuntu"/>
                <a:sym typeface="Ubuntu"/>
              </a:rPr>
              <a:t>Pengguna m</a:t>
            </a:r>
            <a:r>
              <a:rPr lang="en-US" sz="2906">
                <a:solidFill>
                  <a:srgbClr val="073763"/>
                </a:solidFill>
                <a:latin typeface="Ubuntu"/>
                <a:ea typeface="Ubuntu"/>
                <a:cs typeface="Ubuntu"/>
                <a:sym typeface="Ubuntu"/>
              </a:rPr>
              <a:t>embutuhkan informasi jadwal imunisasi yang jelas dan terstruktur</a:t>
            </a:r>
          </a:p>
          <a:p>
            <a:pPr algn="l" marL="627541" indent="-313771" lvl="1">
              <a:lnSpc>
                <a:spcPts val="3487"/>
              </a:lnSpc>
              <a:buFont typeface="Arial"/>
              <a:buChar char="•"/>
            </a:pPr>
            <a:r>
              <a:rPr lang="en-US" sz="2906">
                <a:solidFill>
                  <a:srgbClr val="073763"/>
                </a:solidFill>
                <a:latin typeface="Ubuntu"/>
                <a:ea typeface="Ubuntu"/>
                <a:cs typeface="Ubuntu"/>
                <a:sym typeface="Ubuntu"/>
              </a:rPr>
              <a:t>Dibutuhkan sistem pengingat untuk membantu pengelolaan jadwal secara konsisten</a:t>
            </a:r>
          </a:p>
          <a:p>
            <a:pPr algn="l" marL="627541" indent="-313771" lvl="1">
              <a:lnSpc>
                <a:spcPts val="3487"/>
              </a:lnSpc>
              <a:buFont typeface="Arial"/>
              <a:buChar char="•"/>
            </a:pPr>
            <a:r>
              <a:rPr lang="en-US" sz="2906">
                <a:solidFill>
                  <a:srgbClr val="073763"/>
                </a:solidFill>
                <a:latin typeface="Ubuntu"/>
                <a:ea typeface="Ubuntu"/>
                <a:cs typeface="Ubuntu"/>
                <a:sym typeface="Ubuntu"/>
              </a:rPr>
              <a:t>Pengguna juga memerlukan fitur pendukung seperti informasi fasilitas kesehatan dan edukasi vaksin</a:t>
            </a:r>
          </a:p>
          <a:p>
            <a:pPr algn="ctr">
              <a:lnSpc>
                <a:spcPts val="3487"/>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040000">
            <a:off x="3072868" y="-4488050"/>
            <a:ext cx="12142263" cy="19263101"/>
          </a:xfrm>
          <a:custGeom>
            <a:avLst/>
            <a:gdLst/>
            <a:ahLst/>
            <a:cxnLst/>
            <a:rect r="r" b="b" t="t" l="l"/>
            <a:pathLst>
              <a:path h="19263101" w="12142263">
                <a:moveTo>
                  <a:pt x="0" y="18187816"/>
                </a:moveTo>
                <a:lnTo>
                  <a:pt x="1911617" y="0"/>
                </a:lnTo>
                <a:lnTo>
                  <a:pt x="12142264" y="1075284"/>
                </a:lnTo>
                <a:lnTo>
                  <a:pt x="10230647" y="19263100"/>
                </a:lnTo>
                <a:lnTo>
                  <a:pt x="0" y="18187816"/>
                </a:lnTo>
                <a:close/>
              </a:path>
            </a:pathLst>
          </a:custGeom>
          <a:blipFill>
            <a:blip r:embed="rId3"/>
            <a:stretch>
              <a:fillRect l="-103603" t="-4462" r="-103603" b="-4462"/>
            </a:stretch>
          </a:blipFill>
        </p:spPr>
      </p:sp>
      <p:sp>
        <p:nvSpPr>
          <p:cNvPr name="Freeform 3" id="3"/>
          <p:cNvSpPr/>
          <p:nvPr/>
        </p:nvSpPr>
        <p:spPr>
          <a:xfrm flipH="false" flipV="false" rot="0">
            <a:off x="2635749" y="-957071"/>
            <a:ext cx="16159193" cy="12595936"/>
          </a:xfrm>
          <a:custGeom>
            <a:avLst/>
            <a:gdLst/>
            <a:ahLst/>
            <a:cxnLst/>
            <a:rect r="r" b="b" t="t" l="l"/>
            <a:pathLst>
              <a:path h="12595936" w="16159193">
                <a:moveTo>
                  <a:pt x="0" y="0"/>
                </a:moveTo>
                <a:lnTo>
                  <a:pt x="16159193" y="0"/>
                </a:lnTo>
                <a:lnTo>
                  <a:pt x="16159193" y="12595936"/>
                </a:lnTo>
                <a:lnTo>
                  <a:pt x="0" y="12595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136584" y="30715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097000" y="822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242976" y="13891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593050" y="12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3892950" y="1199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4678684" y="28198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8241084" y="75413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4406297" y="6093480"/>
            <a:ext cx="1860140" cy="1929373"/>
          </a:xfrm>
          <a:custGeom>
            <a:avLst/>
            <a:gdLst/>
            <a:ahLst/>
            <a:cxnLst/>
            <a:rect r="r" b="b" t="t" l="l"/>
            <a:pathLst>
              <a:path h="1929373" w="1860140">
                <a:moveTo>
                  <a:pt x="0" y="0"/>
                </a:moveTo>
                <a:lnTo>
                  <a:pt x="1860140" y="0"/>
                </a:lnTo>
                <a:lnTo>
                  <a:pt x="1860140" y="1929373"/>
                </a:lnTo>
                <a:lnTo>
                  <a:pt x="0" y="19293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3648454" y="7064430"/>
            <a:ext cx="2925203" cy="2764644"/>
          </a:xfrm>
          <a:custGeom>
            <a:avLst/>
            <a:gdLst/>
            <a:ahLst/>
            <a:cxnLst/>
            <a:rect r="r" b="b" t="t" l="l"/>
            <a:pathLst>
              <a:path h="2764644" w="2925203">
                <a:moveTo>
                  <a:pt x="0" y="0"/>
                </a:moveTo>
                <a:lnTo>
                  <a:pt x="2925203" y="0"/>
                </a:lnTo>
                <a:lnTo>
                  <a:pt x="2925203" y="2764644"/>
                </a:lnTo>
                <a:lnTo>
                  <a:pt x="0" y="27646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4538087" y="3958421"/>
            <a:ext cx="9637950" cy="2638425"/>
          </a:xfrm>
          <a:prstGeom prst="rect">
            <a:avLst/>
          </a:prstGeom>
        </p:spPr>
        <p:txBody>
          <a:bodyPr anchor="t" rtlCol="false" tIns="0" lIns="0" bIns="0" rIns="0">
            <a:spAutoFit/>
          </a:bodyPr>
          <a:lstStyle/>
          <a:p>
            <a:pPr algn="r">
              <a:lnSpc>
                <a:spcPts val="10320"/>
              </a:lnSpc>
            </a:pPr>
            <a:r>
              <a:rPr lang="en-US" b="true" sz="8600">
                <a:solidFill>
                  <a:srgbClr val="073763"/>
                </a:solidFill>
                <a:latin typeface="Ubuntu Bold"/>
                <a:ea typeface="Ubuntu Bold"/>
                <a:cs typeface="Ubuntu Bold"/>
                <a:sym typeface="Ubuntu Bold"/>
              </a:rPr>
              <a:t>REMOTE </a:t>
            </a:r>
            <a:r>
              <a:rPr lang="en-US" b="true" sz="8600">
                <a:solidFill>
                  <a:srgbClr val="FFFFFF"/>
                </a:solidFill>
                <a:latin typeface="Ubuntu Bold"/>
                <a:ea typeface="Ubuntu Bold"/>
                <a:cs typeface="Ubuntu Bold"/>
                <a:sym typeface="Ubuntu Bold"/>
              </a:rPr>
              <a:t>INTERVIEW</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69176" y="1385143"/>
            <a:ext cx="1814211" cy="1530270"/>
          </a:xfrm>
          <a:custGeom>
            <a:avLst/>
            <a:gdLst/>
            <a:ahLst/>
            <a:cxnLst/>
            <a:rect r="r" b="b" t="t" l="l"/>
            <a:pathLst>
              <a:path h="1530270" w="1814211">
                <a:moveTo>
                  <a:pt x="0" y="0"/>
                </a:moveTo>
                <a:lnTo>
                  <a:pt x="1814211" y="0"/>
                </a:lnTo>
                <a:lnTo>
                  <a:pt x="1814211" y="1530271"/>
                </a:lnTo>
                <a:lnTo>
                  <a:pt x="0" y="15302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531425" y="73517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TRANSKRIP WAWANCARA</a:t>
            </a:r>
          </a:p>
        </p:txBody>
      </p:sp>
      <p:sp>
        <p:nvSpPr>
          <p:cNvPr name="Freeform 12" id="12"/>
          <p:cNvSpPr/>
          <p:nvPr/>
        </p:nvSpPr>
        <p:spPr>
          <a:xfrm flipH="false" flipV="false" rot="0">
            <a:off x="1558028" y="1915916"/>
            <a:ext cx="407803" cy="531757"/>
          </a:xfrm>
          <a:custGeom>
            <a:avLst/>
            <a:gdLst/>
            <a:ahLst/>
            <a:cxnLst/>
            <a:rect r="r" b="b" t="t" l="l"/>
            <a:pathLst>
              <a:path h="531757" w="407803">
                <a:moveTo>
                  <a:pt x="0" y="0"/>
                </a:moveTo>
                <a:lnTo>
                  <a:pt x="407803" y="0"/>
                </a:lnTo>
                <a:lnTo>
                  <a:pt x="407803" y="531757"/>
                </a:lnTo>
                <a:lnTo>
                  <a:pt x="0" y="531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32770" y="1863837"/>
            <a:ext cx="4590373" cy="464048"/>
          </a:xfrm>
          <a:prstGeom prst="rect">
            <a:avLst/>
          </a:prstGeom>
        </p:spPr>
        <p:txBody>
          <a:bodyPr anchor="t" rtlCol="false" tIns="0" lIns="0" bIns="0" rIns="0">
            <a:spAutoFit/>
          </a:bodyPr>
          <a:lstStyle/>
          <a:p>
            <a:pPr algn="ctr">
              <a:lnSpc>
                <a:spcPts val="3540"/>
              </a:lnSpc>
            </a:pPr>
            <a:r>
              <a:rPr lang="en-US" b="true" sz="2950">
                <a:solidFill>
                  <a:srgbClr val="073763"/>
                </a:solidFill>
                <a:latin typeface="Ubuntu Bold"/>
                <a:ea typeface="Ubuntu Bold"/>
                <a:cs typeface="Ubuntu Bold"/>
                <a:sym typeface="Ubuntu Bold"/>
              </a:rPr>
              <a:t>Responden 1 (Ibu Renita)</a:t>
            </a:r>
          </a:p>
        </p:txBody>
      </p:sp>
      <p:sp>
        <p:nvSpPr>
          <p:cNvPr name="Freeform 14" id="14"/>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990113" y="2760251"/>
            <a:ext cx="16269187" cy="7458075"/>
          </a:xfrm>
          <a:prstGeom prst="rect">
            <a:avLst/>
          </a:prstGeom>
        </p:spPr>
        <p:txBody>
          <a:bodyPr anchor="t" rtlCol="false" tIns="0" lIns="0" bIns="0" rIns="0">
            <a:spAutoFit/>
          </a:bodyPr>
          <a:lstStyle/>
          <a:p>
            <a:pPr algn="l">
              <a:lnSpc>
                <a:spcPts val="2555"/>
              </a:lnSpc>
            </a:pPr>
            <a:r>
              <a:rPr lang="en-US" sz="2129">
                <a:solidFill>
                  <a:srgbClr val="073763"/>
                </a:solidFill>
                <a:latin typeface="Ubuntu"/>
                <a:ea typeface="Ubuntu"/>
                <a:cs typeface="Ubuntu"/>
                <a:sym typeface="Ubuntu"/>
              </a:rPr>
              <a:t>1. Bagaimana biasanya Ibu mencatat atau mengingat perkembangan kesehatan anak selain dari</a:t>
            </a:r>
            <a:r>
              <a:rPr lang="en-US" sz="2129">
                <a:solidFill>
                  <a:srgbClr val="073763"/>
                </a:solidFill>
                <a:latin typeface="Ubuntu"/>
                <a:ea typeface="Ubuntu"/>
                <a:cs typeface="Ubuntu"/>
                <a:sym typeface="Ubuntu"/>
              </a:rPr>
              <a:t> Buku KIA?</a:t>
            </a:r>
          </a:p>
          <a:p>
            <a:pPr algn="l">
              <a:lnSpc>
                <a:spcPts val="2555"/>
              </a:lnSpc>
            </a:pPr>
            <a:r>
              <a:rPr lang="en-US" sz="2129">
                <a:solidFill>
                  <a:srgbClr val="073763"/>
                </a:solidFill>
                <a:latin typeface="Ubuntu"/>
                <a:ea typeface="Ubuntu"/>
                <a:cs typeface="Ubuntu"/>
                <a:sym typeface="Ubuntu"/>
              </a:rPr>
              <a:t>“</a:t>
            </a:r>
            <a:r>
              <a:rPr lang="en-US" sz="2129">
                <a:solidFill>
                  <a:srgbClr val="073763"/>
                </a:solidFill>
                <a:latin typeface="Ubuntu"/>
                <a:ea typeface="Ubuntu"/>
                <a:cs typeface="Ubuntu"/>
                <a:sym typeface="Ubuntu"/>
              </a:rPr>
              <a:t>Biasanya saya ingat-ingat saja, atau kadang catat di HP kalau sempat. Tapi jujur lebih sering mengandalkan ingatan saja.”</a:t>
            </a:r>
          </a:p>
          <a:p>
            <a:pPr algn="l">
              <a:lnSpc>
                <a:spcPts val="2555"/>
              </a:lnSpc>
            </a:pPr>
            <a:r>
              <a:rPr lang="en-US" sz="2129">
                <a:solidFill>
                  <a:srgbClr val="073763"/>
                </a:solidFill>
                <a:latin typeface="Ubuntu"/>
                <a:ea typeface="Ubuntu"/>
                <a:cs typeface="Ubuntu"/>
                <a:sym typeface="Ubuntu"/>
              </a:rPr>
              <a:t>2. Apakah Ibu pernah merasa bingung saat membaca informasi kesehatan anak? Bagian ma</a:t>
            </a:r>
            <a:r>
              <a:rPr lang="en-US" sz="2129">
                <a:solidFill>
                  <a:srgbClr val="073763"/>
                </a:solidFill>
                <a:latin typeface="Ubuntu"/>
                <a:ea typeface="Ubuntu"/>
                <a:cs typeface="Ubuntu"/>
                <a:sym typeface="Ubuntu"/>
              </a:rPr>
              <a:t>n</a:t>
            </a:r>
            <a:r>
              <a:rPr lang="en-US" sz="2129">
                <a:solidFill>
                  <a:srgbClr val="073763"/>
                </a:solidFill>
                <a:latin typeface="Ubuntu"/>
                <a:ea typeface="Ubuntu"/>
                <a:cs typeface="Ubuntu"/>
                <a:sym typeface="Ubuntu"/>
              </a:rPr>
              <a:t>a ya</a:t>
            </a:r>
            <a:r>
              <a:rPr lang="en-US" sz="2129">
                <a:solidFill>
                  <a:srgbClr val="073763"/>
                </a:solidFill>
                <a:latin typeface="Ubuntu"/>
                <a:ea typeface="Ubuntu"/>
                <a:cs typeface="Ubuntu"/>
                <a:sym typeface="Ubuntu"/>
              </a:rPr>
              <a:t>n</a:t>
            </a:r>
            <a:r>
              <a:rPr lang="en-US" sz="2129">
                <a:solidFill>
                  <a:srgbClr val="073763"/>
                </a:solidFill>
                <a:latin typeface="Ubuntu"/>
                <a:ea typeface="Ubuntu"/>
                <a:cs typeface="Ubuntu"/>
                <a:sym typeface="Ubuntu"/>
              </a:rPr>
              <a:t>g paling sulit dipahami?</a:t>
            </a:r>
          </a:p>
          <a:p>
            <a:pPr algn="l">
              <a:lnSpc>
                <a:spcPts val="2555"/>
              </a:lnSpc>
            </a:pPr>
            <a:r>
              <a:rPr lang="en-US" sz="2129">
                <a:solidFill>
                  <a:srgbClr val="073763"/>
                </a:solidFill>
                <a:latin typeface="Ubuntu"/>
                <a:ea typeface="Ubuntu"/>
                <a:cs typeface="Ubuntu"/>
                <a:sym typeface="Ubuntu"/>
              </a:rPr>
              <a:t>“Iya, sering bingung, apalagi kalau bahasanya terlalu medis. Bagian penjelasan penyakit atau istilah-istilah itu yang paling su</a:t>
            </a:r>
            <a:r>
              <a:rPr lang="en-US" sz="2129">
                <a:solidFill>
                  <a:srgbClr val="073763"/>
                </a:solidFill>
                <a:latin typeface="Ubuntu"/>
                <a:ea typeface="Ubuntu"/>
                <a:cs typeface="Ubuntu"/>
                <a:sym typeface="Ubuntu"/>
              </a:rPr>
              <a:t>s</a:t>
            </a:r>
            <a:r>
              <a:rPr lang="en-US" sz="2129">
                <a:solidFill>
                  <a:srgbClr val="073763"/>
                </a:solidFill>
                <a:latin typeface="Ubuntu"/>
                <a:ea typeface="Ubuntu"/>
                <a:cs typeface="Ubuntu"/>
                <a:sym typeface="Ubuntu"/>
              </a:rPr>
              <a:t>ah dipahami.”</a:t>
            </a:r>
          </a:p>
          <a:p>
            <a:pPr algn="l">
              <a:lnSpc>
                <a:spcPts val="2555"/>
              </a:lnSpc>
            </a:pPr>
            <a:r>
              <a:rPr lang="en-US" sz="2129">
                <a:solidFill>
                  <a:srgbClr val="073763"/>
                </a:solidFill>
                <a:latin typeface="Ubuntu"/>
                <a:ea typeface="Ubuntu"/>
                <a:cs typeface="Ubuntu"/>
                <a:sym typeface="Ubuntu"/>
              </a:rPr>
              <a:t>3. Seberapa sering Ibu membuka kembali catatan kesehatan anak setelah kunjungan k</a:t>
            </a:r>
            <a:r>
              <a:rPr lang="en-US" sz="2129">
                <a:solidFill>
                  <a:srgbClr val="073763"/>
                </a:solidFill>
                <a:latin typeface="Ubuntu"/>
                <a:ea typeface="Ubuntu"/>
                <a:cs typeface="Ubuntu"/>
                <a:sym typeface="Ubuntu"/>
              </a:rPr>
              <a:t>e</a:t>
            </a:r>
            <a:r>
              <a:rPr lang="en-US" sz="2129">
                <a:solidFill>
                  <a:srgbClr val="073763"/>
                </a:solidFill>
                <a:latin typeface="Ubuntu"/>
                <a:ea typeface="Ubuntu"/>
                <a:cs typeface="Ubuntu"/>
                <a:sym typeface="Ubuntu"/>
              </a:rPr>
              <a:t> P</a:t>
            </a:r>
            <a:r>
              <a:rPr lang="en-US" sz="2129">
                <a:solidFill>
                  <a:srgbClr val="073763"/>
                </a:solidFill>
                <a:latin typeface="Ubuntu"/>
                <a:ea typeface="Ubuntu"/>
                <a:cs typeface="Ubuntu"/>
                <a:sym typeface="Ubuntu"/>
              </a:rPr>
              <a:t>o</a:t>
            </a:r>
            <a:r>
              <a:rPr lang="en-US" sz="2129">
                <a:solidFill>
                  <a:srgbClr val="073763"/>
                </a:solidFill>
                <a:latin typeface="Ubuntu"/>
                <a:ea typeface="Ubuntu"/>
                <a:cs typeface="Ubuntu"/>
                <a:sym typeface="Ubuntu"/>
              </a:rPr>
              <a:t>sya</a:t>
            </a:r>
            <a:r>
              <a:rPr lang="en-US" sz="2129">
                <a:solidFill>
                  <a:srgbClr val="073763"/>
                </a:solidFill>
                <a:latin typeface="Ubuntu"/>
                <a:ea typeface="Ubuntu"/>
                <a:cs typeface="Ubuntu"/>
                <a:sym typeface="Ubuntu"/>
              </a:rPr>
              <a:t>nd</a:t>
            </a:r>
            <a:r>
              <a:rPr lang="en-US" sz="2129">
                <a:solidFill>
                  <a:srgbClr val="073763"/>
                </a:solidFill>
                <a:latin typeface="Ubuntu"/>
                <a:ea typeface="Ubuntu"/>
                <a:cs typeface="Ubuntu"/>
                <a:sym typeface="Ubuntu"/>
              </a:rPr>
              <a:t>u atau fasilitas k</a:t>
            </a:r>
            <a:r>
              <a:rPr lang="en-US" sz="2129">
                <a:solidFill>
                  <a:srgbClr val="073763"/>
                </a:solidFill>
                <a:latin typeface="Ubuntu"/>
                <a:ea typeface="Ubuntu"/>
                <a:cs typeface="Ubuntu"/>
                <a:sym typeface="Ubuntu"/>
              </a:rPr>
              <a:t>e</a:t>
            </a:r>
            <a:r>
              <a:rPr lang="en-US" sz="2129">
                <a:solidFill>
                  <a:srgbClr val="073763"/>
                </a:solidFill>
                <a:latin typeface="Ubuntu"/>
                <a:ea typeface="Ubuntu"/>
                <a:cs typeface="Ubuntu"/>
                <a:sym typeface="Ubuntu"/>
              </a:rPr>
              <a:t>sehata</a:t>
            </a:r>
            <a:r>
              <a:rPr lang="en-US" sz="2129">
                <a:solidFill>
                  <a:srgbClr val="073763"/>
                </a:solidFill>
                <a:latin typeface="Ubuntu"/>
                <a:ea typeface="Ubuntu"/>
                <a:cs typeface="Ubuntu"/>
                <a:sym typeface="Ubuntu"/>
              </a:rPr>
              <a:t>n</a:t>
            </a:r>
            <a:r>
              <a:rPr lang="en-US" sz="2129">
                <a:solidFill>
                  <a:srgbClr val="073763"/>
                </a:solidFill>
                <a:latin typeface="Ubuntu"/>
                <a:ea typeface="Ubuntu"/>
                <a:cs typeface="Ubuntu"/>
                <a:sym typeface="Ubuntu"/>
              </a:rPr>
              <a:t>?</a:t>
            </a:r>
          </a:p>
          <a:p>
            <a:pPr algn="l">
              <a:lnSpc>
                <a:spcPts val="2555"/>
              </a:lnSpc>
            </a:pPr>
            <a:r>
              <a:rPr lang="en-US" sz="2129">
                <a:solidFill>
                  <a:srgbClr val="073763"/>
                </a:solidFill>
                <a:latin typeface="Ubuntu"/>
                <a:ea typeface="Ubuntu"/>
                <a:cs typeface="Ubuntu"/>
                <a:sym typeface="Ubuntu"/>
              </a:rPr>
              <a:t>“Jarang sih, biasanya cuma dibuka pas mau ke Posyandu lagi atau kalau memang ada keperluan saja.”</a:t>
            </a:r>
          </a:p>
          <a:p>
            <a:pPr algn="l">
              <a:lnSpc>
                <a:spcPts val="2555"/>
              </a:lnSpc>
            </a:pPr>
            <a:r>
              <a:rPr lang="en-US" sz="2129">
                <a:solidFill>
                  <a:srgbClr val="073763"/>
                </a:solidFill>
                <a:latin typeface="Ubuntu"/>
                <a:ea typeface="Ubuntu"/>
                <a:cs typeface="Ubuntu"/>
                <a:sym typeface="Ubuntu"/>
              </a:rPr>
              <a:t>4. Bagaimana pengalaman Ibu saat berinteraksi dengan petugas kesehatan t</a:t>
            </a:r>
            <a:r>
              <a:rPr lang="en-US" sz="2129">
                <a:solidFill>
                  <a:srgbClr val="073763"/>
                </a:solidFill>
                <a:latin typeface="Ubuntu"/>
                <a:ea typeface="Ubuntu"/>
                <a:cs typeface="Ubuntu"/>
                <a:sym typeface="Ubuntu"/>
              </a:rPr>
              <a:t>e</a:t>
            </a:r>
            <a:r>
              <a:rPr lang="en-US" sz="2129">
                <a:solidFill>
                  <a:srgbClr val="073763"/>
                </a:solidFill>
                <a:latin typeface="Ubuntu"/>
                <a:ea typeface="Ubuntu"/>
                <a:cs typeface="Ubuntu"/>
                <a:sym typeface="Ubuntu"/>
              </a:rPr>
              <a:t>rkait </a:t>
            </a:r>
            <a:r>
              <a:rPr lang="en-US" sz="2129">
                <a:solidFill>
                  <a:srgbClr val="073763"/>
                </a:solidFill>
                <a:latin typeface="Ubuntu"/>
                <a:ea typeface="Ubuntu"/>
                <a:cs typeface="Ubuntu"/>
                <a:sym typeface="Ubuntu"/>
              </a:rPr>
              <a:t>p</a:t>
            </a:r>
            <a:r>
              <a:rPr lang="en-US" sz="2129">
                <a:solidFill>
                  <a:srgbClr val="073763"/>
                </a:solidFill>
                <a:latin typeface="Ubuntu"/>
                <a:ea typeface="Ubuntu"/>
                <a:cs typeface="Ubuntu"/>
                <a:sym typeface="Ubuntu"/>
              </a:rPr>
              <a:t>e</a:t>
            </a:r>
            <a:r>
              <a:rPr lang="en-US" sz="2129">
                <a:solidFill>
                  <a:srgbClr val="073763"/>
                </a:solidFill>
                <a:latin typeface="Ubuntu"/>
                <a:ea typeface="Ubuntu"/>
                <a:cs typeface="Ubuntu"/>
                <a:sym typeface="Ubuntu"/>
              </a:rPr>
              <a:t>n</a:t>
            </a:r>
            <a:r>
              <a:rPr lang="en-US" sz="2129">
                <a:solidFill>
                  <a:srgbClr val="073763"/>
                </a:solidFill>
                <a:latin typeface="Ubuntu"/>
                <a:ea typeface="Ubuntu"/>
                <a:cs typeface="Ubuntu"/>
                <a:sym typeface="Ubuntu"/>
              </a:rPr>
              <a:t>j</a:t>
            </a:r>
            <a:r>
              <a:rPr lang="en-US" sz="2129">
                <a:solidFill>
                  <a:srgbClr val="073763"/>
                </a:solidFill>
                <a:latin typeface="Ubuntu"/>
                <a:ea typeface="Ubuntu"/>
                <a:cs typeface="Ubuntu"/>
                <a:sym typeface="Ubuntu"/>
              </a:rPr>
              <a:t>e</a:t>
            </a:r>
            <a:r>
              <a:rPr lang="en-US" sz="2129">
                <a:solidFill>
                  <a:srgbClr val="073763"/>
                </a:solidFill>
                <a:latin typeface="Ubuntu"/>
                <a:ea typeface="Ubuntu"/>
                <a:cs typeface="Ubuntu"/>
                <a:sym typeface="Ubuntu"/>
              </a:rPr>
              <a:t>lasa</a:t>
            </a:r>
            <a:r>
              <a:rPr lang="en-US" sz="2129">
                <a:solidFill>
                  <a:srgbClr val="073763"/>
                </a:solidFill>
                <a:latin typeface="Ubuntu"/>
                <a:ea typeface="Ubuntu"/>
                <a:cs typeface="Ubuntu"/>
                <a:sym typeface="Ubuntu"/>
              </a:rPr>
              <a:t>n</a:t>
            </a:r>
            <a:r>
              <a:rPr lang="en-US" sz="2129">
                <a:solidFill>
                  <a:srgbClr val="073763"/>
                </a:solidFill>
                <a:latin typeface="Ubuntu"/>
                <a:ea typeface="Ubuntu"/>
                <a:cs typeface="Ubuntu"/>
                <a:sym typeface="Ubuntu"/>
              </a:rPr>
              <a:t> imunisasi atau perkembangan anak?</a:t>
            </a:r>
          </a:p>
          <a:p>
            <a:pPr algn="l">
              <a:lnSpc>
                <a:spcPts val="2555"/>
              </a:lnSpc>
            </a:pPr>
            <a:r>
              <a:rPr lang="en-US" sz="2129">
                <a:solidFill>
                  <a:srgbClr val="073763"/>
                </a:solidFill>
                <a:latin typeface="Ubuntu"/>
                <a:ea typeface="Ubuntu"/>
                <a:cs typeface="Ubuntu"/>
                <a:sym typeface="Ubuntu"/>
              </a:rPr>
              <a:t>“Kalau dijelaskan langsung biasanya lebih mudah dimengerti, tapi kadang waktunya terbatas jadi penjelasannya nggak terlalu detail.”</a:t>
            </a:r>
          </a:p>
          <a:p>
            <a:pPr algn="l">
              <a:lnSpc>
                <a:spcPts val="2555"/>
              </a:lnSpc>
            </a:pPr>
            <a:r>
              <a:rPr lang="en-US" sz="2129">
                <a:solidFill>
                  <a:srgbClr val="073763"/>
                </a:solidFill>
                <a:latin typeface="Ubuntu"/>
                <a:ea typeface="Ubuntu"/>
                <a:cs typeface="Ubuntu"/>
                <a:sym typeface="Ubuntu"/>
              </a:rPr>
              <a:t>5. Apakah ada momen di m</a:t>
            </a:r>
            <a:r>
              <a:rPr lang="en-US" sz="2129">
                <a:solidFill>
                  <a:srgbClr val="073763"/>
                </a:solidFill>
                <a:latin typeface="Ubuntu"/>
                <a:ea typeface="Ubuntu"/>
                <a:cs typeface="Ubuntu"/>
                <a:sym typeface="Ubuntu"/>
              </a:rPr>
              <a:t>ana Ibu merasa kurang mendapatkan informasi yang cukup setelah kunjungan imunisasi?</a:t>
            </a:r>
          </a:p>
          <a:p>
            <a:pPr algn="l">
              <a:lnSpc>
                <a:spcPts val="2555"/>
              </a:lnSpc>
            </a:pPr>
            <a:r>
              <a:rPr lang="en-US" sz="2129">
                <a:solidFill>
                  <a:srgbClr val="073763"/>
                </a:solidFill>
                <a:latin typeface="Ubuntu"/>
                <a:ea typeface="Ubuntu"/>
                <a:cs typeface="Ubuntu"/>
                <a:sym typeface="Ubuntu"/>
              </a:rPr>
              <a:t>“Ada, kadang setelah pulang masih ada pertanyaan, misalnya tentang efek samping, tapi belum sempat ditanyakan.”</a:t>
            </a:r>
          </a:p>
          <a:p>
            <a:pPr algn="l">
              <a:lnSpc>
                <a:spcPts val="2555"/>
              </a:lnSpc>
            </a:pPr>
            <a:r>
              <a:rPr lang="en-US" sz="2129">
                <a:solidFill>
                  <a:srgbClr val="073763"/>
                </a:solidFill>
                <a:latin typeface="Ubuntu"/>
                <a:ea typeface="Ubuntu"/>
                <a:cs typeface="Ubuntu"/>
                <a:sym typeface="Ubuntu"/>
              </a:rPr>
              <a:t>6. Bagaimana Ibu biasanya mencari informasi tambahan jika ada hal yang belum jelas tentang kesehatan anak?</a:t>
            </a:r>
          </a:p>
          <a:p>
            <a:pPr algn="l">
              <a:lnSpc>
                <a:spcPts val="2555"/>
              </a:lnSpc>
            </a:pPr>
            <a:r>
              <a:rPr lang="en-US" sz="2129">
                <a:solidFill>
                  <a:srgbClr val="073763"/>
                </a:solidFill>
                <a:latin typeface="Ubuntu"/>
                <a:ea typeface="Ubuntu"/>
                <a:cs typeface="Ubuntu"/>
                <a:sym typeface="Ubuntu"/>
              </a:rPr>
              <a:t>“Biasanya saya cari di Google atau tanya di grup WhatsApp ibu-ibu, kadang juga tanya ke bidan kalau ketemu.”</a:t>
            </a:r>
          </a:p>
          <a:p>
            <a:pPr algn="l">
              <a:lnSpc>
                <a:spcPts val="2555"/>
              </a:lnSpc>
            </a:pPr>
            <a:r>
              <a:rPr lang="en-US" sz="2129">
                <a:solidFill>
                  <a:srgbClr val="073763"/>
                </a:solidFill>
                <a:latin typeface="Ubuntu"/>
                <a:ea typeface="Ubuntu"/>
                <a:cs typeface="Ubuntu"/>
                <a:sym typeface="Ubuntu"/>
              </a:rPr>
              <a:t>7. Apakah Ibu pernah membandingkan informasi dari Buku KIA dengan sumber lain seperti internet atau tenaga medis?</a:t>
            </a:r>
          </a:p>
          <a:p>
            <a:pPr algn="l">
              <a:lnSpc>
                <a:spcPts val="2555"/>
              </a:lnSpc>
            </a:pPr>
            <a:r>
              <a:rPr lang="en-US" sz="2129">
                <a:solidFill>
                  <a:srgbClr val="073763"/>
                </a:solidFill>
                <a:latin typeface="Ubuntu"/>
                <a:ea typeface="Ubuntu"/>
                <a:cs typeface="Ubuntu"/>
                <a:sym typeface="Ubuntu"/>
              </a:rPr>
              <a:t>“Iya pernah, soalnya kadang di internet penjelasannya lebih detail, jadi saya bandingkan biar lebih yakin.”</a:t>
            </a:r>
          </a:p>
          <a:p>
            <a:pPr algn="l">
              <a:lnSpc>
                <a:spcPts val="2555"/>
              </a:lnSpc>
            </a:pPr>
            <a:r>
              <a:rPr lang="en-US" sz="2129">
                <a:solidFill>
                  <a:srgbClr val="073763"/>
                </a:solidFill>
                <a:latin typeface="Ubuntu"/>
                <a:ea typeface="Ubuntu"/>
                <a:cs typeface="Ubuntu"/>
                <a:sym typeface="Ubuntu"/>
              </a:rPr>
              <a:t>8. Seberapa penting bagi Ibu untuk mendapatkan notifikasi atau pengingat otomatis terkait kesehatan anak?</a:t>
            </a:r>
          </a:p>
          <a:p>
            <a:pPr algn="l">
              <a:lnSpc>
                <a:spcPts val="2555"/>
              </a:lnSpc>
            </a:pPr>
            <a:r>
              <a:rPr lang="en-US" sz="2129">
                <a:solidFill>
                  <a:srgbClr val="073763"/>
                </a:solidFill>
                <a:latin typeface="Ubuntu"/>
                <a:ea typeface="Ubuntu"/>
                <a:cs typeface="Ubuntu"/>
                <a:sym typeface="Ubuntu"/>
              </a:rPr>
              <a:t>“Penting sekali, karena kadang suka lupa jadwal, apalagi kalau lagi sibuk.”</a:t>
            </a:r>
          </a:p>
          <a:p>
            <a:pPr algn="l">
              <a:lnSpc>
                <a:spcPts val="2555"/>
              </a:lnSpc>
            </a:pPr>
            <a:r>
              <a:rPr lang="en-US" sz="2129">
                <a:solidFill>
                  <a:srgbClr val="073763"/>
                </a:solidFill>
                <a:latin typeface="Ubuntu"/>
                <a:ea typeface="Ubuntu"/>
                <a:cs typeface="Ubuntu"/>
                <a:sym typeface="Ubuntu"/>
              </a:rPr>
              <a:t>9. Jika ada fitur yang bisa membantu memantau tumbuh kembang anak secara visual (misalnya grafik), apakah itu akan membantu? Mengapa?</a:t>
            </a:r>
          </a:p>
          <a:p>
            <a:pPr algn="l">
              <a:lnSpc>
                <a:spcPts val="2555"/>
              </a:lnSpc>
            </a:pPr>
            <a:r>
              <a:rPr lang="en-US" sz="2129">
                <a:solidFill>
                  <a:srgbClr val="073763"/>
                </a:solidFill>
                <a:latin typeface="Ubuntu"/>
                <a:ea typeface="Ubuntu"/>
                <a:cs typeface="Ubuntu"/>
                <a:sym typeface="Ubuntu"/>
              </a:rPr>
              <a:t>“Iya, pasti membantu. Soalnya kalau bentuk grafik lebih mudah dilihat, jadi tahu perkembangan anak naik atau tidak.”</a:t>
            </a:r>
          </a:p>
          <a:p>
            <a:pPr algn="l">
              <a:lnSpc>
                <a:spcPts val="2555"/>
              </a:lnSpc>
            </a:pPr>
            <a:r>
              <a:rPr lang="en-US" sz="2129">
                <a:solidFill>
                  <a:srgbClr val="073763"/>
                </a:solidFill>
                <a:latin typeface="Ubuntu"/>
                <a:ea typeface="Ubuntu"/>
                <a:cs typeface="Ubuntu"/>
                <a:sym typeface="Ubuntu"/>
              </a:rPr>
              <a:t>10. Apa harapan Ibu terhadap layanan kesehatan anak di masa depan, khususnya yang berbasis teknologi?</a:t>
            </a:r>
          </a:p>
          <a:p>
            <a:pPr algn="l">
              <a:lnSpc>
                <a:spcPts val="2555"/>
              </a:lnSpc>
            </a:pPr>
            <a:r>
              <a:rPr lang="en-US" sz="2129">
                <a:solidFill>
                  <a:srgbClr val="073763"/>
                </a:solidFill>
                <a:latin typeface="Ubuntu"/>
                <a:ea typeface="Ubuntu"/>
                <a:cs typeface="Ubuntu"/>
                <a:sym typeface="Ubuntu"/>
              </a:rPr>
              <a:t>“Harapannya lebih mudah diakses, informasinya jelas, dan ada pengingat otomatis. Jadi nggak perlu terlalu bergantung sama buku lagi.”</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28700" y="1446833"/>
            <a:ext cx="1814211" cy="1530270"/>
          </a:xfrm>
          <a:custGeom>
            <a:avLst/>
            <a:gdLst/>
            <a:ahLst/>
            <a:cxnLst/>
            <a:rect r="r" b="b" t="t" l="l"/>
            <a:pathLst>
              <a:path h="1530270" w="1814211">
                <a:moveTo>
                  <a:pt x="0" y="0"/>
                </a:moveTo>
                <a:lnTo>
                  <a:pt x="1814211" y="0"/>
                </a:lnTo>
                <a:lnTo>
                  <a:pt x="1814211" y="1530271"/>
                </a:lnTo>
                <a:lnTo>
                  <a:pt x="0" y="15302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531425" y="73517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TRANSKRIP WAWANCARA</a:t>
            </a:r>
          </a:p>
        </p:txBody>
      </p:sp>
      <p:sp>
        <p:nvSpPr>
          <p:cNvPr name="Freeform 12" id="12"/>
          <p:cNvSpPr/>
          <p:nvPr/>
        </p:nvSpPr>
        <p:spPr>
          <a:xfrm flipH="false" flipV="false" rot="0">
            <a:off x="1617552" y="1977606"/>
            <a:ext cx="407803" cy="531757"/>
          </a:xfrm>
          <a:custGeom>
            <a:avLst/>
            <a:gdLst/>
            <a:ahLst/>
            <a:cxnLst/>
            <a:rect r="r" b="b" t="t" l="l"/>
            <a:pathLst>
              <a:path h="531757" w="407803">
                <a:moveTo>
                  <a:pt x="0" y="0"/>
                </a:moveTo>
                <a:lnTo>
                  <a:pt x="407803" y="0"/>
                </a:lnTo>
                <a:lnTo>
                  <a:pt x="407803" y="531757"/>
                </a:lnTo>
                <a:lnTo>
                  <a:pt x="0" y="531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92294" y="1925527"/>
            <a:ext cx="5810834" cy="464048"/>
          </a:xfrm>
          <a:prstGeom prst="rect">
            <a:avLst/>
          </a:prstGeom>
        </p:spPr>
        <p:txBody>
          <a:bodyPr anchor="t" rtlCol="false" tIns="0" lIns="0" bIns="0" rIns="0">
            <a:spAutoFit/>
          </a:bodyPr>
          <a:lstStyle/>
          <a:p>
            <a:pPr algn="ctr">
              <a:lnSpc>
                <a:spcPts val="3540"/>
              </a:lnSpc>
            </a:pPr>
            <a:r>
              <a:rPr lang="en-US" b="true" sz="2950">
                <a:solidFill>
                  <a:srgbClr val="073763"/>
                </a:solidFill>
                <a:latin typeface="Ubuntu Bold"/>
                <a:ea typeface="Ubuntu Bold"/>
                <a:cs typeface="Ubuntu Bold"/>
                <a:sym typeface="Ubuntu Bold"/>
              </a:rPr>
              <a:t>Responden 2 (Ibu Deny Munthe)</a:t>
            </a:r>
          </a:p>
        </p:txBody>
      </p:sp>
      <p:sp>
        <p:nvSpPr>
          <p:cNvPr name="Freeform 14" id="14"/>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123655" y="2967579"/>
            <a:ext cx="16191321" cy="6715125"/>
          </a:xfrm>
          <a:prstGeom prst="rect">
            <a:avLst/>
          </a:prstGeom>
        </p:spPr>
        <p:txBody>
          <a:bodyPr anchor="t" rtlCol="false" tIns="0" lIns="0" bIns="0" rIns="0">
            <a:spAutoFit/>
          </a:bodyPr>
          <a:lstStyle/>
          <a:p>
            <a:pPr algn="just">
              <a:lnSpc>
                <a:spcPts val="2459"/>
              </a:lnSpc>
            </a:pPr>
            <a:r>
              <a:rPr lang="en-US" sz="2049">
                <a:solidFill>
                  <a:srgbClr val="073763"/>
                </a:solidFill>
                <a:latin typeface="Ubuntu"/>
                <a:ea typeface="Ubuntu"/>
                <a:cs typeface="Ubuntu"/>
                <a:sym typeface="Ubuntu"/>
              </a:rPr>
              <a:t>1. Bagaimana biasanya Ibu mencatat atau mengingat perkembangan kesehatan anak selain dari Buku KIA?</a:t>
            </a:r>
          </a:p>
          <a:p>
            <a:pPr algn="just">
              <a:lnSpc>
                <a:spcPts val="2459"/>
              </a:lnSpc>
            </a:pPr>
            <a:r>
              <a:rPr lang="en-US" sz="2049">
                <a:solidFill>
                  <a:srgbClr val="073763"/>
                </a:solidFill>
                <a:latin typeface="Ubuntu"/>
                <a:ea typeface="Ubuntu"/>
                <a:cs typeface="Ubuntu"/>
                <a:sym typeface="Ubuntu"/>
              </a:rPr>
              <a:t>“Kalau saya biasanya foto halaman Buku KIA pakai HP, jadi kalau butuh tinggal lihat di galeri. Kadang juga saya tanya ulang ke bidan kalau lupa.”</a:t>
            </a:r>
          </a:p>
          <a:p>
            <a:pPr algn="just">
              <a:lnSpc>
                <a:spcPts val="2459"/>
              </a:lnSpc>
            </a:pPr>
            <a:r>
              <a:rPr lang="en-US" sz="2049">
                <a:solidFill>
                  <a:srgbClr val="073763"/>
                </a:solidFill>
                <a:latin typeface="Ubuntu"/>
                <a:ea typeface="Ubuntu"/>
                <a:cs typeface="Ubuntu"/>
                <a:sym typeface="Ubuntu"/>
              </a:rPr>
              <a:t>2. Apakah Ibu pernah merasa bingung saat membaca informasi kesehatan anak? Bagian mana yang paling sulit dipahami?</a:t>
            </a:r>
          </a:p>
          <a:p>
            <a:pPr algn="just">
              <a:lnSpc>
                <a:spcPts val="2459"/>
              </a:lnSpc>
            </a:pPr>
            <a:r>
              <a:rPr lang="en-US" sz="2049">
                <a:solidFill>
                  <a:srgbClr val="073763"/>
                </a:solidFill>
                <a:latin typeface="Ubuntu"/>
                <a:ea typeface="Ubuntu"/>
                <a:cs typeface="Ubuntu"/>
                <a:sym typeface="Ubuntu"/>
              </a:rPr>
              <a:t>“Pernah, terutama bagian penjelasan panjang. Kadang tulisannya kecil dan banyak, jadi malas bacanya juga.”</a:t>
            </a:r>
          </a:p>
          <a:p>
            <a:pPr algn="just">
              <a:lnSpc>
                <a:spcPts val="2459"/>
              </a:lnSpc>
            </a:pPr>
            <a:r>
              <a:rPr lang="en-US" sz="2049">
                <a:solidFill>
                  <a:srgbClr val="073763"/>
                </a:solidFill>
                <a:latin typeface="Ubuntu"/>
                <a:ea typeface="Ubuntu"/>
                <a:cs typeface="Ubuntu"/>
                <a:sym typeface="Ubuntu"/>
              </a:rPr>
              <a:t>3. Seberapa sering Ibu membuka kembali catatan kesehatan anak setelah kunjungan ke Posyandu atau fasilitas kesehatan?</a:t>
            </a:r>
          </a:p>
          <a:p>
            <a:pPr algn="just">
              <a:lnSpc>
                <a:spcPts val="2459"/>
              </a:lnSpc>
            </a:pPr>
            <a:r>
              <a:rPr lang="en-US" sz="2049">
                <a:solidFill>
                  <a:srgbClr val="073763"/>
                </a:solidFill>
                <a:latin typeface="Ubuntu"/>
                <a:ea typeface="Ubuntu"/>
                <a:cs typeface="Ubuntu"/>
                <a:sym typeface="Ubuntu"/>
              </a:rPr>
              <a:t>“Hampir tidak pernah dibuka lagi, kecuali kalau ada masalah atau anak sakit.”</a:t>
            </a:r>
          </a:p>
          <a:p>
            <a:pPr algn="just">
              <a:lnSpc>
                <a:spcPts val="2459"/>
              </a:lnSpc>
            </a:pPr>
            <a:r>
              <a:rPr lang="en-US" sz="2049">
                <a:solidFill>
                  <a:srgbClr val="073763"/>
                </a:solidFill>
                <a:latin typeface="Ubuntu"/>
                <a:ea typeface="Ubuntu"/>
                <a:cs typeface="Ubuntu"/>
                <a:sym typeface="Ubuntu"/>
              </a:rPr>
              <a:t>4. Bagaimana pengalaman Ibu saat berinteraksi dengan petugas kesehatan terkait penjelasan imunisasi atau perkembangan anak?</a:t>
            </a:r>
          </a:p>
          <a:p>
            <a:pPr algn="just">
              <a:lnSpc>
                <a:spcPts val="2459"/>
              </a:lnSpc>
            </a:pPr>
            <a:r>
              <a:rPr lang="en-US" sz="2049">
                <a:solidFill>
                  <a:srgbClr val="073763"/>
                </a:solidFill>
                <a:latin typeface="Ubuntu"/>
                <a:ea typeface="Ubuntu"/>
                <a:cs typeface="Ubuntu"/>
                <a:sym typeface="Ubuntu"/>
              </a:rPr>
              <a:t>“Biasanya baik, tapi tergantung petugasnya juga. Ada yang menjelaskan dengan sabar, ada juga yang cepat saja karena banyak antrian.”</a:t>
            </a:r>
          </a:p>
          <a:p>
            <a:pPr algn="just">
              <a:lnSpc>
                <a:spcPts val="2459"/>
              </a:lnSpc>
            </a:pPr>
            <a:r>
              <a:rPr lang="en-US" sz="2049">
                <a:solidFill>
                  <a:srgbClr val="073763"/>
                </a:solidFill>
                <a:latin typeface="Ubuntu"/>
                <a:ea typeface="Ubuntu"/>
                <a:cs typeface="Ubuntu"/>
                <a:sym typeface="Ubuntu"/>
              </a:rPr>
              <a:t>5. Apakah ada momen di mana Ibu merasa kurang mendapatkan informasi yang cukup setelah kunjungan imunisasi?</a:t>
            </a:r>
          </a:p>
          <a:p>
            <a:pPr algn="just">
              <a:lnSpc>
                <a:spcPts val="2459"/>
              </a:lnSpc>
            </a:pPr>
            <a:r>
              <a:rPr lang="en-US" sz="2049">
                <a:solidFill>
                  <a:srgbClr val="073763"/>
                </a:solidFill>
                <a:latin typeface="Ubuntu"/>
                <a:ea typeface="Ubuntu"/>
                <a:cs typeface="Ubuntu"/>
                <a:sym typeface="Ubuntu"/>
              </a:rPr>
              <a:t>“Iya, pernah. Waktu itu anak saya demam setelah imunisasi, tapi saya kurang tahu harus bagaimana karena penjelasannya kurang detail.”</a:t>
            </a:r>
          </a:p>
          <a:p>
            <a:pPr algn="just">
              <a:lnSpc>
                <a:spcPts val="2459"/>
              </a:lnSpc>
            </a:pPr>
            <a:r>
              <a:rPr lang="en-US" sz="2049">
                <a:solidFill>
                  <a:srgbClr val="073763"/>
                </a:solidFill>
                <a:latin typeface="Ubuntu"/>
                <a:ea typeface="Ubuntu"/>
                <a:cs typeface="Ubuntu"/>
                <a:sym typeface="Ubuntu"/>
              </a:rPr>
              <a:t>6. Bagaimana Ibu biasanya mencari informasi tambahan jika ada hal yang belum jelas tentang kesehatan anak?</a:t>
            </a:r>
          </a:p>
          <a:p>
            <a:pPr algn="just">
              <a:lnSpc>
                <a:spcPts val="2459"/>
              </a:lnSpc>
            </a:pPr>
            <a:r>
              <a:rPr lang="en-US" sz="2049">
                <a:solidFill>
                  <a:srgbClr val="073763"/>
                </a:solidFill>
                <a:latin typeface="Ubuntu"/>
                <a:ea typeface="Ubuntu"/>
                <a:cs typeface="Ubuntu"/>
                <a:sym typeface="Ubuntu"/>
              </a:rPr>
              <a:t>“Saya biasanya lihat YouTube atau media sosial, kadang juga baca artikel kesehatan dari internet.”</a:t>
            </a:r>
          </a:p>
          <a:p>
            <a:pPr algn="just">
              <a:lnSpc>
                <a:spcPts val="2459"/>
              </a:lnSpc>
            </a:pPr>
            <a:r>
              <a:rPr lang="en-US" sz="2049">
                <a:solidFill>
                  <a:srgbClr val="073763"/>
                </a:solidFill>
                <a:latin typeface="Ubuntu"/>
                <a:ea typeface="Ubuntu"/>
                <a:cs typeface="Ubuntu"/>
                <a:sym typeface="Ubuntu"/>
              </a:rPr>
              <a:t>7. Apakah Ibu pernah membandingkan informasi dari Buku KIA dengan sumber lain seperti internet atau tenaga medis?</a:t>
            </a:r>
          </a:p>
          <a:p>
            <a:pPr algn="just">
              <a:lnSpc>
                <a:spcPts val="2459"/>
              </a:lnSpc>
            </a:pPr>
            <a:r>
              <a:rPr lang="en-US" sz="2049">
                <a:solidFill>
                  <a:srgbClr val="073763"/>
                </a:solidFill>
                <a:latin typeface="Ubuntu"/>
                <a:ea typeface="Ubuntu"/>
                <a:cs typeface="Ubuntu"/>
                <a:sym typeface="Ubuntu"/>
              </a:rPr>
              <a:t>“Tidak terlalu sering, tapi kalau ada yang berbeda saya biasanya lebih percaya penjelasan dari bidan.”</a:t>
            </a:r>
          </a:p>
          <a:p>
            <a:pPr algn="just">
              <a:lnSpc>
                <a:spcPts val="2459"/>
              </a:lnSpc>
            </a:pPr>
            <a:r>
              <a:rPr lang="en-US" sz="2049">
                <a:solidFill>
                  <a:srgbClr val="073763"/>
                </a:solidFill>
                <a:latin typeface="Ubuntu"/>
                <a:ea typeface="Ubuntu"/>
                <a:cs typeface="Ubuntu"/>
                <a:sym typeface="Ubuntu"/>
              </a:rPr>
              <a:t>8. Seberapa penting bagi Ibu untuk mendapatkan notifikasi atau pengingat otomatis terkait kesehatan anak?</a:t>
            </a:r>
          </a:p>
          <a:p>
            <a:pPr algn="just">
              <a:lnSpc>
                <a:spcPts val="2459"/>
              </a:lnSpc>
            </a:pPr>
            <a:r>
              <a:rPr lang="en-US" sz="2049">
                <a:solidFill>
                  <a:srgbClr val="073763"/>
                </a:solidFill>
                <a:latin typeface="Ubuntu"/>
                <a:ea typeface="Ubuntu"/>
                <a:cs typeface="Ubuntu"/>
                <a:sym typeface="Ubuntu"/>
              </a:rPr>
              <a:t>“Menurut saya cukup penting, apalagi kalau jadwalnya banyak. Jadi tidak perlu mengingat sendiri.”</a:t>
            </a:r>
          </a:p>
          <a:p>
            <a:pPr algn="just">
              <a:lnSpc>
                <a:spcPts val="2459"/>
              </a:lnSpc>
            </a:pPr>
            <a:r>
              <a:rPr lang="en-US" sz="2049">
                <a:solidFill>
                  <a:srgbClr val="073763"/>
                </a:solidFill>
                <a:latin typeface="Ubuntu"/>
                <a:ea typeface="Ubuntu"/>
                <a:cs typeface="Ubuntu"/>
                <a:sym typeface="Ubuntu"/>
              </a:rPr>
              <a:t>9. Jika ada fitur yang bisa membantu memantau tumbuh kembang anak secara visual (misalnya grafik), apakah itu akan membantu? Mengapa?</a:t>
            </a:r>
          </a:p>
          <a:p>
            <a:pPr algn="just">
              <a:lnSpc>
                <a:spcPts val="2459"/>
              </a:lnSpc>
            </a:pPr>
            <a:r>
              <a:rPr lang="en-US" sz="2049">
                <a:solidFill>
                  <a:srgbClr val="073763"/>
                </a:solidFill>
                <a:latin typeface="Ubuntu"/>
                <a:ea typeface="Ubuntu"/>
                <a:cs typeface="Ubuntu"/>
                <a:sym typeface="Ubuntu"/>
              </a:rPr>
              <a:t>“Mungkin membantu, tapi kalau terlalu rumit saya malah bingung. Yang penting sederhana dan mudah dipahami.”</a:t>
            </a:r>
          </a:p>
          <a:p>
            <a:pPr algn="just">
              <a:lnSpc>
                <a:spcPts val="2459"/>
              </a:lnSpc>
            </a:pPr>
            <a:r>
              <a:rPr lang="en-US" sz="2049">
                <a:solidFill>
                  <a:srgbClr val="073763"/>
                </a:solidFill>
                <a:latin typeface="Ubuntu"/>
                <a:ea typeface="Ubuntu"/>
                <a:cs typeface="Ubuntu"/>
                <a:sym typeface="Ubuntu"/>
              </a:rPr>
              <a:t>10. Apa harapan Ibu terhadap layanan kesehatan anak di masa depan, khususnya yang berbasis teknologi?</a:t>
            </a:r>
          </a:p>
          <a:p>
            <a:pPr algn="just">
              <a:lnSpc>
                <a:spcPts val="2459"/>
              </a:lnSpc>
            </a:pPr>
            <a:r>
              <a:rPr lang="en-US" sz="2049">
                <a:solidFill>
                  <a:srgbClr val="073763"/>
                </a:solidFill>
                <a:latin typeface="Ubuntu"/>
                <a:ea typeface="Ubuntu"/>
                <a:cs typeface="Ubuntu"/>
                <a:sym typeface="Ubuntu"/>
              </a:rPr>
              <a:t>“Saya berharap lebih praktis, bisa diakses dari rumah, dan tidak perlu sering bolak-balik hanya untuk tanya informasi.”</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969176" y="1442897"/>
            <a:ext cx="1814211" cy="1530270"/>
          </a:xfrm>
          <a:custGeom>
            <a:avLst/>
            <a:gdLst/>
            <a:ahLst/>
            <a:cxnLst/>
            <a:rect r="r" b="b" t="t" l="l"/>
            <a:pathLst>
              <a:path h="1530270" w="1814211">
                <a:moveTo>
                  <a:pt x="0" y="0"/>
                </a:moveTo>
                <a:lnTo>
                  <a:pt x="1814211" y="0"/>
                </a:lnTo>
                <a:lnTo>
                  <a:pt x="1814211" y="1530270"/>
                </a:lnTo>
                <a:lnTo>
                  <a:pt x="0" y="15302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531425" y="73517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TRANSKRIP WAWANCARA</a:t>
            </a:r>
          </a:p>
        </p:txBody>
      </p:sp>
      <p:sp>
        <p:nvSpPr>
          <p:cNvPr name="Freeform 12" id="12"/>
          <p:cNvSpPr/>
          <p:nvPr/>
        </p:nvSpPr>
        <p:spPr>
          <a:xfrm flipH="false" flipV="false" rot="0">
            <a:off x="1558028" y="1973669"/>
            <a:ext cx="407803" cy="531757"/>
          </a:xfrm>
          <a:custGeom>
            <a:avLst/>
            <a:gdLst/>
            <a:ahLst/>
            <a:cxnLst/>
            <a:rect r="r" b="b" t="t" l="l"/>
            <a:pathLst>
              <a:path h="531757" w="407803">
                <a:moveTo>
                  <a:pt x="0" y="0"/>
                </a:moveTo>
                <a:lnTo>
                  <a:pt x="407803" y="0"/>
                </a:lnTo>
                <a:lnTo>
                  <a:pt x="407803" y="531757"/>
                </a:lnTo>
                <a:lnTo>
                  <a:pt x="0" y="531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32770" y="1921590"/>
            <a:ext cx="5888437" cy="464048"/>
          </a:xfrm>
          <a:prstGeom prst="rect">
            <a:avLst/>
          </a:prstGeom>
        </p:spPr>
        <p:txBody>
          <a:bodyPr anchor="t" rtlCol="false" tIns="0" lIns="0" bIns="0" rIns="0">
            <a:spAutoFit/>
          </a:bodyPr>
          <a:lstStyle/>
          <a:p>
            <a:pPr algn="ctr">
              <a:lnSpc>
                <a:spcPts val="3540"/>
              </a:lnSpc>
            </a:pPr>
            <a:r>
              <a:rPr lang="en-US" b="true" sz="2950">
                <a:solidFill>
                  <a:srgbClr val="073763"/>
                </a:solidFill>
                <a:latin typeface="Ubuntu Bold"/>
                <a:ea typeface="Ubuntu Bold"/>
                <a:cs typeface="Ubuntu Bold"/>
                <a:sym typeface="Ubuntu Bold"/>
              </a:rPr>
              <a:t>Responden 3 (Ibu Neli Panjaitan)</a:t>
            </a:r>
          </a:p>
        </p:txBody>
      </p:sp>
      <p:sp>
        <p:nvSpPr>
          <p:cNvPr name="Freeform 14" id="14"/>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142591" y="3039449"/>
            <a:ext cx="16191321" cy="6800850"/>
          </a:xfrm>
          <a:prstGeom prst="rect">
            <a:avLst/>
          </a:prstGeom>
        </p:spPr>
        <p:txBody>
          <a:bodyPr anchor="t" rtlCol="false" tIns="0" lIns="0" bIns="0" rIns="0">
            <a:spAutoFit/>
          </a:bodyPr>
          <a:lstStyle/>
          <a:p>
            <a:pPr algn="just">
              <a:lnSpc>
                <a:spcPts val="2387"/>
              </a:lnSpc>
            </a:pPr>
            <a:r>
              <a:rPr lang="en-US" sz="1989">
                <a:solidFill>
                  <a:srgbClr val="073763"/>
                </a:solidFill>
                <a:latin typeface="Ubuntu"/>
                <a:ea typeface="Ubuntu"/>
                <a:cs typeface="Ubuntu"/>
                <a:sym typeface="Ubuntu"/>
              </a:rPr>
              <a:t>1. Bagaimana biasanya Ibu mencatat atau mengingat perkembangan kesehatan anak selain dari Buku KIA?</a:t>
            </a:r>
          </a:p>
          <a:p>
            <a:pPr algn="just">
              <a:lnSpc>
                <a:spcPts val="2387"/>
              </a:lnSpc>
            </a:pPr>
            <a:r>
              <a:rPr lang="en-US" sz="1989">
                <a:solidFill>
                  <a:srgbClr val="073763"/>
                </a:solidFill>
                <a:latin typeface="Ubuntu"/>
                <a:ea typeface="Ubuntu"/>
                <a:cs typeface="Ubuntu"/>
                <a:sym typeface="Ubuntu"/>
              </a:rPr>
              <a:t>"Biasanya memantau melalui aktivitas harian anak, seperti saat anak tidur atau saat diberi ASI. Informasi juga berasal dari pengalaman serta pengetahuan yang telah dipelajari."</a:t>
            </a:r>
          </a:p>
          <a:p>
            <a:pPr algn="just">
              <a:lnSpc>
                <a:spcPts val="2387"/>
              </a:lnSpc>
            </a:pPr>
            <a:r>
              <a:rPr lang="en-US" sz="1989">
                <a:solidFill>
                  <a:srgbClr val="073763"/>
                </a:solidFill>
                <a:latin typeface="Ubuntu"/>
                <a:ea typeface="Ubuntu"/>
                <a:cs typeface="Ubuntu"/>
                <a:sym typeface="Ubuntu"/>
              </a:rPr>
              <a:t>2. Apakah Ibu pernah merasa bingung saat membaca informasi kesehatan anak? Bagian mana yang paling sulit dipahami?</a:t>
            </a:r>
          </a:p>
          <a:p>
            <a:pPr algn="just">
              <a:lnSpc>
                <a:spcPts val="2387"/>
              </a:lnSpc>
            </a:pPr>
            <a:r>
              <a:rPr lang="en-US" sz="1989">
                <a:solidFill>
                  <a:srgbClr val="073763"/>
                </a:solidFill>
                <a:latin typeface="Ubuntu"/>
                <a:ea typeface="Ubuntu"/>
                <a:cs typeface="Ubuntu"/>
                <a:sym typeface="Ubuntu"/>
              </a:rPr>
              <a:t>"Tidak merasa kesulitan. Justru informasi dalam Buku KIA dianggap mudah dipahami dan membantu menambah pengetahuan, terutama sebagai ibu baru."</a:t>
            </a:r>
          </a:p>
          <a:p>
            <a:pPr algn="just">
              <a:lnSpc>
                <a:spcPts val="2387"/>
              </a:lnSpc>
            </a:pPr>
            <a:r>
              <a:rPr lang="en-US" sz="1989">
                <a:solidFill>
                  <a:srgbClr val="073763"/>
                </a:solidFill>
                <a:latin typeface="Ubuntu"/>
                <a:ea typeface="Ubuntu"/>
                <a:cs typeface="Ubuntu"/>
                <a:sym typeface="Ubuntu"/>
              </a:rPr>
              <a:t>3. Seberapa sering Ibu membuka kembali catatan kesehatan anak setelah kunjungan ke Posyandu atau fasilitas kesehatan?</a:t>
            </a:r>
          </a:p>
          <a:p>
            <a:pPr algn="just">
              <a:lnSpc>
                <a:spcPts val="2387"/>
              </a:lnSpc>
            </a:pPr>
            <a:r>
              <a:rPr lang="en-US" sz="1989">
                <a:solidFill>
                  <a:srgbClr val="073763"/>
                </a:solidFill>
                <a:latin typeface="Ubuntu"/>
                <a:ea typeface="Ubuntu"/>
                <a:cs typeface="Ubuntu"/>
                <a:sym typeface="Ubuntu"/>
              </a:rPr>
              <a:t>"Lebih sering digunakan saat berada di Posyandu dan kadang dibuka kembali ketika memiliki waktu senggang."</a:t>
            </a:r>
          </a:p>
          <a:p>
            <a:pPr algn="just">
              <a:lnSpc>
                <a:spcPts val="2387"/>
              </a:lnSpc>
            </a:pPr>
            <a:r>
              <a:rPr lang="en-US" sz="1989">
                <a:solidFill>
                  <a:srgbClr val="073763"/>
                </a:solidFill>
                <a:latin typeface="Ubuntu"/>
                <a:ea typeface="Ubuntu"/>
                <a:cs typeface="Ubuntu"/>
                <a:sym typeface="Ubuntu"/>
              </a:rPr>
              <a:t>4. Bagaimana pengalaman Ibu saat berinteraksi dengan petugas kesehatan terkait penjelasan imunisasi atau perkembangan anak?</a:t>
            </a:r>
          </a:p>
          <a:p>
            <a:pPr algn="just">
              <a:lnSpc>
                <a:spcPts val="2387"/>
              </a:lnSpc>
            </a:pPr>
            <a:r>
              <a:rPr lang="en-US" sz="1989">
                <a:solidFill>
                  <a:srgbClr val="073763"/>
                </a:solidFill>
                <a:latin typeface="Ubuntu"/>
                <a:ea typeface="Ubuntu"/>
                <a:cs typeface="Ubuntu"/>
                <a:sym typeface="Ubuntu"/>
              </a:rPr>
              <a:t>"(Tidak disebutkan secara langsung dalam transkrip)."</a:t>
            </a:r>
          </a:p>
          <a:p>
            <a:pPr algn="just">
              <a:lnSpc>
                <a:spcPts val="2387"/>
              </a:lnSpc>
            </a:pPr>
            <a:r>
              <a:rPr lang="en-US" sz="1989">
                <a:solidFill>
                  <a:srgbClr val="073763"/>
                </a:solidFill>
                <a:latin typeface="Ubuntu"/>
                <a:ea typeface="Ubuntu"/>
                <a:cs typeface="Ubuntu"/>
                <a:sym typeface="Ubuntu"/>
              </a:rPr>
              <a:t>5. Apakah ada momen di mana Ibu merasa kurang mendapatkan informasi yang cukup setelah kunjungan imunisasi?</a:t>
            </a:r>
          </a:p>
          <a:p>
            <a:pPr algn="just">
              <a:lnSpc>
                <a:spcPts val="2387"/>
              </a:lnSpc>
            </a:pPr>
            <a:r>
              <a:rPr lang="en-US" sz="1989">
                <a:solidFill>
                  <a:srgbClr val="073763"/>
                </a:solidFill>
                <a:latin typeface="Ubuntu"/>
                <a:ea typeface="Ubuntu"/>
                <a:cs typeface="Ubuntu"/>
                <a:sym typeface="Ubuntu"/>
              </a:rPr>
              <a:t>"(Tidak disebutkan secara langsung dalam transkrip)."</a:t>
            </a:r>
          </a:p>
          <a:p>
            <a:pPr algn="just">
              <a:lnSpc>
                <a:spcPts val="2387"/>
              </a:lnSpc>
            </a:pPr>
            <a:r>
              <a:rPr lang="en-US" sz="1989">
                <a:solidFill>
                  <a:srgbClr val="073763"/>
                </a:solidFill>
                <a:latin typeface="Ubuntu"/>
                <a:ea typeface="Ubuntu"/>
                <a:cs typeface="Ubuntu"/>
                <a:sym typeface="Ubuntu"/>
              </a:rPr>
              <a:t>6. Bagaimana Ibu biasanya mencari informasi tambahan jika ada hal yang belum jelas tentang kesehatan anak?</a:t>
            </a:r>
          </a:p>
          <a:p>
            <a:pPr algn="just">
              <a:lnSpc>
                <a:spcPts val="2387"/>
              </a:lnSpc>
            </a:pPr>
            <a:r>
              <a:rPr lang="en-US" sz="1989">
                <a:solidFill>
                  <a:srgbClr val="073763"/>
                </a:solidFill>
                <a:latin typeface="Ubuntu"/>
                <a:ea typeface="Ubuntu"/>
                <a:cs typeface="Ubuntu"/>
                <a:sym typeface="Ubuntu"/>
              </a:rPr>
              <a:t>"Informasi lebih banyak berasal dari pengalaman pribadi serta pengetahuan yang sudah dipelajari."</a:t>
            </a:r>
          </a:p>
          <a:p>
            <a:pPr algn="just">
              <a:lnSpc>
                <a:spcPts val="2387"/>
              </a:lnSpc>
            </a:pPr>
            <a:r>
              <a:rPr lang="en-US" sz="1989">
                <a:solidFill>
                  <a:srgbClr val="073763"/>
                </a:solidFill>
                <a:latin typeface="Ubuntu"/>
                <a:ea typeface="Ubuntu"/>
                <a:cs typeface="Ubuntu"/>
                <a:sym typeface="Ubuntu"/>
              </a:rPr>
              <a:t>7. Apakah Ibu pernah membandingkan informasi dari Buku KIA dengan sumber lain seperti internet atau tenaga medis?</a:t>
            </a:r>
          </a:p>
          <a:p>
            <a:pPr algn="just">
              <a:lnSpc>
                <a:spcPts val="2387"/>
              </a:lnSpc>
            </a:pPr>
            <a:r>
              <a:rPr lang="en-US" sz="1989">
                <a:solidFill>
                  <a:srgbClr val="073763"/>
                </a:solidFill>
                <a:latin typeface="Ubuntu"/>
                <a:ea typeface="Ubuntu"/>
                <a:cs typeface="Ubuntu"/>
                <a:sym typeface="Ubuntu"/>
              </a:rPr>
              <a:t>"(Tidak disebutkan secara langsung dalam transkrip)."</a:t>
            </a:r>
          </a:p>
          <a:p>
            <a:pPr algn="just">
              <a:lnSpc>
                <a:spcPts val="2387"/>
              </a:lnSpc>
            </a:pPr>
            <a:r>
              <a:rPr lang="en-US" sz="1989">
                <a:solidFill>
                  <a:srgbClr val="073763"/>
                </a:solidFill>
                <a:latin typeface="Ubuntu"/>
                <a:ea typeface="Ubuntu"/>
                <a:cs typeface="Ubuntu"/>
                <a:sym typeface="Ubuntu"/>
              </a:rPr>
              <a:t>8. Seberapa penting bagi Ibu untuk mendapatkan notifikasi atau pengingat otomatis terkait kesehatan anak?</a:t>
            </a:r>
          </a:p>
          <a:p>
            <a:pPr algn="just">
              <a:lnSpc>
                <a:spcPts val="2387"/>
              </a:lnSpc>
            </a:pPr>
            <a:r>
              <a:rPr lang="en-US" sz="1989">
                <a:solidFill>
                  <a:srgbClr val="073763"/>
                </a:solidFill>
                <a:latin typeface="Ubuntu"/>
                <a:ea typeface="Ubuntu"/>
                <a:cs typeface="Ubuntu"/>
                <a:sym typeface="Ubuntu"/>
              </a:rPr>
              <a:t>"Sangat mengharapkan adanya fitur pengingat, khususnya untuk jadwal imunisasi anak."</a:t>
            </a:r>
          </a:p>
          <a:p>
            <a:pPr algn="just">
              <a:lnSpc>
                <a:spcPts val="2387"/>
              </a:lnSpc>
            </a:pPr>
            <a:r>
              <a:rPr lang="en-US" sz="1989">
                <a:solidFill>
                  <a:srgbClr val="073763"/>
                </a:solidFill>
                <a:latin typeface="Ubuntu"/>
                <a:ea typeface="Ubuntu"/>
                <a:cs typeface="Ubuntu"/>
                <a:sym typeface="Ubuntu"/>
              </a:rPr>
              <a:t>9. Jika ada fitur yang bisa membantu memantau tumbuh kembang anak secara visual (misalnya grafik), apakah itu akan membantu? Mengapa?</a:t>
            </a:r>
          </a:p>
          <a:p>
            <a:pPr algn="just">
              <a:lnSpc>
                <a:spcPts val="2387"/>
              </a:lnSpc>
            </a:pPr>
            <a:r>
              <a:rPr lang="en-US" sz="1989">
                <a:solidFill>
                  <a:srgbClr val="073763"/>
                </a:solidFill>
                <a:latin typeface="Ubuntu"/>
                <a:ea typeface="Ubuntu"/>
                <a:cs typeface="Ubuntu"/>
                <a:sym typeface="Ubuntu"/>
              </a:rPr>
              <a:t>"(Tidak disebutkan secara langsung dalam transkrip)."</a:t>
            </a:r>
          </a:p>
          <a:p>
            <a:pPr algn="just">
              <a:lnSpc>
                <a:spcPts val="2387"/>
              </a:lnSpc>
            </a:pPr>
            <a:r>
              <a:rPr lang="en-US" sz="1989">
                <a:solidFill>
                  <a:srgbClr val="073763"/>
                </a:solidFill>
                <a:latin typeface="Ubuntu"/>
                <a:ea typeface="Ubuntu"/>
                <a:cs typeface="Ubuntu"/>
                <a:sym typeface="Ubuntu"/>
              </a:rPr>
              <a:t>10. Apa harapan Ibu terhadap layanan kesehatan anak di masa depan, khususnya yang berbasis teknologi?</a:t>
            </a:r>
          </a:p>
          <a:p>
            <a:pPr algn="just">
              <a:lnSpc>
                <a:spcPts val="2387"/>
              </a:lnSpc>
            </a:pPr>
            <a:r>
              <a:rPr lang="en-US" sz="1989">
                <a:solidFill>
                  <a:srgbClr val="073763"/>
                </a:solidFill>
                <a:latin typeface="Ubuntu"/>
                <a:ea typeface="Ubuntu"/>
                <a:cs typeface="Ubuntu"/>
                <a:sym typeface="Ubuntu"/>
              </a:rPr>
              <a:t>"Mengharapkan adanya aplikasi yang praktis di handphone, dilengkapi fitur pengingat, informasi kesehatan anak, serta memiliki sistem keamanan yang baik agar data pribadi tetap terlindungi."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28700" y="1590724"/>
            <a:ext cx="1814211" cy="1530270"/>
          </a:xfrm>
          <a:custGeom>
            <a:avLst/>
            <a:gdLst/>
            <a:ahLst/>
            <a:cxnLst/>
            <a:rect r="r" b="b" t="t" l="l"/>
            <a:pathLst>
              <a:path h="1530270" w="1814211">
                <a:moveTo>
                  <a:pt x="0" y="0"/>
                </a:moveTo>
                <a:lnTo>
                  <a:pt x="1814211" y="0"/>
                </a:lnTo>
                <a:lnTo>
                  <a:pt x="1814211" y="1530270"/>
                </a:lnTo>
                <a:lnTo>
                  <a:pt x="0" y="15302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531425" y="73517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TRANSKRIP WAWANCARA</a:t>
            </a:r>
          </a:p>
        </p:txBody>
      </p:sp>
      <p:sp>
        <p:nvSpPr>
          <p:cNvPr name="Freeform 12" id="12"/>
          <p:cNvSpPr/>
          <p:nvPr/>
        </p:nvSpPr>
        <p:spPr>
          <a:xfrm flipH="false" flipV="false" rot="0">
            <a:off x="1617552" y="2121497"/>
            <a:ext cx="407803" cy="531757"/>
          </a:xfrm>
          <a:custGeom>
            <a:avLst/>
            <a:gdLst/>
            <a:ahLst/>
            <a:cxnLst/>
            <a:rect r="r" b="b" t="t" l="l"/>
            <a:pathLst>
              <a:path h="531757" w="407803">
                <a:moveTo>
                  <a:pt x="0" y="0"/>
                </a:moveTo>
                <a:lnTo>
                  <a:pt x="407803" y="0"/>
                </a:lnTo>
                <a:lnTo>
                  <a:pt x="407803" y="531757"/>
                </a:lnTo>
                <a:lnTo>
                  <a:pt x="0" y="531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92294" y="2069418"/>
            <a:ext cx="4895125" cy="464048"/>
          </a:xfrm>
          <a:prstGeom prst="rect">
            <a:avLst/>
          </a:prstGeom>
        </p:spPr>
        <p:txBody>
          <a:bodyPr anchor="t" rtlCol="false" tIns="0" lIns="0" bIns="0" rIns="0">
            <a:spAutoFit/>
          </a:bodyPr>
          <a:lstStyle/>
          <a:p>
            <a:pPr algn="ctr">
              <a:lnSpc>
                <a:spcPts val="3540"/>
              </a:lnSpc>
            </a:pPr>
            <a:r>
              <a:rPr lang="en-US" b="true" sz="2950">
                <a:solidFill>
                  <a:srgbClr val="073763"/>
                </a:solidFill>
                <a:latin typeface="Ubuntu Bold"/>
                <a:ea typeface="Ubuntu Bold"/>
                <a:cs typeface="Ubuntu Bold"/>
                <a:sym typeface="Ubuntu Bold"/>
              </a:rPr>
              <a:t>Responden 4 (Ibu Christin) </a:t>
            </a:r>
          </a:p>
        </p:txBody>
      </p:sp>
      <p:sp>
        <p:nvSpPr>
          <p:cNvPr name="Freeform 14" id="14"/>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142591" y="3039449"/>
            <a:ext cx="16191321" cy="7096125"/>
          </a:xfrm>
          <a:prstGeom prst="rect">
            <a:avLst/>
          </a:prstGeom>
        </p:spPr>
        <p:txBody>
          <a:bodyPr anchor="t" rtlCol="false" tIns="0" lIns="0" bIns="0" rIns="0">
            <a:spAutoFit/>
          </a:bodyPr>
          <a:lstStyle/>
          <a:p>
            <a:pPr algn="just">
              <a:lnSpc>
                <a:spcPts val="2375"/>
              </a:lnSpc>
            </a:pPr>
            <a:r>
              <a:rPr lang="en-US" sz="1979">
                <a:solidFill>
                  <a:srgbClr val="073763"/>
                </a:solidFill>
                <a:latin typeface="Ubuntu"/>
                <a:ea typeface="Ubuntu"/>
                <a:cs typeface="Ubuntu"/>
                <a:sym typeface="Ubuntu"/>
              </a:rPr>
              <a:t>1. Bagaimana biasanya Ibu mencatat atau mengingat perkembangan kesehatan anak selain dari Buku KIA?</a:t>
            </a:r>
          </a:p>
          <a:p>
            <a:pPr algn="just">
              <a:lnSpc>
                <a:spcPts val="2375"/>
              </a:lnSpc>
            </a:pPr>
            <a:r>
              <a:rPr lang="en-US" sz="1979">
                <a:solidFill>
                  <a:srgbClr val="073763"/>
                </a:solidFill>
                <a:latin typeface="Ubuntu"/>
                <a:ea typeface="Ubuntu"/>
                <a:cs typeface="Ubuntu"/>
                <a:sym typeface="Ubuntu"/>
              </a:rPr>
              <a:t>"Memanfaatkan kalender sebagai pengingat manual untuk kunjungan rutin ke Posyandu setiap bulan. Selain itu, menggunakan handphone dengan memfoto Buku KIA sebagai media pendukung, meskipun tidak sering dibuka."</a:t>
            </a:r>
          </a:p>
          <a:p>
            <a:pPr algn="just">
              <a:lnSpc>
                <a:spcPts val="2375"/>
              </a:lnSpc>
            </a:pPr>
            <a:r>
              <a:rPr lang="en-US" sz="1979">
                <a:solidFill>
                  <a:srgbClr val="073763"/>
                </a:solidFill>
                <a:latin typeface="Ubuntu"/>
                <a:ea typeface="Ubuntu"/>
                <a:cs typeface="Ubuntu"/>
                <a:sym typeface="Ubuntu"/>
              </a:rPr>
              <a:t>2. Apakah Ibu pernah merasa bingung saat membaca informasi kesehatan anak? Bagian mana yang paling sulit dipahami?</a:t>
            </a:r>
          </a:p>
          <a:p>
            <a:pPr algn="just">
              <a:lnSpc>
                <a:spcPts val="2375"/>
              </a:lnSpc>
            </a:pPr>
            <a:r>
              <a:rPr lang="en-US" sz="1979">
                <a:solidFill>
                  <a:srgbClr val="073763"/>
                </a:solidFill>
                <a:latin typeface="Ubuntu"/>
                <a:ea typeface="Ubuntu"/>
                <a:cs typeface="Ubuntu"/>
                <a:sym typeface="Ubuntu"/>
              </a:rPr>
              <a:t>"Pernah mengalami kebingungan, terutama saat hasil pemeriksaan menunjukkan berat badan anak kurang meskipun sudah mengikuti anjuran. Selain itu, kesulitan memahami isi buku pada bagian penjelasan yang panjang dan tampilan tulisan yang kurang nyaman dibaca."</a:t>
            </a:r>
          </a:p>
          <a:p>
            <a:pPr algn="just">
              <a:lnSpc>
                <a:spcPts val="2375"/>
              </a:lnSpc>
            </a:pPr>
            <a:r>
              <a:rPr lang="en-US" sz="1979">
                <a:solidFill>
                  <a:srgbClr val="073763"/>
                </a:solidFill>
                <a:latin typeface="Ubuntu"/>
                <a:ea typeface="Ubuntu"/>
                <a:cs typeface="Ubuntu"/>
                <a:sym typeface="Ubuntu"/>
              </a:rPr>
              <a:t>3. Seberapa sering Ibu membuka kembali catatan kesehatan anak setelah kunjungan ke Posyandu atau fasilitas kesehatan?</a:t>
            </a:r>
          </a:p>
          <a:p>
            <a:pPr algn="just">
              <a:lnSpc>
                <a:spcPts val="2375"/>
              </a:lnSpc>
            </a:pPr>
            <a:r>
              <a:rPr lang="en-US" sz="1979">
                <a:solidFill>
                  <a:srgbClr val="073763"/>
                </a:solidFill>
                <a:latin typeface="Ubuntu"/>
                <a:ea typeface="Ubuntu"/>
                <a:cs typeface="Ubuntu"/>
                <a:sym typeface="Ubuntu"/>
              </a:rPr>
              <a:t>"Tidak sering dibuka kembali, meskipun sempat didokumentasikan melalui foto di handphone."</a:t>
            </a:r>
          </a:p>
          <a:p>
            <a:pPr algn="just">
              <a:lnSpc>
                <a:spcPts val="2375"/>
              </a:lnSpc>
            </a:pPr>
            <a:r>
              <a:rPr lang="en-US" sz="1979">
                <a:solidFill>
                  <a:srgbClr val="073763"/>
                </a:solidFill>
                <a:latin typeface="Ubuntu"/>
                <a:ea typeface="Ubuntu"/>
                <a:cs typeface="Ubuntu"/>
                <a:sym typeface="Ubuntu"/>
              </a:rPr>
              <a:t>4. Bagaimana pengalaman Ibu saat berinteraksi dengan petugas kesehatan terkait penjelasan imunisasi atau perkembangan anak?</a:t>
            </a:r>
          </a:p>
          <a:p>
            <a:pPr algn="just">
              <a:lnSpc>
                <a:spcPts val="2375"/>
              </a:lnSpc>
            </a:pPr>
            <a:r>
              <a:rPr lang="en-US" sz="1979">
                <a:solidFill>
                  <a:srgbClr val="073763"/>
                </a:solidFill>
                <a:latin typeface="Ubuntu"/>
                <a:ea typeface="Ubuntu"/>
                <a:cs typeface="Ubuntu"/>
                <a:sym typeface="Ubuntu"/>
              </a:rPr>
              <a:t>"Mendapatkan informasi yang cukup baik, namun belum konsisten. Pada kondisi ramai dan waktu terbatas, penjelasan menjadi kurang detail."</a:t>
            </a:r>
          </a:p>
          <a:p>
            <a:pPr algn="just">
              <a:lnSpc>
                <a:spcPts val="2375"/>
              </a:lnSpc>
            </a:pPr>
            <a:r>
              <a:rPr lang="en-US" sz="1979">
                <a:solidFill>
                  <a:srgbClr val="073763"/>
                </a:solidFill>
                <a:latin typeface="Ubuntu"/>
                <a:ea typeface="Ubuntu"/>
                <a:cs typeface="Ubuntu"/>
                <a:sym typeface="Ubuntu"/>
              </a:rPr>
              <a:t>5. Apakah ada momen di mana Ibu merasa kurang mendapatkan informasi yang cukup setelah kunjungan imunisasi?</a:t>
            </a:r>
          </a:p>
          <a:p>
            <a:pPr algn="just">
              <a:lnSpc>
                <a:spcPts val="2375"/>
              </a:lnSpc>
            </a:pPr>
            <a:r>
              <a:rPr lang="en-US" sz="1979">
                <a:solidFill>
                  <a:srgbClr val="073763"/>
                </a:solidFill>
                <a:latin typeface="Ubuntu"/>
                <a:ea typeface="Ubuntu"/>
                <a:cs typeface="Ubuntu"/>
                <a:sym typeface="Ubuntu"/>
              </a:rPr>
              <a:t>"Ada, terutama ketika kondisi antrian ramai sehingga waktu terbatas dan masih menyisakan pertanyaan setelah kunjungan."</a:t>
            </a:r>
          </a:p>
          <a:p>
            <a:pPr algn="just">
              <a:lnSpc>
                <a:spcPts val="2375"/>
              </a:lnSpc>
            </a:pPr>
            <a:r>
              <a:rPr lang="en-US" sz="1979">
                <a:solidFill>
                  <a:srgbClr val="073763"/>
                </a:solidFill>
                <a:latin typeface="Ubuntu"/>
                <a:ea typeface="Ubuntu"/>
                <a:cs typeface="Ubuntu"/>
                <a:sym typeface="Ubuntu"/>
              </a:rPr>
              <a:t>6. Bagaimana Ibu biasanya mencari informasi tambahan jika ada hal yang belum jelas tentang kesehatan anak?</a:t>
            </a:r>
          </a:p>
          <a:p>
            <a:pPr algn="just">
              <a:lnSpc>
                <a:spcPts val="2375"/>
              </a:lnSpc>
            </a:pPr>
            <a:r>
              <a:rPr lang="en-US" sz="1979">
                <a:solidFill>
                  <a:srgbClr val="073763"/>
                </a:solidFill>
                <a:latin typeface="Ubuntu"/>
                <a:ea typeface="Ubuntu"/>
                <a:cs typeface="Ubuntu"/>
                <a:sym typeface="Ubuntu"/>
              </a:rPr>
              <a:t>"Mencari referensi tambahan melalui Google, YouTube, dan media sosial, meskipun tetap menganggap bidan sebagai sumber yang lebih terpercaya."</a:t>
            </a:r>
          </a:p>
          <a:p>
            <a:pPr algn="just">
              <a:lnSpc>
                <a:spcPts val="2375"/>
              </a:lnSpc>
            </a:pPr>
            <a:r>
              <a:rPr lang="en-US" sz="1979">
                <a:solidFill>
                  <a:srgbClr val="073763"/>
                </a:solidFill>
                <a:latin typeface="Ubuntu"/>
                <a:ea typeface="Ubuntu"/>
                <a:cs typeface="Ubuntu"/>
                <a:sym typeface="Ubuntu"/>
              </a:rPr>
              <a:t>7. Apakah Ibu pernah membandingkan informasi dari Buku KIA dengan sumber lain seperti internet atau tenaga medis?</a:t>
            </a:r>
          </a:p>
          <a:p>
            <a:pPr algn="just">
              <a:lnSpc>
                <a:spcPts val="2375"/>
              </a:lnSpc>
            </a:pPr>
            <a:r>
              <a:rPr lang="en-US" sz="1979">
                <a:solidFill>
                  <a:srgbClr val="073763"/>
                </a:solidFill>
                <a:latin typeface="Ubuntu"/>
                <a:ea typeface="Ubuntu"/>
                <a:cs typeface="Ubuntu"/>
                <a:sym typeface="Ubuntu"/>
              </a:rPr>
              <a:t>"Tidak disebutkan secara langsung, namun responden menggunakan berbagai sumber tambahan sebagai referensi."</a:t>
            </a:r>
          </a:p>
          <a:p>
            <a:pPr algn="just">
              <a:lnSpc>
                <a:spcPts val="2375"/>
              </a:lnSpc>
            </a:pPr>
            <a:r>
              <a:rPr lang="en-US" sz="1979">
                <a:solidFill>
                  <a:srgbClr val="073763"/>
                </a:solidFill>
                <a:latin typeface="Ubuntu"/>
                <a:ea typeface="Ubuntu"/>
                <a:cs typeface="Ubuntu"/>
                <a:sym typeface="Ubuntu"/>
              </a:rPr>
              <a:t>8. Seberapa penting bagi Ibu untuk mendapatkan notifikasi atau pengingat otomatis terkait kesehatan anak?</a:t>
            </a:r>
          </a:p>
          <a:p>
            <a:pPr algn="just">
              <a:lnSpc>
                <a:spcPts val="2375"/>
              </a:lnSpc>
            </a:pPr>
            <a:r>
              <a:rPr lang="en-US" sz="1979">
                <a:solidFill>
                  <a:srgbClr val="073763"/>
                </a:solidFill>
                <a:latin typeface="Ubuntu"/>
                <a:ea typeface="Ubuntu"/>
                <a:cs typeface="Ubuntu"/>
                <a:sym typeface="Ubuntu"/>
              </a:rPr>
              <a:t>"Sangat penting, karena banyaknya aktivitas sehari-hari sehingga membutuhkan pengingat otomatis untuk mengelola jadwal kesehatan anak."</a:t>
            </a:r>
          </a:p>
          <a:p>
            <a:pPr algn="just">
              <a:lnSpc>
                <a:spcPts val="2375"/>
              </a:lnSpc>
            </a:pPr>
            <a:r>
              <a:rPr lang="en-US" sz="1979">
                <a:solidFill>
                  <a:srgbClr val="073763"/>
                </a:solidFill>
                <a:latin typeface="Ubuntu"/>
                <a:ea typeface="Ubuntu"/>
                <a:cs typeface="Ubuntu"/>
                <a:sym typeface="Ubuntu"/>
              </a:rPr>
              <a:t>9. Jika ada fitur yang bisa membantu memantau tumbuh kembang anak secara visual (misalnya grafik), apakah itu akan membantu? Mengapa?</a:t>
            </a:r>
          </a:p>
          <a:p>
            <a:pPr algn="just">
              <a:lnSpc>
                <a:spcPts val="2375"/>
              </a:lnSpc>
            </a:pPr>
            <a:r>
              <a:rPr lang="en-US" sz="1979">
                <a:solidFill>
                  <a:srgbClr val="073763"/>
                </a:solidFill>
                <a:latin typeface="Ubuntu"/>
                <a:ea typeface="Ubuntu"/>
                <a:cs typeface="Ubuntu"/>
                <a:sym typeface="Ubuntu"/>
              </a:rPr>
              <a:t>"Akan membantu, selama disajikan secara sederhana dan tidak membingungkan, sehingga memudahkan dalam memahami kondisi anak."</a:t>
            </a:r>
          </a:p>
          <a:p>
            <a:pPr algn="just">
              <a:lnSpc>
                <a:spcPts val="2375"/>
              </a:lnSpc>
            </a:pPr>
            <a:r>
              <a:rPr lang="en-US" sz="1979">
                <a:solidFill>
                  <a:srgbClr val="073763"/>
                </a:solidFill>
                <a:latin typeface="Ubuntu"/>
                <a:ea typeface="Ubuntu"/>
                <a:cs typeface="Ubuntu"/>
                <a:sym typeface="Ubuntu"/>
              </a:rPr>
              <a:t>10. Apa harapan Ibu terhadap layanan kesehatan anak di masa depan, khususnya yang berbasis teknologi?</a:t>
            </a:r>
          </a:p>
          <a:p>
            <a:pPr algn="just">
              <a:lnSpc>
                <a:spcPts val="2375"/>
              </a:lnSpc>
            </a:pPr>
            <a:r>
              <a:rPr lang="en-US" sz="1979">
                <a:solidFill>
                  <a:srgbClr val="073763"/>
                </a:solidFill>
                <a:latin typeface="Ubuntu"/>
                <a:ea typeface="Ubuntu"/>
                <a:cs typeface="Ubuntu"/>
                <a:sym typeface="Ubuntu"/>
              </a:rPr>
              <a:t>"Mengharapkan adanya layanan kesehatan berbasis teknologi di handphone yang dapat membantu orang tua memantau kesehatan anak secara lebih efektif."</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28700" y="1590724"/>
            <a:ext cx="1814211" cy="1530270"/>
          </a:xfrm>
          <a:custGeom>
            <a:avLst/>
            <a:gdLst/>
            <a:ahLst/>
            <a:cxnLst/>
            <a:rect r="r" b="b" t="t" l="l"/>
            <a:pathLst>
              <a:path h="1530270" w="1814211">
                <a:moveTo>
                  <a:pt x="0" y="0"/>
                </a:moveTo>
                <a:lnTo>
                  <a:pt x="1814211" y="0"/>
                </a:lnTo>
                <a:lnTo>
                  <a:pt x="1814211" y="1530270"/>
                </a:lnTo>
                <a:lnTo>
                  <a:pt x="0" y="15302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531425" y="73517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TRANSKRIP WAWANCARA</a:t>
            </a:r>
          </a:p>
        </p:txBody>
      </p:sp>
      <p:sp>
        <p:nvSpPr>
          <p:cNvPr name="Freeform 12" id="12"/>
          <p:cNvSpPr/>
          <p:nvPr/>
        </p:nvSpPr>
        <p:spPr>
          <a:xfrm flipH="false" flipV="false" rot="0">
            <a:off x="1617552" y="2121497"/>
            <a:ext cx="407803" cy="531757"/>
          </a:xfrm>
          <a:custGeom>
            <a:avLst/>
            <a:gdLst/>
            <a:ahLst/>
            <a:cxnLst/>
            <a:rect r="r" b="b" t="t" l="l"/>
            <a:pathLst>
              <a:path h="531757" w="407803">
                <a:moveTo>
                  <a:pt x="0" y="0"/>
                </a:moveTo>
                <a:lnTo>
                  <a:pt x="407803" y="0"/>
                </a:lnTo>
                <a:lnTo>
                  <a:pt x="407803" y="531757"/>
                </a:lnTo>
                <a:lnTo>
                  <a:pt x="0" y="531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692294" y="2069418"/>
            <a:ext cx="5314178" cy="464048"/>
          </a:xfrm>
          <a:prstGeom prst="rect">
            <a:avLst/>
          </a:prstGeom>
        </p:spPr>
        <p:txBody>
          <a:bodyPr anchor="t" rtlCol="false" tIns="0" lIns="0" bIns="0" rIns="0">
            <a:spAutoFit/>
          </a:bodyPr>
          <a:lstStyle/>
          <a:p>
            <a:pPr algn="ctr">
              <a:lnSpc>
                <a:spcPts val="3540"/>
              </a:lnSpc>
            </a:pPr>
            <a:r>
              <a:rPr lang="en-US" b="true" sz="2950">
                <a:solidFill>
                  <a:srgbClr val="073763"/>
                </a:solidFill>
                <a:latin typeface="Ubuntu Bold"/>
                <a:ea typeface="Ubuntu Bold"/>
                <a:cs typeface="Ubuntu Bold"/>
                <a:sym typeface="Ubuntu Bold"/>
              </a:rPr>
              <a:t>Responden 5 (Ibu Margareth) </a:t>
            </a:r>
          </a:p>
        </p:txBody>
      </p:sp>
      <p:sp>
        <p:nvSpPr>
          <p:cNvPr name="Freeform 14" id="14"/>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142591" y="3029924"/>
            <a:ext cx="16191321" cy="7029450"/>
          </a:xfrm>
          <a:prstGeom prst="rect">
            <a:avLst/>
          </a:prstGeom>
        </p:spPr>
        <p:txBody>
          <a:bodyPr anchor="t" rtlCol="false" tIns="0" lIns="0" bIns="0" rIns="0">
            <a:spAutoFit/>
          </a:bodyPr>
          <a:lstStyle/>
          <a:p>
            <a:pPr algn="just">
              <a:lnSpc>
                <a:spcPts val="2412"/>
              </a:lnSpc>
            </a:pPr>
            <a:r>
              <a:rPr lang="en-US" sz="2010">
                <a:solidFill>
                  <a:srgbClr val="073763"/>
                </a:solidFill>
                <a:latin typeface="Ubuntu"/>
                <a:ea typeface="Ubuntu"/>
                <a:cs typeface="Ubuntu"/>
                <a:sym typeface="Ubuntu"/>
              </a:rPr>
              <a:t>1. Bagaimana biasanya Ibu mencatat atau mengingat perkembangan kesehatan anak selain dari Buku KIA?</a:t>
            </a:r>
          </a:p>
          <a:p>
            <a:pPr algn="just">
              <a:lnSpc>
                <a:spcPts val="2412"/>
              </a:lnSpc>
            </a:pPr>
            <a:r>
              <a:rPr lang="en-US" sz="2010">
                <a:solidFill>
                  <a:srgbClr val="073763"/>
                </a:solidFill>
                <a:latin typeface="Ubuntu"/>
                <a:ea typeface="Ubuntu"/>
                <a:cs typeface="Ubuntu"/>
                <a:sym typeface="Ubuntu"/>
              </a:rPr>
              <a:t>"Menggunakan kalender sebagai pengingat. Selain itu, aktif bertanya kepada tenaga kesehatan seperti bidan mengenai perkembangan anak serta solusi jika terdapat masalah."</a:t>
            </a:r>
          </a:p>
          <a:p>
            <a:pPr algn="just">
              <a:lnSpc>
                <a:spcPts val="2412"/>
              </a:lnSpc>
            </a:pPr>
            <a:r>
              <a:rPr lang="en-US" sz="2010">
                <a:solidFill>
                  <a:srgbClr val="073763"/>
                </a:solidFill>
                <a:latin typeface="Ubuntu"/>
                <a:ea typeface="Ubuntu"/>
                <a:cs typeface="Ubuntu"/>
                <a:sym typeface="Ubuntu"/>
              </a:rPr>
              <a:t>2. Apakah Ibu pernah merasa bingung saat membaca informasi kesehatan anak? Bagian mana yang paling sulit dipahami?</a:t>
            </a:r>
          </a:p>
          <a:p>
            <a:pPr algn="just">
              <a:lnSpc>
                <a:spcPts val="2412"/>
              </a:lnSpc>
            </a:pPr>
            <a:r>
              <a:rPr lang="en-US" sz="2010">
                <a:solidFill>
                  <a:srgbClr val="073763"/>
                </a:solidFill>
                <a:latin typeface="Ubuntu"/>
                <a:ea typeface="Ubuntu"/>
                <a:cs typeface="Ubuntu"/>
                <a:sym typeface="Ubuntu"/>
              </a:rPr>
              <a:t>"Tidak disebutkan secara langsung adanya kesulitan, namun lebih menekankan pentingnya mendapatkan kejelasan mengenai kondisi anak."</a:t>
            </a:r>
          </a:p>
          <a:p>
            <a:pPr algn="just">
              <a:lnSpc>
                <a:spcPts val="2412"/>
              </a:lnSpc>
            </a:pPr>
            <a:r>
              <a:rPr lang="en-US" sz="2010">
                <a:solidFill>
                  <a:srgbClr val="073763"/>
                </a:solidFill>
                <a:latin typeface="Ubuntu"/>
                <a:ea typeface="Ubuntu"/>
                <a:cs typeface="Ubuntu"/>
                <a:sym typeface="Ubuntu"/>
              </a:rPr>
              <a:t>3. Seberapa sering Ibu membuka kembali catatan kesehatan anak setelah kunjungan ke Posyandu atau fasilitas kesehatan?</a:t>
            </a:r>
          </a:p>
          <a:p>
            <a:pPr algn="just">
              <a:lnSpc>
                <a:spcPts val="2412"/>
              </a:lnSpc>
            </a:pPr>
            <a:r>
              <a:rPr lang="en-US" sz="2010">
                <a:solidFill>
                  <a:srgbClr val="073763"/>
                </a:solidFill>
                <a:latin typeface="Ubuntu"/>
                <a:ea typeface="Ubuntu"/>
                <a:cs typeface="Ubuntu"/>
                <a:sym typeface="Ubuntu"/>
              </a:rPr>
              <a:t>"Tidak disebutkan secara langsung dalam transkrip."</a:t>
            </a:r>
          </a:p>
          <a:p>
            <a:pPr algn="just">
              <a:lnSpc>
                <a:spcPts val="2412"/>
              </a:lnSpc>
            </a:pPr>
            <a:r>
              <a:rPr lang="en-US" sz="2010">
                <a:solidFill>
                  <a:srgbClr val="073763"/>
                </a:solidFill>
                <a:latin typeface="Ubuntu"/>
                <a:ea typeface="Ubuntu"/>
                <a:cs typeface="Ubuntu"/>
                <a:sym typeface="Ubuntu"/>
              </a:rPr>
              <a:t>4. Bagaimana pengalaman Ibu saat berinteraksi dengan petugas kesehatan terkait penjelasan imunisasi atau perkembangan anak?</a:t>
            </a:r>
          </a:p>
          <a:p>
            <a:pPr algn="just">
              <a:lnSpc>
                <a:spcPts val="2412"/>
              </a:lnSpc>
            </a:pPr>
            <a:r>
              <a:rPr lang="en-US" sz="2010">
                <a:solidFill>
                  <a:srgbClr val="073763"/>
                </a:solidFill>
                <a:latin typeface="Ubuntu"/>
                <a:ea typeface="Ubuntu"/>
                <a:cs typeface="Ubuntu"/>
                <a:sym typeface="Ubuntu"/>
              </a:rPr>
              <a:t>"Responden aktif bertanya kepada tenaga kesehatan seperti bidan dan cukup terlibat dalam proses pemantauan kesehatan anak."</a:t>
            </a:r>
          </a:p>
          <a:p>
            <a:pPr algn="just">
              <a:lnSpc>
                <a:spcPts val="2412"/>
              </a:lnSpc>
            </a:pPr>
            <a:r>
              <a:rPr lang="en-US" sz="2010">
                <a:solidFill>
                  <a:srgbClr val="073763"/>
                </a:solidFill>
                <a:latin typeface="Ubuntu"/>
                <a:ea typeface="Ubuntu"/>
                <a:cs typeface="Ubuntu"/>
                <a:sym typeface="Ubuntu"/>
              </a:rPr>
              <a:t>5. Apakah ada momen di mana Ibu merasa kurang mendapatkan informasi yang cukup setelah kunjungan imunisasi?</a:t>
            </a:r>
          </a:p>
          <a:p>
            <a:pPr algn="just">
              <a:lnSpc>
                <a:spcPts val="2412"/>
              </a:lnSpc>
            </a:pPr>
            <a:r>
              <a:rPr lang="en-US" sz="2010">
                <a:solidFill>
                  <a:srgbClr val="073763"/>
                </a:solidFill>
                <a:latin typeface="Ubuntu"/>
                <a:ea typeface="Ubuntu"/>
                <a:cs typeface="Ubuntu"/>
                <a:sym typeface="Ubuntu"/>
              </a:rPr>
              <a:t>"Tidak disebutkan secara langsung dalam transkrip."</a:t>
            </a:r>
          </a:p>
          <a:p>
            <a:pPr algn="just">
              <a:lnSpc>
                <a:spcPts val="2412"/>
              </a:lnSpc>
            </a:pPr>
            <a:r>
              <a:rPr lang="en-US" sz="2010">
                <a:solidFill>
                  <a:srgbClr val="073763"/>
                </a:solidFill>
                <a:latin typeface="Ubuntu"/>
                <a:ea typeface="Ubuntu"/>
                <a:cs typeface="Ubuntu"/>
                <a:sym typeface="Ubuntu"/>
              </a:rPr>
              <a:t>6. Bagaimana Ibu biasanya mencari informasi tambahan jika ada hal yang belum jelas tentang kesehatan anak?</a:t>
            </a:r>
          </a:p>
          <a:p>
            <a:pPr algn="just">
              <a:lnSpc>
                <a:spcPts val="2412"/>
              </a:lnSpc>
            </a:pPr>
            <a:r>
              <a:rPr lang="en-US" sz="2010">
                <a:solidFill>
                  <a:srgbClr val="073763"/>
                </a:solidFill>
                <a:latin typeface="Ubuntu"/>
                <a:ea typeface="Ubuntu"/>
                <a:cs typeface="Ubuntu"/>
                <a:sym typeface="Ubuntu"/>
              </a:rPr>
              <a:t>"Mencari informasi tambahan melalui internet serta berdiskusi dengan orang tua lain yang lebih berpengalaman."</a:t>
            </a:r>
          </a:p>
          <a:p>
            <a:pPr algn="just">
              <a:lnSpc>
                <a:spcPts val="2412"/>
              </a:lnSpc>
            </a:pPr>
            <a:r>
              <a:rPr lang="en-US" sz="2010">
                <a:solidFill>
                  <a:srgbClr val="073763"/>
                </a:solidFill>
                <a:latin typeface="Ubuntu"/>
                <a:ea typeface="Ubuntu"/>
                <a:cs typeface="Ubuntu"/>
                <a:sym typeface="Ubuntu"/>
              </a:rPr>
              <a:t>7. Apakah Ibu pernah membandingkan informasi dari Buku KIA dengan sumber lain seperti internet atau tenaga medis?</a:t>
            </a:r>
          </a:p>
          <a:p>
            <a:pPr algn="just">
              <a:lnSpc>
                <a:spcPts val="2412"/>
              </a:lnSpc>
            </a:pPr>
            <a:r>
              <a:rPr lang="en-US" sz="2010">
                <a:solidFill>
                  <a:srgbClr val="073763"/>
                </a:solidFill>
                <a:latin typeface="Ubuntu"/>
                <a:ea typeface="Ubuntu"/>
                <a:cs typeface="Ubuntu"/>
                <a:sym typeface="Ubuntu"/>
              </a:rPr>
              <a:t>"Tidak disebutkan secara langsung, namun responden menggunakan berbagai sumber informasi tambahan."</a:t>
            </a:r>
          </a:p>
          <a:p>
            <a:pPr algn="just">
              <a:lnSpc>
                <a:spcPts val="2412"/>
              </a:lnSpc>
            </a:pPr>
            <a:r>
              <a:rPr lang="en-US" sz="2010">
                <a:solidFill>
                  <a:srgbClr val="073763"/>
                </a:solidFill>
                <a:latin typeface="Ubuntu"/>
                <a:ea typeface="Ubuntu"/>
                <a:cs typeface="Ubuntu"/>
                <a:sym typeface="Ubuntu"/>
              </a:rPr>
              <a:t>8. Seberapa penting bagi Ibu untuk mendapatkan notifikasi atau pengingat otomatis terkait kesehatan anak?</a:t>
            </a:r>
          </a:p>
          <a:p>
            <a:pPr algn="just">
              <a:lnSpc>
                <a:spcPts val="2412"/>
              </a:lnSpc>
            </a:pPr>
            <a:r>
              <a:rPr lang="en-US" sz="2010">
                <a:solidFill>
                  <a:srgbClr val="073763"/>
                </a:solidFill>
                <a:latin typeface="Ubuntu"/>
                <a:ea typeface="Ubuntu"/>
                <a:cs typeface="Ubuntu"/>
                <a:sym typeface="Ubuntu"/>
              </a:rPr>
              <a:t>"Sangat penting, karena sebagai orang tua responden sering merasa mudah lupa."</a:t>
            </a:r>
          </a:p>
          <a:p>
            <a:pPr algn="just">
              <a:lnSpc>
                <a:spcPts val="2412"/>
              </a:lnSpc>
            </a:pPr>
            <a:r>
              <a:rPr lang="en-US" sz="2010">
                <a:solidFill>
                  <a:srgbClr val="073763"/>
                </a:solidFill>
                <a:latin typeface="Ubuntu"/>
                <a:ea typeface="Ubuntu"/>
                <a:cs typeface="Ubuntu"/>
                <a:sym typeface="Ubuntu"/>
              </a:rPr>
              <a:t>9. Jika ada fitur yang bisa membantu memantau tumbuh kembang anak secara visual (misalnya grafik), apakah itu akan membantu? Mengapa?</a:t>
            </a:r>
          </a:p>
          <a:p>
            <a:pPr algn="just">
              <a:lnSpc>
                <a:spcPts val="2412"/>
              </a:lnSpc>
            </a:pPr>
            <a:r>
              <a:rPr lang="en-US" sz="2010">
                <a:solidFill>
                  <a:srgbClr val="073763"/>
                </a:solidFill>
                <a:latin typeface="Ubuntu"/>
                <a:ea typeface="Ubuntu"/>
                <a:cs typeface="Ubuntu"/>
                <a:sym typeface="Ubuntu"/>
              </a:rPr>
              <a:t>"Sangat penting karena dapat membantu memahami kondisi anak secara lebih jelas dan teratur untuk mengambil tindakan."</a:t>
            </a:r>
          </a:p>
          <a:p>
            <a:pPr algn="just">
              <a:lnSpc>
                <a:spcPts val="2412"/>
              </a:lnSpc>
            </a:pPr>
            <a:r>
              <a:rPr lang="en-US" sz="2010">
                <a:solidFill>
                  <a:srgbClr val="073763"/>
                </a:solidFill>
                <a:latin typeface="Ubuntu"/>
                <a:ea typeface="Ubuntu"/>
                <a:cs typeface="Ubuntu"/>
                <a:sym typeface="Ubuntu"/>
              </a:rPr>
              <a:t>10. Apa harapan Ibu terhadap layanan kesehatan anak di masa depan, khususnya yang berbasis teknologi?</a:t>
            </a:r>
          </a:p>
          <a:p>
            <a:pPr algn="just">
              <a:lnSpc>
                <a:spcPts val="2412"/>
              </a:lnSpc>
            </a:pPr>
            <a:r>
              <a:rPr lang="en-US" sz="2010">
                <a:solidFill>
                  <a:srgbClr val="073763"/>
                </a:solidFill>
                <a:latin typeface="Ubuntu"/>
                <a:ea typeface="Ubuntu"/>
                <a:cs typeface="Ubuntu"/>
                <a:sym typeface="Ubuntu"/>
              </a:rPr>
              <a:t>"Mengharapkan solusi berbasis teknologi seperti aplikasi di handphone yang dapat memudahkan orang tua dalam memantau perkembangan anak, termasuk gizi, kesehatan, pertumbuhan sesuai usia, serta mencegah risiko stunting."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927455" y="1656192"/>
            <a:ext cx="14152524" cy="8667190"/>
          </a:xfrm>
          <a:custGeom>
            <a:avLst/>
            <a:gdLst/>
            <a:ahLst/>
            <a:cxnLst/>
            <a:rect r="r" b="b" t="t" l="l"/>
            <a:pathLst>
              <a:path h="8667190" w="14152524">
                <a:moveTo>
                  <a:pt x="0" y="0"/>
                </a:moveTo>
                <a:lnTo>
                  <a:pt x="14152524" y="0"/>
                </a:lnTo>
                <a:lnTo>
                  <a:pt x="14152524" y="8667190"/>
                </a:lnTo>
                <a:lnTo>
                  <a:pt x="0" y="86671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338226" y="80482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618176" y="8773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539726" y="2985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272126" y="7537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605726" y="4408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02576" y="3996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6982326" y="5377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531425" y="1151367"/>
            <a:ext cx="15225150" cy="990600"/>
          </a:xfrm>
          <a:prstGeom prst="rect">
            <a:avLst/>
          </a:prstGeom>
        </p:spPr>
        <p:txBody>
          <a:bodyPr anchor="t" rtlCol="false" tIns="0" lIns="0" bIns="0" rIns="0">
            <a:spAutoFit/>
          </a:bodyPr>
          <a:lstStyle/>
          <a:p>
            <a:pPr algn="l">
              <a:lnSpc>
                <a:spcPts val="7680"/>
              </a:lnSpc>
            </a:pPr>
            <a:r>
              <a:rPr lang="en-US" b="true" sz="6400">
                <a:solidFill>
                  <a:srgbClr val="073763"/>
                </a:solidFill>
                <a:latin typeface="Ubuntu Bold"/>
                <a:ea typeface="Ubuntu Bold"/>
                <a:cs typeface="Ubuntu Bold"/>
                <a:sym typeface="Ubuntu Bold"/>
              </a:rPr>
              <a:t>RANGKUMAN WAWANCARA (1)</a:t>
            </a:r>
          </a:p>
        </p:txBody>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8" id="18"/>
          <p:cNvSpPr txBox="true"/>
          <p:nvPr/>
        </p:nvSpPr>
        <p:spPr>
          <a:xfrm rot="0">
            <a:off x="1485203" y="2691040"/>
            <a:ext cx="15317593" cy="6267450"/>
          </a:xfrm>
          <a:prstGeom prst="rect">
            <a:avLst/>
          </a:prstGeom>
        </p:spPr>
        <p:txBody>
          <a:bodyPr anchor="t" rtlCol="false" tIns="0" lIns="0" bIns="0" rIns="0">
            <a:spAutoFit/>
          </a:bodyPr>
          <a:lstStyle/>
          <a:p>
            <a:pPr algn="just">
              <a:lnSpc>
                <a:spcPts val="3120"/>
              </a:lnSpc>
            </a:pPr>
            <a:r>
              <a:rPr lang="en-US" b="true" sz="2600">
                <a:solidFill>
                  <a:srgbClr val="000000"/>
                </a:solidFill>
                <a:latin typeface="Ubuntu Bold"/>
                <a:ea typeface="Ubuntu Bold"/>
                <a:cs typeface="Ubuntu Bold"/>
                <a:sym typeface="Ubuntu Bold"/>
              </a:rPr>
              <a:t>Dari hasil wawancara, diketahui  responden masih lebih sering mengandalkan ingatan dalam memantau perkembangan kesehatan anak dan belum memiliki kebiasaan mencatat secara rutin. Buku KIA digunakan, tetapi hanya disaat kunjungan ke Posyandu sehingga jarang sekali dibuka kembali. Responden juga mengalami kesulitan seperti memahami informasi yang terdapat dalam buku KIA, karena banyaknya istilah medis yang kurang dimengerti. Meskipun penjelasan dari tenaga kesehatan cukup membantu responden, tapi keterbatasan waktu sering membuat informasi yang diterima tidak terlalu membantu.</a:t>
            </a:r>
          </a:p>
          <a:p>
            <a:pPr algn="just">
              <a:lnSpc>
                <a:spcPts val="3120"/>
              </a:lnSpc>
            </a:pPr>
          </a:p>
          <a:p>
            <a:pPr algn="just">
              <a:lnSpc>
                <a:spcPts val="3120"/>
              </a:lnSpc>
              <a:spcBef>
                <a:spcPct val="0"/>
              </a:spcBef>
            </a:pPr>
            <a:r>
              <a:rPr lang="en-US" b="true" sz="2600">
                <a:solidFill>
                  <a:srgbClr val="000000"/>
                </a:solidFill>
                <a:latin typeface="Ubuntu Bold"/>
                <a:ea typeface="Ubuntu Bold"/>
                <a:cs typeface="Ubuntu Bold"/>
                <a:sym typeface="Ubuntu Bold"/>
              </a:rPr>
              <a:t>Ketika responden mengalami kebingungan, responden biasanya mencari informasi tambahan melalui internet dan media sosial terkadang bertanya langsung dengan bidan. Hal ini menunjukkan kebutuhan akan informasi yang jelas dan mudah dipahami belum sepenuhnya terpenuhi. Selain itu, responden juga mengharapkan adanya solusi yang lebih praktis, seperti pengingat jadwal imunisasi dan tampilan informasi yang lebih sederhana. Fitur-fitur seperti visual grafik perkembangan anak dianggap dapat membantu responden. Secara keseluruhan, responden berharap adanya layanan berbasis teknologi yang mudah diakses dan dapat membantu dalam memantau kesehatan si anak tanpa harus bergantung dengan buku fisik.</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927455" y="1656192"/>
            <a:ext cx="14152524" cy="8667190"/>
          </a:xfrm>
          <a:custGeom>
            <a:avLst/>
            <a:gdLst/>
            <a:ahLst/>
            <a:cxnLst/>
            <a:rect r="r" b="b" t="t" l="l"/>
            <a:pathLst>
              <a:path h="8667190" w="14152524">
                <a:moveTo>
                  <a:pt x="0" y="0"/>
                </a:moveTo>
                <a:lnTo>
                  <a:pt x="14152524" y="0"/>
                </a:lnTo>
                <a:lnTo>
                  <a:pt x="14152524" y="8667190"/>
                </a:lnTo>
                <a:lnTo>
                  <a:pt x="0" y="86671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338226" y="80482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618176" y="8773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539726" y="2985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272126" y="7537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605726" y="4408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02576" y="3996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6982326" y="5377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531425" y="1151367"/>
            <a:ext cx="15225150" cy="990600"/>
          </a:xfrm>
          <a:prstGeom prst="rect">
            <a:avLst/>
          </a:prstGeom>
        </p:spPr>
        <p:txBody>
          <a:bodyPr anchor="t" rtlCol="false" tIns="0" lIns="0" bIns="0" rIns="0">
            <a:spAutoFit/>
          </a:bodyPr>
          <a:lstStyle/>
          <a:p>
            <a:pPr algn="l">
              <a:lnSpc>
                <a:spcPts val="7680"/>
              </a:lnSpc>
            </a:pPr>
            <a:r>
              <a:rPr lang="en-US" b="true" sz="6400">
                <a:solidFill>
                  <a:srgbClr val="073763"/>
                </a:solidFill>
                <a:latin typeface="Ubuntu Bold"/>
                <a:ea typeface="Ubuntu Bold"/>
                <a:cs typeface="Ubuntu Bold"/>
                <a:sym typeface="Ubuntu Bold"/>
              </a:rPr>
              <a:t>RANGKUMAN WAWANCARA (2)</a:t>
            </a:r>
          </a:p>
        </p:txBody>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8" id="18"/>
          <p:cNvSpPr txBox="true"/>
          <p:nvPr/>
        </p:nvSpPr>
        <p:spPr>
          <a:xfrm rot="0">
            <a:off x="1485203" y="2691040"/>
            <a:ext cx="15317593" cy="6267450"/>
          </a:xfrm>
          <a:prstGeom prst="rect">
            <a:avLst/>
          </a:prstGeom>
        </p:spPr>
        <p:txBody>
          <a:bodyPr anchor="t" rtlCol="false" tIns="0" lIns="0" bIns="0" rIns="0">
            <a:spAutoFit/>
          </a:bodyPr>
          <a:lstStyle/>
          <a:p>
            <a:pPr algn="just">
              <a:lnSpc>
                <a:spcPts val="3120"/>
              </a:lnSpc>
            </a:pPr>
            <a:r>
              <a:rPr lang="en-US" b="true" sz="2600">
                <a:solidFill>
                  <a:srgbClr val="000000"/>
                </a:solidFill>
                <a:latin typeface="Ubuntu Bold"/>
                <a:ea typeface="Ubuntu Bold"/>
                <a:cs typeface="Ubuntu Bold"/>
                <a:sym typeface="Ubuntu Bold"/>
              </a:rPr>
              <a:t>Berdasarkan hasil wawancara, ibu tersebut cenderung menggunakan cara praktis seperti memfoto halaman buku KIA untuk menyimpan informasi, tetapi tidak secara aktif membuka kembali catatan kecuali saat diperlukan. Responden mengalami kesulitan dalam memahami informasi kesehatan anak karena penyajiannya yang panjang dan ukuran tulisan yang kecil. Selain itu, pengalaman dengan tenaga kesehatan memiliki banyak variasi, tergantung dengan kondisi dan waktu yang tersedia sehingga semua informasi tersebut tidak dapat diterima secara lengkap.</a:t>
            </a:r>
          </a:p>
          <a:p>
            <a:pPr algn="just">
              <a:lnSpc>
                <a:spcPts val="3120"/>
              </a:lnSpc>
            </a:pPr>
          </a:p>
          <a:p>
            <a:pPr algn="just">
              <a:lnSpc>
                <a:spcPts val="3120"/>
              </a:lnSpc>
            </a:pPr>
            <a:r>
              <a:rPr lang="en-US" b="true" sz="2600">
                <a:solidFill>
                  <a:srgbClr val="000000"/>
                </a:solidFill>
                <a:latin typeface="Ubuntu Bold"/>
                <a:ea typeface="Ubuntu Bold"/>
                <a:cs typeface="Ubuntu Bold"/>
                <a:sym typeface="Ubuntu Bold"/>
              </a:rPr>
              <a:t>Dengan menghadapi keterbatasan tersebut, responden memanfaatkan internet seperti Youtube dan Media Sosial sebagai sumber informasi tambahan, meskipun tetap lebih mempercayai tenaga kesehatan yang memberikan informasi. Responden menginginkan kebutuhan terhadap solusi yang lebih praktis, seperti pengingat otomatis dan penyajian informasi yang lengkap dan mudah dipahami. Fitur visual seperti grafik bisa membantu selama tidak terlalu kompleks. Secara keseluruhan, ibu tersebut beraharap adanya layanan kesehatan yang berbasis teknologi mudah diakses dan dapat mengurangi kebutuhan untuk datang langsung ke Posyandu untuk memperoleh informasi.</a:t>
            </a:r>
          </a:p>
          <a:p>
            <a:pPr algn="just">
              <a:lnSpc>
                <a:spcPts val="3120"/>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927455" y="1656192"/>
            <a:ext cx="14152524" cy="8667190"/>
          </a:xfrm>
          <a:custGeom>
            <a:avLst/>
            <a:gdLst/>
            <a:ahLst/>
            <a:cxnLst/>
            <a:rect r="r" b="b" t="t" l="l"/>
            <a:pathLst>
              <a:path h="8667190" w="14152524">
                <a:moveTo>
                  <a:pt x="0" y="0"/>
                </a:moveTo>
                <a:lnTo>
                  <a:pt x="14152524" y="0"/>
                </a:lnTo>
                <a:lnTo>
                  <a:pt x="14152524" y="8667190"/>
                </a:lnTo>
                <a:lnTo>
                  <a:pt x="0" y="86671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338226" y="80482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618176" y="8773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539726" y="2985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272126" y="7537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605726" y="4408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02576" y="3996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6982326" y="5377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531425" y="1151367"/>
            <a:ext cx="15225150" cy="990600"/>
          </a:xfrm>
          <a:prstGeom prst="rect">
            <a:avLst/>
          </a:prstGeom>
        </p:spPr>
        <p:txBody>
          <a:bodyPr anchor="t" rtlCol="false" tIns="0" lIns="0" bIns="0" rIns="0">
            <a:spAutoFit/>
          </a:bodyPr>
          <a:lstStyle/>
          <a:p>
            <a:pPr algn="l">
              <a:lnSpc>
                <a:spcPts val="7680"/>
              </a:lnSpc>
            </a:pPr>
            <a:r>
              <a:rPr lang="en-US" b="true" sz="6400">
                <a:solidFill>
                  <a:srgbClr val="073763"/>
                </a:solidFill>
                <a:latin typeface="Ubuntu Bold"/>
                <a:ea typeface="Ubuntu Bold"/>
                <a:cs typeface="Ubuntu Bold"/>
                <a:sym typeface="Ubuntu Bold"/>
              </a:rPr>
              <a:t>RANGKUMAN WAWANCARA (3)</a:t>
            </a:r>
          </a:p>
        </p:txBody>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8" id="18"/>
          <p:cNvSpPr txBox="true"/>
          <p:nvPr/>
        </p:nvSpPr>
        <p:spPr>
          <a:xfrm rot="0">
            <a:off x="1485203" y="2691040"/>
            <a:ext cx="15317593" cy="5486400"/>
          </a:xfrm>
          <a:prstGeom prst="rect">
            <a:avLst/>
          </a:prstGeom>
        </p:spPr>
        <p:txBody>
          <a:bodyPr anchor="t" rtlCol="false" tIns="0" lIns="0" bIns="0" rIns="0">
            <a:spAutoFit/>
          </a:bodyPr>
          <a:lstStyle/>
          <a:p>
            <a:pPr algn="just">
              <a:lnSpc>
                <a:spcPts val="3120"/>
              </a:lnSpc>
            </a:pPr>
            <a:r>
              <a:rPr lang="en-US" sz="2600" b="true">
                <a:solidFill>
                  <a:srgbClr val="000000"/>
                </a:solidFill>
                <a:latin typeface="Ubuntu Bold"/>
                <a:ea typeface="Ubuntu Bold"/>
                <a:cs typeface="Ubuntu Bold"/>
                <a:sym typeface="Ubuntu Bold"/>
              </a:rPr>
              <a:t>Berdasarkan hasil wawancara yang diterima, responden sangat memantau kesehatan dan perkembangan anak melalui aktivitas yang dilakukan sehari hari serta ia memanfaatkan buku KIA pada waktu tertentu. Responden memiliki pengalaman yang cukup baik dalam menggunakan Buku KIA dengan informasi yang tersedia yang dianggap mudah dipahami dan sangat membantu dalam menambah pengetahuan, terutama bagi ibu baru seperti responden. Selain itu, ibu tersebut tidak mengalami kesulitan dalam menggunakan Buku KIA.</a:t>
            </a:r>
          </a:p>
          <a:p>
            <a:pPr algn="just">
              <a:lnSpc>
                <a:spcPts val="3120"/>
              </a:lnSpc>
            </a:pPr>
          </a:p>
          <a:p>
            <a:pPr algn="just">
              <a:lnSpc>
                <a:spcPts val="3120"/>
              </a:lnSpc>
              <a:spcBef>
                <a:spcPct val="0"/>
              </a:spcBef>
            </a:pPr>
            <a:r>
              <a:rPr lang="en-US" b="true" sz="2600">
                <a:solidFill>
                  <a:srgbClr val="000000"/>
                </a:solidFill>
                <a:latin typeface="Ubuntu Bold"/>
                <a:ea typeface="Ubuntu Bold"/>
                <a:cs typeface="Ubuntu Bold"/>
                <a:sym typeface="Ubuntu Bold"/>
              </a:rPr>
              <a:t>Meskipun demikian, responden tetap mengharapkan adanya solusi yang lebih baik dan praktis.  Aplikasi yang berbasis pada Handphonee dengan dilengkapi fitur pengingat jadwal imunisasi dan informasi kesehatan anak. Penggunaan aplikasi ini dinilai lebih efisien karena sesuai dengan kebiasaan sehari-hari dalam menggunakan Handphone. Dari sisi kepercayaan, responden merasa cukup aman dengan penyimpanan data secara digital, tetapi masih memiliki kekhawatiran mengenai keamanan data sehingga sistem perlindungan data yang baik dalam pengembangan aplikasi tersebut.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927455" y="1656192"/>
            <a:ext cx="14152524" cy="8667190"/>
          </a:xfrm>
          <a:custGeom>
            <a:avLst/>
            <a:gdLst/>
            <a:ahLst/>
            <a:cxnLst/>
            <a:rect r="r" b="b" t="t" l="l"/>
            <a:pathLst>
              <a:path h="8667190" w="14152524">
                <a:moveTo>
                  <a:pt x="0" y="0"/>
                </a:moveTo>
                <a:lnTo>
                  <a:pt x="14152524" y="0"/>
                </a:lnTo>
                <a:lnTo>
                  <a:pt x="14152524" y="8667190"/>
                </a:lnTo>
                <a:lnTo>
                  <a:pt x="0" y="86671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338226" y="80482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618176" y="8773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539726" y="2985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272126" y="7537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605726" y="4408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02576" y="3996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6982326" y="5377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531425" y="1151367"/>
            <a:ext cx="15225150" cy="990600"/>
          </a:xfrm>
          <a:prstGeom prst="rect">
            <a:avLst/>
          </a:prstGeom>
        </p:spPr>
        <p:txBody>
          <a:bodyPr anchor="t" rtlCol="false" tIns="0" lIns="0" bIns="0" rIns="0">
            <a:spAutoFit/>
          </a:bodyPr>
          <a:lstStyle/>
          <a:p>
            <a:pPr algn="l">
              <a:lnSpc>
                <a:spcPts val="7680"/>
              </a:lnSpc>
            </a:pPr>
            <a:r>
              <a:rPr lang="en-US" b="true" sz="6400">
                <a:solidFill>
                  <a:srgbClr val="073763"/>
                </a:solidFill>
                <a:latin typeface="Ubuntu Bold"/>
                <a:ea typeface="Ubuntu Bold"/>
                <a:cs typeface="Ubuntu Bold"/>
                <a:sym typeface="Ubuntu Bold"/>
              </a:rPr>
              <a:t>RANGKUMAN WAWANCARA (4)</a:t>
            </a:r>
          </a:p>
        </p:txBody>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8" id="18"/>
          <p:cNvSpPr txBox="true"/>
          <p:nvPr/>
        </p:nvSpPr>
        <p:spPr>
          <a:xfrm rot="0">
            <a:off x="1485203" y="2691040"/>
            <a:ext cx="15317593" cy="6657975"/>
          </a:xfrm>
          <a:prstGeom prst="rect">
            <a:avLst/>
          </a:prstGeom>
        </p:spPr>
        <p:txBody>
          <a:bodyPr anchor="t" rtlCol="false" tIns="0" lIns="0" bIns="0" rIns="0">
            <a:spAutoFit/>
          </a:bodyPr>
          <a:lstStyle/>
          <a:p>
            <a:pPr algn="just">
              <a:lnSpc>
                <a:spcPts val="3120"/>
              </a:lnSpc>
            </a:pPr>
            <a:r>
              <a:rPr lang="en-US" sz="2600" b="true">
                <a:solidFill>
                  <a:srgbClr val="000000"/>
                </a:solidFill>
                <a:latin typeface="Ubuntu Bold"/>
                <a:ea typeface="Ubuntu Bold"/>
                <a:cs typeface="Ubuntu Bold"/>
                <a:sym typeface="Ubuntu Bold"/>
              </a:rPr>
              <a:t>Berdasarkan hasil wawancara, responden menggunakan berbagai cara dalam memantau kesehatan anak dengan mencatat di kalender dan melakukan kunjungan rutin ke Posyandu, serta memanfaatkan ponsel untuk menyimpan informasi. Meskipun Buku KIA tetap digunakan oleh ibu tersebut, intensitas penggunaannya cenderung terbatas dan tidak selalu diakses kembali. Dari sisi pemahaman yang diberikan oleh si ibu, sebagian responden merasa informasi yang tersedia cukup membantu, namun sebagian lainnya mengalami kesulitan akibat penyajian yang panjang dan kurang praktis. Interaksi dengan tenaga kesehatan atau bidan dinilai cukup baik, namun belum sepenuhnya memberikan informasi yang lengkap dan baik.</a:t>
            </a:r>
          </a:p>
          <a:p>
            <a:pPr algn="just">
              <a:lnSpc>
                <a:spcPts val="3120"/>
              </a:lnSpc>
            </a:pPr>
          </a:p>
          <a:p>
            <a:pPr algn="just">
              <a:lnSpc>
                <a:spcPts val="3120"/>
              </a:lnSpc>
            </a:pPr>
            <a:r>
              <a:rPr lang="en-US" sz="2600" b="true">
                <a:solidFill>
                  <a:srgbClr val="000000"/>
                </a:solidFill>
                <a:latin typeface="Ubuntu Bold"/>
                <a:ea typeface="Ubuntu Bold"/>
                <a:cs typeface="Ubuntu Bold"/>
                <a:sym typeface="Ubuntu Bold"/>
              </a:rPr>
              <a:t>Untuk mengatasi keterbatasan di Posyandu, ibu tersebut mencari informasi tambahan melalui internet seperti Google, YouTube, dan media sosial. Meskipun tetap lebih mempercayai tenaga kesehatan seperti bidan. Responden menunjukkan kebutuhan terhadap fitur pengingat otomatis serta tampilan informasi yang sederhana seperti grafik perkembangan anak yang membantu dalam mengatasi perkembangan anak. Secara keseluruhan, responden mengharapkan adanya solusi berbasis teknologi yang lebih praktis dan mudah diakses, serta mampu membantu orang tua dalam memantau kesehatan anak secara lebih efektif.</a:t>
            </a:r>
          </a:p>
          <a:p>
            <a:pPr algn="just">
              <a:lnSpc>
                <a:spcPts val="3120"/>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927455" y="1656192"/>
            <a:ext cx="14152524" cy="8667190"/>
          </a:xfrm>
          <a:custGeom>
            <a:avLst/>
            <a:gdLst/>
            <a:ahLst/>
            <a:cxnLst/>
            <a:rect r="r" b="b" t="t" l="l"/>
            <a:pathLst>
              <a:path h="8667190" w="14152524">
                <a:moveTo>
                  <a:pt x="0" y="0"/>
                </a:moveTo>
                <a:lnTo>
                  <a:pt x="14152524" y="0"/>
                </a:lnTo>
                <a:lnTo>
                  <a:pt x="14152524" y="8667190"/>
                </a:lnTo>
                <a:lnTo>
                  <a:pt x="0" y="86671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338226" y="80482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618176" y="8773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539726" y="2985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272126" y="7537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605726" y="4408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02576" y="3996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6982326" y="5377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531425" y="1151367"/>
            <a:ext cx="15225150" cy="990600"/>
          </a:xfrm>
          <a:prstGeom prst="rect">
            <a:avLst/>
          </a:prstGeom>
        </p:spPr>
        <p:txBody>
          <a:bodyPr anchor="t" rtlCol="false" tIns="0" lIns="0" bIns="0" rIns="0">
            <a:spAutoFit/>
          </a:bodyPr>
          <a:lstStyle/>
          <a:p>
            <a:pPr algn="l">
              <a:lnSpc>
                <a:spcPts val="7680"/>
              </a:lnSpc>
            </a:pPr>
            <a:r>
              <a:rPr lang="en-US" b="true" sz="6400">
                <a:solidFill>
                  <a:srgbClr val="073763"/>
                </a:solidFill>
                <a:latin typeface="Ubuntu Bold"/>
                <a:ea typeface="Ubuntu Bold"/>
                <a:cs typeface="Ubuntu Bold"/>
                <a:sym typeface="Ubuntu Bold"/>
              </a:rPr>
              <a:t>RANGKUMAN WAWANCARA (5)</a:t>
            </a:r>
          </a:p>
        </p:txBody>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8" id="18"/>
          <p:cNvSpPr txBox="true"/>
          <p:nvPr/>
        </p:nvSpPr>
        <p:spPr>
          <a:xfrm rot="0">
            <a:off x="1485203" y="2691040"/>
            <a:ext cx="15317593" cy="5486400"/>
          </a:xfrm>
          <a:prstGeom prst="rect">
            <a:avLst/>
          </a:prstGeom>
        </p:spPr>
        <p:txBody>
          <a:bodyPr anchor="t" rtlCol="false" tIns="0" lIns="0" bIns="0" rIns="0">
            <a:spAutoFit/>
          </a:bodyPr>
          <a:lstStyle/>
          <a:p>
            <a:pPr algn="just">
              <a:lnSpc>
                <a:spcPts val="3120"/>
              </a:lnSpc>
            </a:pPr>
            <a:r>
              <a:rPr lang="en-US" sz="2600" b="true">
                <a:solidFill>
                  <a:srgbClr val="000000"/>
                </a:solidFill>
                <a:latin typeface="Ubuntu Bold"/>
                <a:ea typeface="Ubuntu Bold"/>
                <a:cs typeface="Ubuntu Bold"/>
                <a:sym typeface="Ubuntu Bold"/>
              </a:rPr>
              <a:t>Hasil wawancara yang dirangkum, responden menggunakan cara sederhana seperti mencatat di kalender. Kalender tersebut digunakan untuk memantau perkembangan kesehatan anak. Responden aktif mencari informasi tambahan dengan langsung bertanya kepada tenaga kesehatan serta berdiskusi kepada orang yang berpengalaman. Responden juga memanfaatkan internet sebagai sumber tambahan informasi untuk memahami kondisi anak lebih baik terkait perkembangan dan penanganan bila terjadi masalah pada anak.</a:t>
            </a:r>
          </a:p>
          <a:p>
            <a:pPr algn="just">
              <a:lnSpc>
                <a:spcPts val="3120"/>
              </a:lnSpc>
            </a:pPr>
          </a:p>
          <a:p>
            <a:pPr algn="just">
              <a:lnSpc>
                <a:spcPts val="3120"/>
              </a:lnSpc>
              <a:spcBef>
                <a:spcPct val="0"/>
              </a:spcBef>
            </a:pPr>
            <a:r>
              <a:rPr lang="en-US" b="true" sz="2600">
                <a:solidFill>
                  <a:srgbClr val="000000"/>
                </a:solidFill>
                <a:latin typeface="Ubuntu Bold"/>
                <a:ea typeface="Ubuntu Bold"/>
                <a:cs typeface="Ubuntu Bold"/>
                <a:sym typeface="Ubuntu Bold"/>
              </a:rPr>
              <a:t>Responden menunjukkan kebutuhan yang sangat penting pada fitur pengingat otomatis karena merasa mudah lupa dalam mengingat jadwal kesehatan anak ke Posyandu. Selain itu, fitur visual grafik perkembangan dinilai sangat membantu untuk memahami kondisi anak dan menentukan langkah yang tepat untuk mengatasi perkembangan anak. Responden sangat berharap dengan adanya solusi berbasis teknologi yangn dapat mempermudah orang tua dalam memantau tumbuh kembang anak, termasuk dalam memastikan pemenuhan gizi dan kesehatan agar pertumbuhan anak sesuai dengan usia agar terhindar dari stunting.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76576" y="24661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2032588" y="4408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554876" y="3251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76576" y="7406525"/>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5730526" y="35959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7280876" y="440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3102626" y="9563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633776" y="190967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76576" y="1675366"/>
            <a:ext cx="1403291" cy="1264211"/>
          </a:xfrm>
          <a:custGeom>
            <a:avLst/>
            <a:gdLst/>
            <a:ahLst/>
            <a:cxnLst/>
            <a:rect r="r" b="b" t="t" l="l"/>
            <a:pathLst>
              <a:path h="1264211" w="1403291">
                <a:moveTo>
                  <a:pt x="0" y="0"/>
                </a:moveTo>
                <a:lnTo>
                  <a:pt x="1403291" y="0"/>
                </a:lnTo>
                <a:lnTo>
                  <a:pt x="1403291" y="1264211"/>
                </a:lnTo>
                <a:lnTo>
                  <a:pt x="0" y="126421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76576" y="6261499"/>
            <a:ext cx="1403291" cy="1264211"/>
          </a:xfrm>
          <a:custGeom>
            <a:avLst/>
            <a:gdLst/>
            <a:ahLst/>
            <a:cxnLst/>
            <a:rect r="r" b="b" t="t" l="l"/>
            <a:pathLst>
              <a:path h="1264211" w="1403291">
                <a:moveTo>
                  <a:pt x="0" y="0"/>
                </a:moveTo>
                <a:lnTo>
                  <a:pt x="1403291" y="0"/>
                </a:lnTo>
                <a:lnTo>
                  <a:pt x="1403291" y="1264212"/>
                </a:lnTo>
                <a:lnTo>
                  <a:pt x="0" y="12642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9072518" y="1675366"/>
            <a:ext cx="1403291" cy="1264211"/>
          </a:xfrm>
          <a:custGeom>
            <a:avLst/>
            <a:gdLst/>
            <a:ahLst/>
            <a:cxnLst/>
            <a:rect r="r" b="b" t="t" l="l"/>
            <a:pathLst>
              <a:path h="1264211" w="1403291">
                <a:moveTo>
                  <a:pt x="0" y="0"/>
                </a:moveTo>
                <a:lnTo>
                  <a:pt x="1403291" y="0"/>
                </a:lnTo>
                <a:lnTo>
                  <a:pt x="1403291" y="1264211"/>
                </a:lnTo>
                <a:lnTo>
                  <a:pt x="0" y="126421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9072518" y="6246385"/>
            <a:ext cx="1403291" cy="1264211"/>
          </a:xfrm>
          <a:custGeom>
            <a:avLst/>
            <a:gdLst/>
            <a:ahLst/>
            <a:cxnLst/>
            <a:rect r="r" b="b" t="t" l="l"/>
            <a:pathLst>
              <a:path h="1264211" w="1403291">
                <a:moveTo>
                  <a:pt x="0" y="0"/>
                </a:moveTo>
                <a:lnTo>
                  <a:pt x="1403291" y="0"/>
                </a:lnTo>
                <a:lnTo>
                  <a:pt x="1403291" y="1264211"/>
                </a:lnTo>
                <a:lnTo>
                  <a:pt x="0" y="126421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576417" y="1865628"/>
            <a:ext cx="7194211" cy="4046744"/>
          </a:xfrm>
          <a:custGeom>
            <a:avLst/>
            <a:gdLst/>
            <a:ahLst/>
            <a:cxnLst/>
            <a:rect r="r" b="b" t="t" l="l"/>
            <a:pathLst>
              <a:path h="4046744" w="7194211">
                <a:moveTo>
                  <a:pt x="0" y="0"/>
                </a:moveTo>
                <a:lnTo>
                  <a:pt x="7194211" y="0"/>
                </a:lnTo>
                <a:lnTo>
                  <a:pt x="7194211" y="4046743"/>
                </a:lnTo>
                <a:lnTo>
                  <a:pt x="0" y="4046743"/>
                </a:lnTo>
                <a:lnTo>
                  <a:pt x="0" y="0"/>
                </a:lnTo>
                <a:close/>
              </a:path>
            </a:pathLst>
          </a:custGeom>
          <a:blipFill>
            <a:blip r:embed="rId14"/>
            <a:stretch>
              <a:fillRect l="0" t="0" r="0" b="0"/>
            </a:stretch>
          </a:blipFill>
        </p:spPr>
      </p:sp>
      <p:sp>
        <p:nvSpPr>
          <p:cNvPr name="Freeform 17" id="17"/>
          <p:cNvSpPr/>
          <p:nvPr/>
        </p:nvSpPr>
        <p:spPr>
          <a:xfrm flipH="false" flipV="false" rot="0">
            <a:off x="1512551" y="6170387"/>
            <a:ext cx="7258078" cy="3954123"/>
          </a:xfrm>
          <a:custGeom>
            <a:avLst/>
            <a:gdLst/>
            <a:ahLst/>
            <a:cxnLst/>
            <a:rect r="r" b="b" t="t" l="l"/>
            <a:pathLst>
              <a:path h="3954123" w="7258078">
                <a:moveTo>
                  <a:pt x="0" y="0"/>
                </a:moveTo>
                <a:lnTo>
                  <a:pt x="7258077" y="0"/>
                </a:lnTo>
                <a:lnTo>
                  <a:pt x="7258077" y="3954123"/>
                </a:lnTo>
                <a:lnTo>
                  <a:pt x="0" y="3954123"/>
                </a:lnTo>
                <a:lnTo>
                  <a:pt x="0" y="0"/>
                </a:lnTo>
                <a:close/>
              </a:path>
            </a:pathLst>
          </a:custGeom>
          <a:blipFill>
            <a:blip r:embed="rId15"/>
            <a:stretch>
              <a:fillRect l="0" t="-1625" r="0" b="-1625"/>
            </a:stretch>
          </a:blipFill>
        </p:spPr>
      </p:sp>
      <p:sp>
        <p:nvSpPr>
          <p:cNvPr name="Freeform 18" id="18"/>
          <p:cNvSpPr/>
          <p:nvPr/>
        </p:nvSpPr>
        <p:spPr>
          <a:xfrm flipH="false" flipV="false" rot="0">
            <a:off x="10575110" y="6170387"/>
            <a:ext cx="7373656" cy="3954123"/>
          </a:xfrm>
          <a:custGeom>
            <a:avLst/>
            <a:gdLst/>
            <a:ahLst/>
            <a:cxnLst/>
            <a:rect r="r" b="b" t="t" l="l"/>
            <a:pathLst>
              <a:path h="3954123" w="7373656">
                <a:moveTo>
                  <a:pt x="0" y="0"/>
                </a:moveTo>
                <a:lnTo>
                  <a:pt x="7373656" y="0"/>
                </a:lnTo>
                <a:lnTo>
                  <a:pt x="7373656" y="3954123"/>
                </a:lnTo>
                <a:lnTo>
                  <a:pt x="0" y="3954123"/>
                </a:lnTo>
                <a:lnTo>
                  <a:pt x="0" y="0"/>
                </a:lnTo>
                <a:close/>
              </a:path>
            </a:pathLst>
          </a:custGeom>
          <a:blipFill>
            <a:blip r:embed="rId16"/>
            <a:stretch>
              <a:fillRect l="0" t="0" r="0" b="0"/>
            </a:stretch>
          </a:blipFill>
        </p:spPr>
      </p:sp>
      <p:sp>
        <p:nvSpPr>
          <p:cNvPr name="Freeform 19" id="19"/>
          <p:cNvSpPr/>
          <p:nvPr/>
        </p:nvSpPr>
        <p:spPr>
          <a:xfrm flipH="false" flipV="false" rot="0">
            <a:off x="10754555" y="1865628"/>
            <a:ext cx="7194211" cy="4046744"/>
          </a:xfrm>
          <a:custGeom>
            <a:avLst/>
            <a:gdLst/>
            <a:ahLst/>
            <a:cxnLst/>
            <a:rect r="r" b="b" t="t" l="l"/>
            <a:pathLst>
              <a:path h="4046744" w="7194211">
                <a:moveTo>
                  <a:pt x="0" y="0"/>
                </a:moveTo>
                <a:lnTo>
                  <a:pt x="7194211" y="0"/>
                </a:lnTo>
                <a:lnTo>
                  <a:pt x="7194211" y="4046743"/>
                </a:lnTo>
                <a:lnTo>
                  <a:pt x="0" y="4046743"/>
                </a:lnTo>
                <a:lnTo>
                  <a:pt x="0" y="0"/>
                </a:lnTo>
                <a:close/>
              </a:path>
            </a:pathLst>
          </a:custGeom>
          <a:blipFill>
            <a:blip r:embed="rId17"/>
            <a:stretch>
              <a:fillRect l="0" t="0" r="0" b="0"/>
            </a:stretch>
          </a:blipFill>
        </p:spPr>
      </p:sp>
      <p:sp>
        <p:nvSpPr>
          <p:cNvPr name="TextBox 20" id="20"/>
          <p:cNvSpPr txBox="true"/>
          <p:nvPr/>
        </p:nvSpPr>
        <p:spPr>
          <a:xfrm rot="0">
            <a:off x="1512551" y="68476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BUKTI WAWANCARA</a:t>
            </a:r>
          </a:p>
        </p:txBody>
      </p:sp>
      <p:sp>
        <p:nvSpPr>
          <p:cNvPr name="TextBox 21" id="21"/>
          <p:cNvSpPr txBox="true"/>
          <p:nvPr/>
        </p:nvSpPr>
        <p:spPr>
          <a:xfrm rot="0">
            <a:off x="676366" y="2060801"/>
            <a:ext cx="384836" cy="444061"/>
          </a:xfrm>
          <a:prstGeom prst="rect">
            <a:avLst/>
          </a:prstGeom>
        </p:spPr>
        <p:txBody>
          <a:bodyPr anchor="t" rtlCol="false" tIns="0" lIns="0" bIns="0" rIns="0">
            <a:spAutoFit/>
          </a:bodyPr>
          <a:lstStyle/>
          <a:p>
            <a:pPr algn="l">
              <a:lnSpc>
                <a:spcPts val="4129"/>
              </a:lnSpc>
            </a:pPr>
            <a:r>
              <a:rPr lang="en-US" b="true" sz="3441">
                <a:solidFill>
                  <a:srgbClr val="073763"/>
                </a:solidFill>
                <a:latin typeface="Ubuntu Bold"/>
                <a:ea typeface="Ubuntu Bold"/>
                <a:cs typeface="Ubuntu Bold"/>
                <a:sym typeface="Ubuntu Bold"/>
              </a:rPr>
              <a:t>1</a:t>
            </a:r>
          </a:p>
        </p:txBody>
      </p:sp>
      <p:sp>
        <p:nvSpPr>
          <p:cNvPr name="TextBox 22" id="22"/>
          <p:cNvSpPr txBox="true"/>
          <p:nvPr/>
        </p:nvSpPr>
        <p:spPr>
          <a:xfrm rot="0">
            <a:off x="676366" y="6600506"/>
            <a:ext cx="384836" cy="536919"/>
          </a:xfrm>
          <a:prstGeom prst="rect">
            <a:avLst/>
          </a:prstGeom>
        </p:spPr>
        <p:txBody>
          <a:bodyPr anchor="t" rtlCol="false" tIns="0" lIns="0" bIns="0" rIns="0">
            <a:spAutoFit/>
          </a:bodyPr>
          <a:lstStyle/>
          <a:p>
            <a:pPr algn="l">
              <a:lnSpc>
                <a:spcPts val="4129"/>
              </a:lnSpc>
            </a:pPr>
            <a:r>
              <a:rPr lang="en-US" b="true" sz="3441">
                <a:solidFill>
                  <a:srgbClr val="073763"/>
                </a:solidFill>
                <a:latin typeface="Ubuntu Bold"/>
                <a:ea typeface="Ubuntu Bold"/>
                <a:cs typeface="Ubuntu Bold"/>
                <a:sym typeface="Ubuntu Bold"/>
              </a:rPr>
              <a:t>2</a:t>
            </a:r>
          </a:p>
        </p:txBody>
      </p:sp>
      <p:sp>
        <p:nvSpPr>
          <p:cNvPr name="TextBox 23" id="23"/>
          <p:cNvSpPr txBox="true"/>
          <p:nvPr/>
        </p:nvSpPr>
        <p:spPr>
          <a:xfrm rot="0">
            <a:off x="9572308" y="2014372"/>
            <a:ext cx="384836" cy="536919"/>
          </a:xfrm>
          <a:prstGeom prst="rect">
            <a:avLst/>
          </a:prstGeom>
        </p:spPr>
        <p:txBody>
          <a:bodyPr anchor="t" rtlCol="false" tIns="0" lIns="0" bIns="0" rIns="0">
            <a:spAutoFit/>
          </a:bodyPr>
          <a:lstStyle/>
          <a:p>
            <a:pPr algn="l">
              <a:lnSpc>
                <a:spcPts val="4129"/>
              </a:lnSpc>
            </a:pPr>
            <a:r>
              <a:rPr lang="en-US" b="true" sz="3441">
                <a:solidFill>
                  <a:srgbClr val="073763"/>
                </a:solidFill>
                <a:latin typeface="Ubuntu Bold"/>
                <a:ea typeface="Ubuntu Bold"/>
                <a:cs typeface="Ubuntu Bold"/>
                <a:sym typeface="Ubuntu Bold"/>
              </a:rPr>
              <a:t>3</a:t>
            </a:r>
          </a:p>
        </p:txBody>
      </p:sp>
      <p:sp>
        <p:nvSpPr>
          <p:cNvPr name="TextBox 24" id="24"/>
          <p:cNvSpPr txBox="true"/>
          <p:nvPr/>
        </p:nvSpPr>
        <p:spPr>
          <a:xfrm rot="0">
            <a:off x="9572308" y="6585391"/>
            <a:ext cx="384836" cy="536919"/>
          </a:xfrm>
          <a:prstGeom prst="rect">
            <a:avLst/>
          </a:prstGeom>
        </p:spPr>
        <p:txBody>
          <a:bodyPr anchor="t" rtlCol="false" tIns="0" lIns="0" bIns="0" rIns="0">
            <a:spAutoFit/>
          </a:bodyPr>
          <a:lstStyle/>
          <a:p>
            <a:pPr algn="l">
              <a:lnSpc>
                <a:spcPts val="4129"/>
              </a:lnSpc>
            </a:pPr>
            <a:r>
              <a:rPr lang="en-US" b="true" sz="3441">
                <a:solidFill>
                  <a:srgbClr val="073763"/>
                </a:solidFill>
                <a:latin typeface="Ubuntu Bold"/>
                <a:ea typeface="Ubuntu Bold"/>
                <a:cs typeface="Ubuntu Bold"/>
                <a:sym typeface="Ubuntu Bold"/>
              </a:rPr>
              <a:t>4</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76576" y="24661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2032588" y="4408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6554876" y="3251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5730526" y="35959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7280876" y="440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3102626" y="9563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031685" y="2577382"/>
            <a:ext cx="704631" cy="704631"/>
          </a:xfrm>
          <a:custGeom>
            <a:avLst/>
            <a:gdLst/>
            <a:ahLst/>
            <a:cxnLst/>
            <a:rect r="r" b="b" t="t" l="l"/>
            <a:pathLst>
              <a:path h="704631" w="704631">
                <a:moveTo>
                  <a:pt x="0" y="0"/>
                </a:moveTo>
                <a:lnTo>
                  <a:pt x="704631" y="0"/>
                </a:lnTo>
                <a:lnTo>
                  <a:pt x="704631" y="704631"/>
                </a:lnTo>
                <a:lnTo>
                  <a:pt x="0" y="704631"/>
                </a:lnTo>
                <a:lnTo>
                  <a:pt x="0" y="0"/>
                </a:lnTo>
                <a:close/>
              </a:path>
            </a:pathLst>
          </a:custGeom>
          <a:blipFill>
            <a:blip r:embed="rId7">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327055" y="2216265"/>
            <a:ext cx="2162733" cy="1948386"/>
          </a:xfrm>
          <a:custGeom>
            <a:avLst/>
            <a:gdLst/>
            <a:ahLst/>
            <a:cxnLst/>
            <a:rect r="r" b="b" t="t" l="l"/>
            <a:pathLst>
              <a:path h="1948386" w="2162733">
                <a:moveTo>
                  <a:pt x="0" y="0"/>
                </a:moveTo>
                <a:lnTo>
                  <a:pt x="2162733" y="0"/>
                </a:lnTo>
                <a:lnTo>
                  <a:pt x="2162733" y="1948386"/>
                </a:lnTo>
                <a:lnTo>
                  <a:pt x="0" y="19483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3474496" y="2399595"/>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13"/>
            <a:stretch>
              <a:fillRect l="0" t="0" r="0" b="0"/>
            </a:stretch>
          </a:blipFill>
        </p:spPr>
      </p:sp>
      <p:sp>
        <p:nvSpPr>
          <p:cNvPr name="TextBox 13" id="13"/>
          <p:cNvSpPr txBox="true"/>
          <p:nvPr/>
        </p:nvSpPr>
        <p:spPr>
          <a:xfrm rot="0">
            <a:off x="1512551" y="68476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BUKTI WAWANCARA</a:t>
            </a:r>
          </a:p>
        </p:txBody>
      </p:sp>
      <p:sp>
        <p:nvSpPr>
          <p:cNvPr name="TextBox 14" id="14"/>
          <p:cNvSpPr txBox="true"/>
          <p:nvPr/>
        </p:nvSpPr>
        <p:spPr>
          <a:xfrm rot="0">
            <a:off x="1097325" y="2749046"/>
            <a:ext cx="593105" cy="817184"/>
          </a:xfrm>
          <a:prstGeom prst="rect">
            <a:avLst/>
          </a:prstGeom>
        </p:spPr>
        <p:txBody>
          <a:bodyPr anchor="t" rtlCol="false" tIns="0" lIns="0" bIns="0" rIns="0">
            <a:spAutoFit/>
          </a:bodyPr>
          <a:lstStyle/>
          <a:p>
            <a:pPr algn="l">
              <a:lnSpc>
                <a:spcPts val="6364"/>
              </a:lnSpc>
            </a:pPr>
            <a:r>
              <a:rPr lang="en-US" b="true" sz="5303">
                <a:solidFill>
                  <a:srgbClr val="073763"/>
                </a:solidFill>
                <a:latin typeface="Ubuntu Bold"/>
                <a:ea typeface="Ubuntu Bold"/>
                <a:cs typeface="Ubuntu Bold"/>
                <a:sym typeface="Ubuntu Bold"/>
              </a:rPr>
              <a:t>5</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6244326" y="86902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51427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730" y="64993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914176" y="95066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064426" y="4914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9922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600626" y="56901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592253" y="7949594"/>
            <a:ext cx="2345563" cy="1911808"/>
          </a:xfrm>
          <a:custGeom>
            <a:avLst/>
            <a:gdLst/>
            <a:ahLst/>
            <a:cxnLst/>
            <a:rect r="r" b="b" t="t" l="l"/>
            <a:pathLst>
              <a:path h="1911808" w="2345563">
                <a:moveTo>
                  <a:pt x="0" y="0"/>
                </a:moveTo>
                <a:lnTo>
                  <a:pt x="2345562" y="0"/>
                </a:lnTo>
                <a:lnTo>
                  <a:pt x="2345562" y="1911808"/>
                </a:lnTo>
                <a:lnTo>
                  <a:pt x="0" y="1911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531425" y="1151367"/>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EMPATHY MAPPING</a:t>
            </a:r>
          </a:p>
        </p:txBody>
      </p:sp>
      <p:sp>
        <p:nvSpPr>
          <p:cNvPr name="Freeform 11" id="11"/>
          <p:cNvSpPr/>
          <p:nvPr/>
        </p:nvSpPr>
        <p:spPr>
          <a:xfrm flipH="false" flipV="false" rot="0">
            <a:off x="2941780"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7794516"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8107368"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273206"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3604632"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9874230"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9530952"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8426970"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894468"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4551190"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3068348" y="4300537"/>
            <a:ext cx="11622630" cy="1657350"/>
          </a:xfrm>
          <a:prstGeom prst="rect">
            <a:avLst/>
          </a:prstGeom>
        </p:spPr>
        <p:txBody>
          <a:bodyPr anchor="t" rtlCol="false" tIns="0" lIns="0" bIns="0" rIns="0">
            <a:spAutoFit/>
          </a:bodyPr>
          <a:lstStyle/>
          <a:p>
            <a:pPr algn="ctr">
              <a:lnSpc>
                <a:spcPts val="4320"/>
              </a:lnSpc>
            </a:pPr>
            <a:r>
              <a:rPr lang="en-US" sz="3600">
                <a:solidFill>
                  <a:srgbClr val="434343"/>
                </a:solidFill>
                <a:latin typeface="Arimo"/>
                <a:ea typeface="Arimo"/>
                <a:cs typeface="Arimo"/>
                <a:sym typeface="Arimo"/>
              </a:rPr>
              <a:t>Link Figjam : https://www.figma.com/board/QR35HKdgky9Q0IZ9Embtr8/Untitled?node-id=0-1&amp;p=f&amp;t=qAwAa58MVhKRAdbV-0 </a:t>
            </a:r>
          </a:p>
        </p:txBody>
      </p:sp>
      <p:sp>
        <p:nvSpPr>
          <p:cNvPr name="Freeform 22" id="22"/>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3" id="23"/>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437447" y="0"/>
            <a:ext cx="12728701" cy="10326159"/>
          </a:xfrm>
          <a:custGeom>
            <a:avLst/>
            <a:gdLst/>
            <a:ahLst/>
            <a:cxnLst/>
            <a:rect r="r" b="b" t="t" l="l"/>
            <a:pathLst>
              <a:path h="10326159" w="12728701">
                <a:moveTo>
                  <a:pt x="0" y="0"/>
                </a:moveTo>
                <a:lnTo>
                  <a:pt x="12728701" y="0"/>
                </a:lnTo>
                <a:lnTo>
                  <a:pt x="12728701" y="10326159"/>
                </a:lnTo>
                <a:lnTo>
                  <a:pt x="0" y="10326159"/>
                </a:lnTo>
                <a:lnTo>
                  <a:pt x="0" y="0"/>
                </a:lnTo>
                <a:close/>
              </a:path>
            </a:pathLst>
          </a:custGeom>
          <a:blipFill>
            <a:blip r:embed="rId12"/>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97791"/>
        </a:solidFill>
      </p:bgPr>
    </p:bg>
    <p:spTree>
      <p:nvGrpSpPr>
        <p:cNvPr id="1" name=""/>
        <p:cNvGrpSpPr/>
        <p:nvPr/>
      </p:nvGrpSpPr>
      <p:grpSpPr>
        <a:xfrm>
          <a:off x="0" y="0"/>
          <a:ext cx="0" cy="0"/>
          <a:chOff x="0" y="0"/>
          <a:chExt cx="0" cy="0"/>
        </a:xfrm>
      </p:grpSpPr>
      <p:sp>
        <p:nvSpPr>
          <p:cNvPr name="Freeform 2" id="2"/>
          <p:cNvSpPr/>
          <p:nvPr/>
        </p:nvSpPr>
        <p:spPr>
          <a:xfrm flipH="false" flipV="false" rot="0">
            <a:off x="2635749" y="-957071"/>
            <a:ext cx="16159193" cy="12595936"/>
          </a:xfrm>
          <a:custGeom>
            <a:avLst/>
            <a:gdLst/>
            <a:ahLst/>
            <a:cxnLst/>
            <a:rect r="r" b="b" t="t" l="l"/>
            <a:pathLst>
              <a:path h="12595936" w="16159193">
                <a:moveTo>
                  <a:pt x="0" y="0"/>
                </a:moveTo>
                <a:lnTo>
                  <a:pt x="16159193" y="0"/>
                </a:lnTo>
                <a:lnTo>
                  <a:pt x="16159193" y="12595936"/>
                </a:lnTo>
                <a:lnTo>
                  <a:pt x="0" y="12595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136584" y="30715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097000" y="822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242976" y="13891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3050" y="12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892950" y="1199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678684" y="28198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241084" y="75413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4406297" y="6093480"/>
            <a:ext cx="1860140" cy="1929373"/>
          </a:xfrm>
          <a:custGeom>
            <a:avLst/>
            <a:gdLst/>
            <a:ahLst/>
            <a:cxnLst/>
            <a:rect r="r" b="b" t="t" l="l"/>
            <a:pathLst>
              <a:path h="1929373" w="1860140">
                <a:moveTo>
                  <a:pt x="0" y="0"/>
                </a:moveTo>
                <a:lnTo>
                  <a:pt x="1860140" y="0"/>
                </a:lnTo>
                <a:lnTo>
                  <a:pt x="1860140" y="1929373"/>
                </a:lnTo>
                <a:lnTo>
                  <a:pt x="0" y="19293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3648454" y="7064430"/>
            <a:ext cx="2925203" cy="2764644"/>
          </a:xfrm>
          <a:custGeom>
            <a:avLst/>
            <a:gdLst/>
            <a:ahLst/>
            <a:cxnLst/>
            <a:rect r="r" b="b" t="t" l="l"/>
            <a:pathLst>
              <a:path h="2764644" w="2925203">
                <a:moveTo>
                  <a:pt x="0" y="0"/>
                </a:moveTo>
                <a:lnTo>
                  <a:pt x="2925203" y="0"/>
                </a:lnTo>
                <a:lnTo>
                  <a:pt x="2925203" y="2764644"/>
                </a:lnTo>
                <a:lnTo>
                  <a:pt x="0" y="27646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4538087" y="3958421"/>
            <a:ext cx="9637950" cy="2638425"/>
          </a:xfrm>
          <a:prstGeom prst="rect">
            <a:avLst/>
          </a:prstGeom>
        </p:spPr>
        <p:txBody>
          <a:bodyPr anchor="t" rtlCol="false" tIns="0" lIns="0" bIns="0" rIns="0">
            <a:spAutoFit/>
          </a:bodyPr>
          <a:lstStyle/>
          <a:p>
            <a:pPr algn="r">
              <a:lnSpc>
                <a:spcPts val="10320"/>
              </a:lnSpc>
            </a:pPr>
            <a:r>
              <a:rPr lang="en-US" b="true" sz="8600">
                <a:solidFill>
                  <a:srgbClr val="073763"/>
                </a:solidFill>
                <a:latin typeface="Ubuntu Bold"/>
                <a:ea typeface="Ubuntu Bold"/>
                <a:cs typeface="Ubuntu Bold"/>
                <a:sym typeface="Ubuntu Bold"/>
              </a:rPr>
              <a:t>AFFINITY </a:t>
            </a:r>
            <a:r>
              <a:rPr lang="en-US" b="true" sz="8600">
                <a:solidFill>
                  <a:srgbClr val="FFFFFF"/>
                </a:solidFill>
                <a:latin typeface="Ubuntu Bold"/>
                <a:ea typeface="Ubuntu Bold"/>
                <a:cs typeface="Ubuntu Bold"/>
                <a:sym typeface="Ubuntu Bold"/>
              </a:rPr>
              <a:t>MAPPING</a:t>
            </a:r>
          </a:p>
        </p:txBody>
      </p:sp>
      <p:sp>
        <p:nvSpPr>
          <p:cNvPr name="Freeform 13" id="13"/>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9" id="19"/>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6244326" y="86902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51427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730" y="64993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914176" y="95066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064426" y="4914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9922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600626" y="56901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592253" y="7949594"/>
            <a:ext cx="2345563" cy="1911808"/>
          </a:xfrm>
          <a:custGeom>
            <a:avLst/>
            <a:gdLst/>
            <a:ahLst/>
            <a:cxnLst/>
            <a:rect r="r" b="b" t="t" l="l"/>
            <a:pathLst>
              <a:path h="1911808" w="2345563">
                <a:moveTo>
                  <a:pt x="0" y="0"/>
                </a:moveTo>
                <a:lnTo>
                  <a:pt x="2345562" y="0"/>
                </a:lnTo>
                <a:lnTo>
                  <a:pt x="2345562" y="1911808"/>
                </a:lnTo>
                <a:lnTo>
                  <a:pt x="0" y="1911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531425" y="443381"/>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RECORD</a:t>
            </a:r>
          </a:p>
        </p:txBody>
      </p:sp>
      <p:sp>
        <p:nvSpPr>
          <p:cNvPr name="Freeform 11" id="11"/>
          <p:cNvSpPr/>
          <p:nvPr/>
        </p:nvSpPr>
        <p:spPr>
          <a:xfrm flipH="false" flipV="false" rot="0">
            <a:off x="2941780"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7794516"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8107368"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273206"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3604632"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9874230"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9530952"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8426970"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894468"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4551190"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4" id="24"/>
          <p:cNvSpPr/>
          <p:nvPr/>
        </p:nvSpPr>
        <p:spPr>
          <a:xfrm flipH="false" flipV="false" rot="0">
            <a:off x="3731200" y="1590962"/>
            <a:ext cx="10780348" cy="6252602"/>
          </a:xfrm>
          <a:custGeom>
            <a:avLst/>
            <a:gdLst/>
            <a:ahLst/>
            <a:cxnLst/>
            <a:rect r="r" b="b" t="t" l="l"/>
            <a:pathLst>
              <a:path h="6252602" w="10780348">
                <a:moveTo>
                  <a:pt x="0" y="0"/>
                </a:moveTo>
                <a:lnTo>
                  <a:pt x="10780348" y="0"/>
                </a:lnTo>
                <a:lnTo>
                  <a:pt x="10780348" y="6252602"/>
                </a:lnTo>
                <a:lnTo>
                  <a:pt x="0" y="6252602"/>
                </a:lnTo>
                <a:lnTo>
                  <a:pt x="0" y="0"/>
                </a:lnTo>
                <a:close/>
              </a:path>
            </a:pathLst>
          </a:custGeom>
          <a:blipFill>
            <a:blip r:embed="rId17"/>
            <a:stretch>
              <a:fillRect l="0" t="0" r="0" b="0"/>
            </a:stretch>
          </a:blipFill>
        </p:spPr>
      </p:sp>
      <p:sp>
        <p:nvSpPr>
          <p:cNvPr name="TextBox 25" id="25"/>
          <p:cNvSpPr txBox="true"/>
          <p:nvPr/>
        </p:nvSpPr>
        <p:spPr>
          <a:xfrm rot="0">
            <a:off x="-1409554" y="15320313"/>
            <a:ext cx="27245042" cy="5629142"/>
          </a:xfrm>
          <a:prstGeom prst="rect">
            <a:avLst/>
          </a:prstGeom>
        </p:spPr>
        <p:txBody>
          <a:bodyPr anchor="t" rtlCol="false" tIns="0" lIns="0" bIns="0" rIns="0">
            <a:spAutoFit/>
          </a:bodyPr>
          <a:lstStyle/>
          <a:p>
            <a:pPr algn="ctr" marL="664900" indent="-332450" lvl="1">
              <a:lnSpc>
                <a:spcPts val="3695"/>
              </a:lnSpc>
              <a:buFont typeface="Arial"/>
              <a:buChar char="•"/>
            </a:pPr>
            <a:r>
              <a:rPr lang="en-US" b="true" sz="3079">
                <a:solidFill>
                  <a:srgbClr val="073763"/>
                </a:solidFill>
                <a:latin typeface="Ubuntu Bold"/>
                <a:ea typeface="Ubuntu Bold"/>
                <a:cs typeface="Ubuntu Bold"/>
                <a:sym typeface="Ubuntu Bold"/>
              </a:rPr>
              <a:t>Warna Biru (Desk Research): Informasi dari Buku KIA 2024, data Kemenkes RI, WHO, dan UNICEF.</a:t>
            </a:r>
          </a:p>
          <a:p>
            <a:pPr algn="ctr">
              <a:lnSpc>
                <a:spcPts val="3695"/>
              </a:lnSpc>
            </a:pPr>
          </a:p>
          <a:p>
            <a:pPr algn="ctr">
              <a:lnSpc>
                <a:spcPts val="3695"/>
              </a:lnSpc>
              <a:spcBef>
                <a:spcPct val="0"/>
              </a:spcBef>
            </a:pPr>
            <a:r>
              <a:rPr lang="en-US" b="true" sz="3079">
                <a:solidFill>
                  <a:srgbClr val="073763"/>
                </a:solidFill>
                <a:latin typeface="Ubuntu Bold"/>
                <a:ea typeface="Ubuntu Bold"/>
                <a:cs typeface="Ubuntu Bold"/>
                <a:sym typeface="Ubuntu Bold"/>
              </a:rPr>
              <a:t>Warna Oranye (Online Survey): </a:t>
            </a:r>
            <a:r>
              <a:rPr lang="en-US" b="true" sz="3079">
                <a:solidFill>
                  <a:srgbClr val="073763"/>
                </a:solidFill>
                <a:latin typeface="Ubuntu Bold"/>
                <a:ea typeface="Ubuntu Bold"/>
                <a:cs typeface="Ubuntu Bold"/>
                <a:sym typeface="Ubuntu Bold"/>
              </a:rPr>
              <a:t>Temuan dari 23 responden orang tua dengan anak usia 0–2 tahun yang mengisi Google Form.</a:t>
            </a:r>
          </a:p>
          <a:p>
            <a:pPr algn="ctr" marL="664900" indent="-332450" lvl="1">
              <a:lnSpc>
                <a:spcPts val="3695"/>
              </a:lnSpc>
              <a:spcBef>
                <a:spcPct val="0"/>
              </a:spcBef>
              <a:buFont typeface="Arial"/>
              <a:buChar char="•"/>
            </a:pPr>
            <a:r>
              <a:rPr lang="en-US" b="true" sz="3079">
                <a:solidFill>
                  <a:srgbClr val="073763"/>
                </a:solidFill>
                <a:latin typeface="Ubuntu Bold"/>
                <a:ea typeface="Ubuntu Bold"/>
                <a:cs typeface="Ubuntu Bold"/>
                <a:sym typeface="Ubuntu Bold"/>
              </a:rPr>
              <a:t>Warna Hijau (Remote Interview): Kutipan langsung dan hasil wawancara mendalam dengan 5 orang ibu (Ibu Renita, Deny, Neli, Christin, dan Margareth).</a:t>
            </a:r>
          </a:p>
          <a:p>
            <a:pPr algn="ctr" marL="664900" indent="-332450" lvl="1">
              <a:lnSpc>
                <a:spcPts val="3695"/>
              </a:lnSpc>
              <a:spcBef>
                <a:spcPct val="0"/>
              </a:spcBef>
              <a:buFont typeface="Arial"/>
              <a:buChar char="•"/>
            </a:pPr>
          </a:p>
          <a:p>
            <a:pPr algn="ctr" marL="664900" indent="-332450" lvl="1">
              <a:lnSpc>
                <a:spcPts val="3695"/>
              </a:lnSpc>
              <a:spcBef>
                <a:spcPct val="0"/>
              </a:spcBef>
              <a:buFont typeface="Arial"/>
              <a:buChar char="•"/>
            </a:pPr>
          </a:p>
          <a:p>
            <a:pPr algn="ctr" marL="664900" indent="-332450" lvl="1">
              <a:lnSpc>
                <a:spcPts val="3695"/>
              </a:lnSpc>
              <a:spcBef>
                <a:spcPct val="0"/>
              </a:spcBef>
              <a:buFont typeface="Arial"/>
              <a:buChar char="•"/>
            </a:pPr>
          </a:p>
          <a:p>
            <a:pPr algn="ctr" marL="664900" indent="-332450" lvl="1">
              <a:lnSpc>
                <a:spcPts val="3695"/>
              </a:lnSpc>
              <a:spcBef>
                <a:spcPct val="0"/>
              </a:spcBef>
              <a:buFont typeface="Arial"/>
              <a:buChar char="•"/>
            </a:pPr>
            <a:r>
              <a:rPr lang="en-US" b="true" sz="3079">
                <a:solidFill>
                  <a:srgbClr val="073763"/>
                </a:solidFill>
                <a:latin typeface="Ubuntu Bold"/>
                <a:ea typeface="Ubuntu Bold"/>
                <a:cs typeface="Ubuntu Bold"/>
                <a:sym typeface="Ubuntu Bold"/>
              </a:rPr>
              <a:t>Warna Ungu (Competitive Analysis): Hasil analisis perbandingan terhadap 10 aplikasi kesehatan anak lokal dan global.</a:t>
            </a:r>
          </a:p>
          <a:p>
            <a:pPr algn="ctr" marL="664900" indent="-332450" lvl="1">
              <a:lnSpc>
                <a:spcPts val="3695"/>
              </a:lnSpc>
              <a:spcBef>
                <a:spcPct val="0"/>
              </a:spcBef>
              <a:buFont typeface="Arial"/>
              <a:buChar char="•"/>
            </a:pPr>
          </a:p>
          <a:p>
            <a:pPr algn="ctr" marL="664900" indent="-332450" lvl="1">
              <a:lnSpc>
                <a:spcPts val="3695"/>
              </a:lnSpc>
              <a:spcBef>
                <a:spcPct val="0"/>
              </a:spcBef>
              <a:buFont typeface="Arial"/>
              <a:buChar char="•"/>
            </a:pPr>
          </a:p>
          <a:p>
            <a:pPr algn="ctr">
              <a:lnSpc>
                <a:spcPts val="3695"/>
              </a:lnSpc>
              <a:spcBef>
                <a:spcPct val="0"/>
              </a:spcBef>
            </a:pPr>
          </a:p>
        </p:txBody>
      </p:sp>
      <p:sp>
        <p:nvSpPr>
          <p:cNvPr name="TextBox 26" id="26"/>
          <p:cNvSpPr txBox="true"/>
          <p:nvPr/>
        </p:nvSpPr>
        <p:spPr>
          <a:xfrm rot="0">
            <a:off x="3933968" y="8411265"/>
            <a:ext cx="9845920" cy="1552575"/>
          </a:xfrm>
          <a:prstGeom prst="rect">
            <a:avLst/>
          </a:prstGeom>
        </p:spPr>
        <p:txBody>
          <a:bodyPr anchor="t" rtlCol="false" tIns="0" lIns="0" bIns="0" rIns="0">
            <a:spAutoFit/>
          </a:bodyPr>
          <a:lstStyle/>
          <a:p>
            <a:pPr algn="l" marL="318568" indent="-159284" lvl="1">
              <a:lnSpc>
                <a:spcPts val="1770"/>
              </a:lnSpc>
              <a:buFont typeface="Arial"/>
              <a:buChar char="•"/>
            </a:pPr>
            <a:r>
              <a:rPr lang="en-US" b="true" sz="1475">
                <a:solidFill>
                  <a:srgbClr val="073763"/>
                </a:solidFill>
                <a:latin typeface="Ubuntu Bold"/>
                <a:ea typeface="Ubuntu Bold"/>
                <a:cs typeface="Ubuntu Bold"/>
                <a:sym typeface="Ubuntu Bold"/>
              </a:rPr>
              <a:t>Warna Biru (Desk Research): Informasi dari Buku KIA 2024, data Kemenkes RI, WHO, dan UNICEF.</a:t>
            </a:r>
          </a:p>
          <a:p>
            <a:pPr algn="l" marL="318568" indent="-159284" lvl="1">
              <a:lnSpc>
                <a:spcPts val="1770"/>
              </a:lnSpc>
              <a:buFont typeface="Arial"/>
              <a:buChar char="•"/>
            </a:pPr>
            <a:r>
              <a:rPr lang="en-US" b="true" sz="1475">
                <a:solidFill>
                  <a:srgbClr val="073763"/>
                </a:solidFill>
                <a:latin typeface="Ubuntu Bold"/>
                <a:ea typeface="Ubuntu Bold"/>
                <a:cs typeface="Ubuntu Bold"/>
                <a:sym typeface="Ubuntu Bold"/>
              </a:rPr>
              <a:t>Warna Oranye (Online Survey): </a:t>
            </a:r>
            <a:r>
              <a:rPr lang="en-US" b="true" sz="1475">
                <a:solidFill>
                  <a:srgbClr val="073763"/>
                </a:solidFill>
                <a:latin typeface="Ubuntu Bold"/>
                <a:ea typeface="Ubuntu Bold"/>
                <a:cs typeface="Ubuntu Bold"/>
                <a:sym typeface="Ubuntu Bold"/>
              </a:rPr>
              <a:t>Temuan dari 23 responden orang tua dengan anak usia 0–2 tahun yang mengisi Google Form.</a:t>
            </a:r>
          </a:p>
          <a:p>
            <a:pPr algn="l" marL="318568" indent="-159284" lvl="1">
              <a:lnSpc>
                <a:spcPts val="1770"/>
              </a:lnSpc>
              <a:buFont typeface="Arial"/>
              <a:buChar char="•"/>
            </a:pPr>
            <a:r>
              <a:rPr lang="en-US" b="true" sz="1475">
                <a:solidFill>
                  <a:srgbClr val="073763"/>
                </a:solidFill>
                <a:latin typeface="Ubuntu Bold"/>
                <a:ea typeface="Ubuntu Bold"/>
                <a:cs typeface="Ubuntu Bold"/>
                <a:sym typeface="Ubuntu Bold"/>
              </a:rPr>
              <a:t>Warna Hijau (Remote Interview): Kutipan langsung dan hasil wawancara mendalam dengan 5 orang ibu (Ibu Renita, Deny, Neli, Christin, dan Margareth).</a:t>
            </a:r>
          </a:p>
          <a:p>
            <a:pPr algn="l" marL="318568" indent="-159284" lvl="1">
              <a:lnSpc>
                <a:spcPts val="1770"/>
              </a:lnSpc>
              <a:buFont typeface="Arial"/>
              <a:buChar char="•"/>
            </a:pPr>
            <a:r>
              <a:rPr lang="en-US" b="true" sz="1475">
                <a:solidFill>
                  <a:srgbClr val="073763"/>
                </a:solidFill>
                <a:latin typeface="Ubuntu Bold"/>
                <a:ea typeface="Ubuntu Bold"/>
                <a:cs typeface="Ubuntu Bold"/>
                <a:sym typeface="Ubuntu Bold"/>
              </a:rPr>
              <a:t>Warna Ungu (Competitive Analysis): Hasil analisis perbandingan terhadap 10 aplikasi kesehatan anak lokal dan global.</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6244326" y="86902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51427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730" y="64993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914176" y="95066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064426" y="4914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9922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600626" y="56901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592253" y="7949594"/>
            <a:ext cx="2345563" cy="1911808"/>
          </a:xfrm>
          <a:custGeom>
            <a:avLst/>
            <a:gdLst/>
            <a:ahLst/>
            <a:cxnLst/>
            <a:rect r="r" b="b" t="t" l="l"/>
            <a:pathLst>
              <a:path h="1911808" w="2345563">
                <a:moveTo>
                  <a:pt x="0" y="0"/>
                </a:moveTo>
                <a:lnTo>
                  <a:pt x="2345562" y="0"/>
                </a:lnTo>
                <a:lnTo>
                  <a:pt x="2345562" y="1911808"/>
                </a:lnTo>
                <a:lnTo>
                  <a:pt x="0" y="1911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256426" y="-180360"/>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CLUSTERING</a:t>
            </a:r>
          </a:p>
        </p:txBody>
      </p:sp>
      <p:sp>
        <p:nvSpPr>
          <p:cNvPr name="Freeform 11" id="11"/>
          <p:cNvSpPr/>
          <p:nvPr/>
        </p:nvSpPr>
        <p:spPr>
          <a:xfrm flipH="false" flipV="false" rot="0">
            <a:off x="2941780"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7794516"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8107368"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273206"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3604632"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9874230"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9530952"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8426970"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894468"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4551190"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4" id="24"/>
          <p:cNvSpPr/>
          <p:nvPr/>
        </p:nvSpPr>
        <p:spPr>
          <a:xfrm flipH="false" flipV="false" rot="0">
            <a:off x="3947645" y="810240"/>
            <a:ext cx="9842711" cy="9569303"/>
          </a:xfrm>
          <a:custGeom>
            <a:avLst/>
            <a:gdLst/>
            <a:ahLst/>
            <a:cxnLst/>
            <a:rect r="r" b="b" t="t" l="l"/>
            <a:pathLst>
              <a:path h="9569303" w="9842711">
                <a:moveTo>
                  <a:pt x="0" y="0"/>
                </a:moveTo>
                <a:lnTo>
                  <a:pt x="9842712" y="0"/>
                </a:lnTo>
                <a:lnTo>
                  <a:pt x="9842712" y="9569302"/>
                </a:lnTo>
                <a:lnTo>
                  <a:pt x="0" y="9569302"/>
                </a:lnTo>
                <a:lnTo>
                  <a:pt x="0" y="0"/>
                </a:lnTo>
                <a:close/>
              </a:path>
            </a:pathLst>
          </a:custGeom>
          <a:blipFill>
            <a:blip r:embed="rId17"/>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6244326" y="86902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51427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730" y="64993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914176" y="95066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064426" y="4914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9922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600626" y="56901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592253" y="7949594"/>
            <a:ext cx="2345563" cy="1911808"/>
          </a:xfrm>
          <a:custGeom>
            <a:avLst/>
            <a:gdLst/>
            <a:ahLst/>
            <a:cxnLst/>
            <a:rect r="r" b="b" t="t" l="l"/>
            <a:pathLst>
              <a:path h="1911808" w="2345563">
                <a:moveTo>
                  <a:pt x="0" y="0"/>
                </a:moveTo>
                <a:lnTo>
                  <a:pt x="2345562" y="0"/>
                </a:lnTo>
                <a:lnTo>
                  <a:pt x="2345562" y="1911808"/>
                </a:lnTo>
                <a:lnTo>
                  <a:pt x="0" y="1911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256426" y="-180360"/>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LABELLING</a:t>
            </a:r>
          </a:p>
        </p:txBody>
      </p:sp>
      <p:sp>
        <p:nvSpPr>
          <p:cNvPr name="Freeform 11" id="11"/>
          <p:cNvSpPr/>
          <p:nvPr/>
        </p:nvSpPr>
        <p:spPr>
          <a:xfrm flipH="false" flipV="false" rot="0">
            <a:off x="2941780"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7794516"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8107368"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273206"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3604632"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9874230"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9530952"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8426970"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894468"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4551190"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4" id="24"/>
          <p:cNvSpPr/>
          <p:nvPr/>
        </p:nvSpPr>
        <p:spPr>
          <a:xfrm flipH="false" flipV="false" rot="0">
            <a:off x="4804326" y="996919"/>
            <a:ext cx="8288130" cy="8738321"/>
          </a:xfrm>
          <a:custGeom>
            <a:avLst/>
            <a:gdLst/>
            <a:ahLst/>
            <a:cxnLst/>
            <a:rect r="r" b="b" t="t" l="l"/>
            <a:pathLst>
              <a:path h="8738321" w="8288130">
                <a:moveTo>
                  <a:pt x="0" y="0"/>
                </a:moveTo>
                <a:lnTo>
                  <a:pt x="8288130" y="0"/>
                </a:lnTo>
                <a:lnTo>
                  <a:pt x="8288130" y="8738321"/>
                </a:lnTo>
                <a:lnTo>
                  <a:pt x="0" y="8738321"/>
                </a:lnTo>
                <a:lnTo>
                  <a:pt x="0" y="0"/>
                </a:lnTo>
                <a:close/>
              </a:path>
            </a:pathLst>
          </a:custGeom>
          <a:blipFill>
            <a:blip r:embed="rId17"/>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6244326" y="86902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51427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730" y="64993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914176" y="95066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064426" y="4914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9922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600626" y="56901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592253" y="7949594"/>
            <a:ext cx="2345563" cy="1911808"/>
          </a:xfrm>
          <a:custGeom>
            <a:avLst/>
            <a:gdLst/>
            <a:ahLst/>
            <a:cxnLst/>
            <a:rect r="r" b="b" t="t" l="l"/>
            <a:pathLst>
              <a:path h="1911808" w="2345563">
                <a:moveTo>
                  <a:pt x="0" y="0"/>
                </a:moveTo>
                <a:lnTo>
                  <a:pt x="2345562" y="0"/>
                </a:lnTo>
                <a:lnTo>
                  <a:pt x="2345562" y="1911808"/>
                </a:lnTo>
                <a:lnTo>
                  <a:pt x="0" y="1911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175083" y="1340426"/>
            <a:ext cx="152251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INSIGHT</a:t>
            </a:r>
          </a:p>
        </p:txBody>
      </p:sp>
      <p:sp>
        <p:nvSpPr>
          <p:cNvPr name="Freeform 11" id="11"/>
          <p:cNvSpPr/>
          <p:nvPr/>
        </p:nvSpPr>
        <p:spPr>
          <a:xfrm flipH="false" flipV="false" rot="0">
            <a:off x="2941780"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7794516"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8107368"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273206"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3604632"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9874230"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9530952"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8426970"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894468"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4551190"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4" id="24"/>
          <p:cNvSpPr txBox="true"/>
          <p:nvPr/>
        </p:nvSpPr>
        <p:spPr>
          <a:xfrm rot="0">
            <a:off x="354939" y="2940626"/>
            <a:ext cx="17474287" cy="5048250"/>
          </a:xfrm>
          <a:prstGeom prst="rect">
            <a:avLst/>
          </a:prstGeom>
        </p:spPr>
        <p:txBody>
          <a:bodyPr anchor="t" rtlCol="false" tIns="0" lIns="0" bIns="0" rIns="0">
            <a:spAutoFit/>
          </a:bodyPr>
          <a:lstStyle/>
          <a:p>
            <a:pPr algn="just">
              <a:lnSpc>
                <a:spcPts val="3671"/>
              </a:lnSpc>
              <a:spcBef>
                <a:spcPct val="0"/>
              </a:spcBef>
            </a:pPr>
            <a:r>
              <a:rPr lang="en-US" b="true" sz="3059">
                <a:solidFill>
                  <a:srgbClr val="073763"/>
                </a:solidFill>
                <a:latin typeface="Ubuntu Bold"/>
                <a:ea typeface="Ubuntu Bold"/>
                <a:cs typeface="Ubuntu Bold"/>
                <a:sym typeface="Ubuntu Bold"/>
              </a:rPr>
              <a:t>Berdasarkan pemetaan data yang kami lakukan, terlihat bahwa hambatan utama imunisasi di Indonesia bukan hanya karena kurangnya k</a:t>
            </a:r>
            <a:r>
              <a:rPr lang="en-US" b="true" sz="3059">
                <a:solidFill>
                  <a:srgbClr val="073763"/>
                </a:solidFill>
                <a:latin typeface="Ubuntu Bold"/>
                <a:ea typeface="Ubuntu Bold"/>
                <a:cs typeface="Ubuntu Bold"/>
                <a:sym typeface="Ubuntu Bold"/>
              </a:rPr>
              <a:t>esadaran orang tua, melainkan karena sistem pencatatan Buku KIA yang masih 100% manual dan berbasis kertas. Hal ini membuat data kesehatan anak menjadi sangat rentan hilang atau rusak, sementara orang tua harus berjuang mengingat jadwal imunisasi di tengah kesibukan mereka tanpa adanya pengingat otomatis. Melalui riset ini, kami menemukan peluang besar untuk merancang aplikasi yang tidak hanya berfungsi sebagai "buku medis digital", tetapi juga sebagai asisten harian yang menyediakan fitur notifikasi otomatis dan visualisasi grafik tumbuh kembang yang sederhana. Dengan menyederhanakan istilah medis yang sering membingungkan dan menggabungkan validitas data medis lokal dengan teknologi pengingat, aplikasi ini diharapkan dapat membantu orang tua memantau kesehatan anak secara lebih mandiri dan akurat.</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6244326" y="86902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51427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730" y="64993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914176" y="95066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064426" y="4914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9922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600626" y="56901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592253" y="7949594"/>
            <a:ext cx="2345563" cy="1911808"/>
          </a:xfrm>
          <a:custGeom>
            <a:avLst/>
            <a:gdLst/>
            <a:ahLst/>
            <a:cxnLst/>
            <a:rect r="r" b="b" t="t" l="l"/>
            <a:pathLst>
              <a:path h="1911808" w="2345563">
                <a:moveTo>
                  <a:pt x="0" y="0"/>
                </a:moveTo>
                <a:lnTo>
                  <a:pt x="2345562" y="0"/>
                </a:lnTo>
                <a:lnTo>
                  <a:pt x="2345562" y="1911808"/>
                </a:lnTo>
                <a:lnTo>
                  <a:pt x="0" y="1911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2941780"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794516"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8107368"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3273206"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604632"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9874230"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9530952"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8426970"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4894468"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551190"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3" id="23"/>
          <p:cNvSpPr txBox="true"/>
          <p:nvPr/>
        </p:nvSpPr>
        <p:spPr>
          <a:xfrm rot="0">
            <a:off x="0" y="3827742"/>
            <a:ext cx="18288000" cy="1543050"/>
          </a:xfrm>
          <a:prstGeom prst="rect">
            <a:avLst/>
          </a:prstGeom>
        </p:spPr>
        <p:txBody>
          <a:bodyPr anchor="t" rtlCol="false" tIns="0" lIns="0" bIns="0" rIns="0">
            <a:spAutoFit/>
          </a:bodyPr>
          <a:lstStyle/>
          <a:p>
            <a:pPr algn="ctr">
              <a:lnSpc>
                <a:spcPts val="4080"/>
              </a:lnSpc>
            </a:pPr>
            <a:r>
              <a:rPr lang="en-US" sz="3400" b="true">
                <a:solidFill>
                  <a:srgbClr val="000000"/>
                </a:solidFill>
                <a:latin typeface="Open Sans Bold"/>
                <a:ea typeface="Open Sans Bold"/>
                <a:cs typeface="Open Sans Bold"/>
                <a:sym typeface="Open Sans Bold"/>
              </a:rPr>
              <a:t>Link figjam:</a:t>
            </a:r>
          </a:p>
          <a:p>
            <a:pPr algn="ctr">
              <a:lnSpc>
                <a:spcPts val="4080"/>
              </a:lnSpc>
              <a:spcBef>
                <a:spcPct val="0"/>
              </a:spcBef>
            </a:pPr>
            <a:r>
              <a:rPr lang="en-US" b="true" sz="3400">
                <a:solidFill>
                  <a:srgbClr val="000000"/>
                </a:solidFill>
                <a:latin typeface="Open Sans Bold"/>
                <a:ea typeface="Open Sans Bold"/>
                <a:cs typeface="Open Sans Bold"/>
                <a:sym typeface="Open Sans Bold"/>
              </a:rPr>
              <a:t>https://www.figma.com/board/gs2nm7evoHRroooTMkktpB/Untitled?t=cPIrQHmNG4YARHct-6</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97791"/>
        </a:solidFill>
      </p:bgPr>
    </p:bg>
    <p:spTree>
      <p:nvGrpSpPr>
        <p:cNvPr id="1" name=""/>
        <p:cNvGrpSpPr/>
        <p:nvPr/>
      </p:nvGrpSpPr>
      <p:grpSpPr>
        <a:xfrm>
          <a:off x="0" y="0"/>
          <a:ext cx="0" cy="0"/>
          <a:chOff x="0" y="0"/>
          <a:chExt cx="0" cy="0"/>
        </a:xfrm>
      </p:grpSpPr>
      <p:sp>
        <p:nvSpPr>
          <p:cNvPr name="Freeform 2" id="2"/>
          <p:cNvSpPr/>
          <p:nvPr/>
        </p:nvSpPr>
        <p:spPr>
          <a:xfrm flipH="false" flipV="false" rot="0">
            <a:off x="2635749" y="-957071"/>
            <a:ext cx="16159193" cy="12595936"/>
          </a:xfrm>
          <a:custGeom>
            <a:avLst/>
            <a:gdLst/>
            <a:ahLst/>
            <a:cxnLst/>
            <a:rect r="r" b="b" t="t" l="l"/>
            <a:pathLst>
              <a:path h="12595936" w="16159193">
                <a:moveTo>
                  <a:pt x="0" y="0"/>
                </a:moveTo>
                <a:lnTo>
                  <a:pt x="16159193" y="0"/>
                </a:lnTo>
                <a:lnTo>
                  <a:pt x="16159193" y="12595936"/>
                </a:lnTo>
                <a:lnTo>
                  <a:pt x="0" y="12595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136584" y="30715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097000" y="822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242976" y="13891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3050" y="12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892950" y="1199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678684" y="28198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241084" y="75413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4406297" y="6093480"/>
            <a:ext cx="1860140" cy="1929373"/>
          </a:xfrm>
          <a:custGeom>
            <a:avLst/>
            <a:gdLst/>
            <a:ahLst/>
            <a:cxnLst/>
            <a:rect r="r" b="b" t="t" l="l"/>
            <a:pathLst>
              <a:path h="1929373" w="1860140">
                <a:moveTo>
                  <a:pt x="0" y="0"/>
                </a:moveTo>
                <a:lnTo>
                  <a:pt x="1860140" y="0"/>
                </a:lnTo>
                <a:lnTo>
                  <a:pt x="1860140" y="1929373"/>
                </a:lnTo>
                <a:lnTo>
                  <a:pt x="0" y="19293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3648454" y="7064430"/>
            <a:ext cx="2925203" cy="2764644"/>
          </a:xfrm>
          <a:custGeom>
            <a:avLst/>
            <a:gdLst/>
            <a:ahLst/>
            <a:cxnLst/>
            <a:rect r="r" b="b" t="t" l="l"/>
            <a:pathLst>
              <a:path h="2764644" w="2925203">
                <a:moveTo>
                  <a:pt x="0" y="0"/>
                </a:moveTo>
                <a:lnTo>
                  <a:pt x="2925203" y="0"/>
                </a:lnTo>
                <a:lnTo>
                  <a:pt x="2925203" y="2764644"/>
                </a:lnTo>
                <a:lnTo>
                  <a:pt x="0" y="27646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6993603" y="3676138"/>
            <a:ext cx="7596698" cy="3552825"/>
          </a:xfrm>
          <a:prstGeom prst="rect">
            <a:avLst/>
          </a:prstGeom>
        </p:spPr>
        <p:txBody>
          <a:bodyPr anchor="t" rtlCol="false" tIns="0" lIns="0" bIns="0" rIns="0">
            <a:spAutoFit/>
          </a:bodyPr>
          <a:lstStyle/>
          <a:p>
            <a:pPr algn="r">
              <a:lnSpc>
                <a:spcPts val="9600"/>
              </a:lnSpc>
            </a:pPr>
            <a:r>
              <a:rPr lang="en-US" sz="8000" b="true">
                <a:solidFill>
                  <a:srgbClr val="000000"/>
                </a:solidFill>
                <a:latin typeface="Ubuntu Bold"/>
                <a:ea typeface="Ubuntu Bold"/>
                <a:cs typeface="Ubuntu Bold"/>
                <a:sym typeface="Ubuntu Bold"/>
              </a:rPr>
              <a:t>USER </a:t>
            </a:r>
          </a:p>
          <a:p>
            <a:pPr algn="r">
              <a:lnSpc>
                <a:spcPts val="9600"/>
              </a:lnSpc>
            </a:pPr>
            <a:r>
              <a:rPr lang="en-US" sz="8000" b="true">
                <a:solidFill>
                  <a:srgbClr val="000000"/>
                </a:solidFill>
                <a:latin typeface="Ubuntu Bold"/>
                <a:ea typeface="Ubuntu Bold"/>
                <a:cs typeface="Ubuntu Bold"/>
                <a:sym typeface="Ubuntu Bold"/>
              </a:rPr>
              <a:t>JOURNEY MAP</a:t>
            </a:r>
          </a:p>
          <a:p>
            <a:pPr algn="r">
              <a:lnSpc>
                <a:spcPts val="8567"/>
              </a:lnSpc>
            </a:pPr>
            <a:r>
              <a:rPr lang="en-US" b="true" sz="7139">
                <a:solidFill>
                  <a:srgbClr val="000000"/>
                </a:solidFill>
                <a:latin typeface="Ubuntu Bold"/>
                <a:ea typeface="Ubuntu Bold"/>
                <a:cs typeface="Ubuntu Bold"/>
                <a:sym typeface="Ubuntu Bold"/>
              </a:rPr>
              <a:t> </a:t>
            </a:r>
          </a:p>
        </p:txBody>
      </p:sp>
      <p:sp>
        <p:nvSpPr>
          <p:cNvPr name="Freeform 13" id="13"/>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9" id="19"/>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409550" y="-384300"/>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27176" y="10583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55776" y="0"/>
            <a:ext cx="15453273" cy="10229193"/>
          </a:xfrm>
          <a:custGeom>
            <a:avLst/>
            <a:gdLst/>
            <a:ahLst/>
            <a:cxnLst/>
            <a:rect r="r" b="b" t="t" l="l"/>
            <a:pathLst>
              <a:path h="10229193" w="15453273">
                <a:moveTo>
                  <a:pt x="0" y="0"/>
                </a:moveTo>
                <a:lnTo>
                  <a:pt x="15453273" y="0"/>
                </a:lnTo>
                <a:lnTo>
                  <a:pt x="15453273" y="10229193"/>
                </a:lnTo>
                <a:lnTo>
                  <a:pt x="0" y="10229193"/>
                </a:lnTo>
                <a:lnTo>
                  <a:pt x="0" y="0"/>
                </a:lnTo>
                <a:close/>
              </a:path>
            </a:pathLst>
          </a:custGeom>
          <a:blipFill>
            <a:blip r:embed="rId11"/>
            <a:stretch>
              <a:fillRect l="-2787" t="0" r="-3937" b="-4066"/>
            </a:stretch>
          </a:blipFill>
        </p:spPr>
      </p:sp>
      <p:sp>
        <p:nvSpPr>
          <p:cNvPr name="Freeform 7" id="7"/>
          <p:cNvSpPr/>
          <p:nvPr/>
        </p:nvSpPr>
        <p:spPr>
          <a:xfrm flipH="false" flipV="false" rot="0">
            <a:off x="10928026" y="2365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5333250" y="866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3788800" y="7138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2229050" y="6467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383426" y="4547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3490576" y="546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7345576" y="7692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1145426" y="88513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9" id="19"/>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409550" y="-384300"/>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27176" y="10583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0928026" y="2365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333250" y="866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3788800" y="7138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2229050" y="6467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83426" y="4547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490576" y="546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7345576" y="7692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145426" y="88513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4047373" y="1112966"/>
            <a:ext cx="9741427" cy="2324100"/>
          </a:xfrm>
          <a:prstGeom prst="rect">
            <a:avLst/>
          </a:prstGeom>
        </p:spPr>
        <p:txBody>
          <a:bodyPr anchor="t" rtlCol="false" tIns="0" lIns="0" bIns="0" rIns="0">
            <a:spAutoFit/>
          </a:bodyPr>
          <a:lstStyle/>
          <a:p>
            <a:pPr algn="ctr">
              <a:lnSpc>
                <a:spcPts val="9000"/>
              </a:lnSpc>
            </a:pPr>
            <a:r>
              <a:rPr lang="en-US" sz="7500" b="true">
                <a:solidFill>
                  <a:srgbClr val="000000"/>
                </a:solidFill>
                <a:latin typeface="Ubuntu Bold"/>
                <a:ea typeface="Ubuntu Bold"/>
                <a:cs typeface="Ubuntu Bold"/>
                <a:sym typeface="Ubuntu Bold"/>
              </a:rPr>
              <a:t>LINK FIGJAM</a:t>
            </a:r>
          </a:p>
          <a:p>
            <a:pPr algn="ctr">
              <a:lnSpc>
                <a:spcPts val="9000"/>
              </a:lnSpc>
            </a:pPr>
            <a:r>
              <a:rPr lang="en-US" b="true" sz="7500">
                <a:solidFill>
                  <a:srgbClr val="000000"/>
                </a:solidFill>
                <a:latin typeface="Ubuntu Bold"/>
                <a:ea typeface="Ubuntu Bold"/>
                <a:cs typeface="Ubuntu Bold"/>
                <a:sym typeface="Ubuntu Bold"/>
              </a:rPr>
              <a:t>USER JOURNEY MAP</a:t>
            </a:r>
          </a:p>
        </p:txBody>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9" id="19"/>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20" id="20"/>
          <p:cNvSpPr txBox="true"/>
          <p:nvPr/>
        </p:nvSpPr>
        <p:spPr>
          <a:xfrm rot="0">
            <a:off x="674963" y="4187355"/>
            <a:ext cx="16938075" cy="1197237"/>
          </a:xfrm>
          <a:prstGeom prst="rect">
            <a:avLst/>
          </a:prstGeom>
        </p:spPr>
        <p:txBody>
          <a:bodyPr anchor="t" rtlCol="false" tIns="0" lIns="0" bIns="0" rIns="0">
            <a:spAutoFit/>
          </a:bodyPr>
          <a:lstStyle/>
          <a:p>
            <a:pPr algn="ctr">
              <a:lnSpc>
                <a:spcPts val="4601"/>
              </a:lnSpc>
              <a:spcBef>
                <a:spcPct val="0"/>
              </a:spcBef>
            </a:pPr>
            <a:r>
              <a:rPr lang="en-US" b="true" sz="3834">
                <a:solidFill>
                  <a:srgbClr val="000000"/>
                </a:solidFill>
                <a:latin typeface="Ubuntu Bold"/>
                <a:ea typeface="Ubuntu Bold"/>
                <a:cs typeface="Ubuntu Bold"/>
                <a:sym typeface="Ubuntu Bold"/>
              </a:rPr>
              <a:t>https://www.figma.com/board/jls7HIKXznpHwsgPQsc8rY/User-Journey-Map?node-id=0-1&amp;t=R8MlaAB21BlZbS33-1</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097791"/>
        </a:solidFill>
      </p:bgPr>
    </p:bg>
    <p:spTree>
      <p:nvGrpSpPr>
        <p:cNvPr id="1" name=""/>
        <p:cNvGrpSpPr/>
        <p:nvPr/>
      </p:nvGrpSpPr>
      <p:grpSpPr>
        <a:xfrm>
          <a:off x="0" y="0"/>
          <a:ext cx="0" cy="0"/>
          <a:chOff x="0" y="0"/>
          <a:chExt cx="0" cy="0"/>
        </a:xfrm>
      </p:grpSpPr>
      <p:sp>
        <p:nvSpPr>
          <p:cNvPr name="Freeform 2" id="2"/>
          <p:cNvSpPr/>
          <p:nvPr/>
        </p:nvSpPr>
        <p:spPr>
          <a:xfrm flipH="false" flipV="false" rot="0">
            <a:off x="2635749" y="-957071"/>
            <a:ext cx="16159193" cy="12595936"/>
          </a:xfrm>
          <a:custGeom>
            <a:avLst/>
            <a:gdLst/>
            <a:ahLst/>
            <a:cxnLst/>
            <a:rect r="r" b="b" t="t" l="l"/>
            <a:pathLst>
              <a:path h="12595936" w="16159193">
                <a:moveTo>
                  <a:pt x="0" y="0"/>
                </a:moveTo>
                <a:lnTo>
                  <a:pt x="16159193" y="0"/>
                </a:lnTo>
                <a:lnTo>
                  <a:pt x="16159193" y="12595936"/>
                </a:lnTo>
                <a:lnTo>
                  <a:pt x="0" y="12595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136584" y="30715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097000" y="822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242976" y="13891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3050" y="12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892950" y="1199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678684" y="28198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241084" y="75413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4406297" y="6093480"/>
            <a:ext cx="1860140" cy="1929373"/>
          </a:xfrm>
          <a:custGeom>
            <a:avLst/>
            <a:gdLst/>
            <a:ahLst/>
            <a:cxnLst/>
            <a:rect r="r" b="b" t="t" l="l"/>
            <a:pathLst>
              <a:path h="1929373" w="1860140">
                <a:moveTo>
                  <a:pt x="0" y="0"/>
                </a:moveTo>
                <a:lnTo>
                  <a:pt x="1860140" y="0"/>
                </a:lnTo>
                <a:lnTo>
                  <a:pt x="1860140" y="1929373"/>
                </a:lnTo>
                <a:lnTo>
                  <a:pt x="0" y="19293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3648454" y="7064430"/>
            <a:ext cx="2925203" cy="2764644"/>
          </a:xfrm>
          <a:custGeom>
            <a:avLst/>
            <a:gdLst/>
            <a:ahLst/>
            <a:cxnLst/>
            <a:rect r="r" b="b" t="t" l="l"/>
            <a:pathLst>
              <a:path h="2764644" w="2925203">
                <a:moveTo>
                  <a:pt x="0" y="0"/>
                </a:moveTo>
                <a:lnTo>
                  <a:pt x="2925203" y="0"/>
                </a:lnTo>
                <a:lnTo>
                  <a:pt x="2925203" y="2764644"/>
                </a:lnTo>
                <a:lnTo>
                  <a:pt x="0" y="27646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4538087" y="4610883"/>
            <a:ext cx="9637950" cy="1333500"/>
          </a:xfrm>
          <a:prstGeom prst="rect">
            <a:avLst/>
          </a:prstGeom>
        </p:spPr>
        <p:txBody>
          <a:bodyPr anchor="t" rtlCol="false" tIns="0" lIns="0" bIns="0" rIns="0">
            <a:spAutoFit/>
          </a:bodyPr>
          <a:lstStyle/>
          <a:p>
            <a:pPr algn="r">
              <a:lnSpc>
                <a:spcPts val="10320"/>
              </a:lnSpc>
            </a:pPr>
            <a:r>
              <a:rPr lang="en-US" b="true" sz="8600">
                <a:solidFill>
                  <a:srgbClr val="073763"/>
                </a:solidFill>
                <a:latin typeface="Ubuntu Bold"/>
                <a:ea typeface="Ubuntu Bold"/>
                <a:cs typeface="Ubuntu Bold"/>
                <a:sym typeface="Ubuntu Bold"/>
              </a:rPr>
              <a:t>USER </a:t>
            </a:r>
            <a:r>
              <a:rPr lang="en-US" b="true" sz="8600">
                <a:solidFill>
                  <a:srgbClr val="FFFFFF"/>
                </a:solidFill>
                <a:latin typeface="Ubuntu Bold"/>
                <a:ea typeface="Ubuntu Bold"/>
                <a:cs typeface="Ubuntu Bold"/>
                <a:sym typeface="Ubuntu Bold"/>
              </a:rPr>
              <a:t>PERSONA</a:t>
            </a:r>
          </a:p>
        </p:txBody>
      </p:sp>
      <p:sp>
        <p:nvSpPr>
          <p:cNvPr name="Freeform 13" id="13"/>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9" id="19"/>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28700" y="1367089"/>
            <a:ext cx="1814211" cy="1530270"/>
          </a:xfrm>
          <a:custGeom>
            <a:avLst/>
            <a:gdLst/>
            <a:ahLst/>
            <a:cxnLst/>
            <a:rect r="r" b="b" t="t" l="l"/>
            <a:pathLst>
              <a:path h="1530270" w="1814211">
                <a:moveTo>
                  <a:pt x="0" y="0"/>
                </a:moveTo>
                <a:lnTo>
                  <a:pt x="1814211" y="0"/>
                </a:lnTo>
                <a:lnTo>
                  <a:pt x="1814211" y="1530270"/>
                </a:lnTo>
                <a:lnTo>
                  <a:pt x="0" y="15302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028700" y="478001"/>
            <a:ext cx="6446305"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USER PERSONA</a:t>
            </a:r>
          </a:p>
        </p:txBody>
      </p:sp>
      <p:sp>
        <p:nvSpPr>
          <p:cNvPr name="Freeform 12" id="12"/>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1028700" y="2878309"/>
            <a:ext cx="3919807" cy="464048"/>
          </a:xfrm>
          <a:prstGeom prst="rect">
            <a:avLst/>
          </a:prstGeom>
        </p:spPr>
        <p:txBody>
          <a:bodyPr anchor="t" rtlCol="false" tIns="0" lIns="0" bIns="0" rIns="0">
            <a:spAutoFit/>
          </a:bodyPr>
          <a:lstStyle/>
          <a:p>
            <a:pPr algn="ctr">
              <a:lnSpc>
                <a:spcPts val="3540"/>
              </a:lnSpc>
            </a:pPr>
            <a:r>
              <a:rPr lang="en-US" b="true" sz="2950">
                <a:solidFill>
                  <a:srgbClr val="073763"/>
                </a:solidFill>
                <a:latin typeface="Ubuntu Bold"/>
                <a:ea typeface="Ubuntu Bold"/>
                <a:cs typeface="Ubuntu Bold"/>
                <a:sym typeface="Ubuntu Bold"/>
              </a:rPr>
              <a:t>PERSONA 1 - PRIMER</a:t>
            </a:r>
          </a:p>
        </p:txBody>
      </p:sp>
      <p:sp>
        <p:nvSpPr>
          <p:cNvPr name="Freeform 14" id="14"/>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6723042" y="1468601"/>
            <a:ext cx="10983569" cy="8690749"/>
          </a:xfrm>
          <a:custGeom>
            <a:avLst/>
            <a:gdLst/>
            <a:ahLst/>
            <a:cxnLst/>
            <a:rect r="r" b="b" t="t" l="l"/>
            <a:pathLst>
              <a:path h="8690749" w="10983569">
                <a:moveTo>
                  <a:pt x="0" y="0"/>
                </a:moveTo>
                <a:lnTo>
                  <a:pt x="10983568" y="0"/>
                </a:lnTo>
                <a:lnTo>
                  <a:pt x="10983568" y="8690749"/>
                </a:lnTo>
                <a:lnTo>
                  <a:pt x="0" y="8690749"/>
                </a:lnTo>
                <a:lnTo>
                  <a:pt x="0" y="0"/>
                </a:lnTo>
                <a:close/>
              </a:path>
            </a:pathLst>
          </a:custGeom>
          <a:blipFill>
            <a:blip r:embed="rId14"/>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28700" y="1367089"/>
            <a:ext cx="1814211" cy="1530270"/>
          </a:xfrm>
          <a:custGeom>
            <a:avLst/>
            <a:gdLst/>
            <a:ahLst/>
            <a:cxnLst/>
            <a:rect r="r" b="b" t="t" l="l"/>
            <a:pathLst>
              <a:path h="1530270" w="1814211">
                <a:moveTo>
                  <a:pt x="0" y="0"/>
                </a:moveTo>
                <a:lnTo>
                  <a:pt x="1814211" y="0"/>
                </a:lnTo>
                <a:lnTo>
                  <a:pt x="1814211" y="1530270"/>
                </a:lnTo>
                <a:lnTo>
                  <a:pt x="0" y="15302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028700" y="478001"/>
            <a:ext cx="6446305"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USER PERSONA</a:t>
            </a:r>
          </a:p>
        </p:txBody>
      </p:sp>
      <p:sp>
        <p:nvSpPr>
          <p:cNvPr name="Freeform 12" id="12"/>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1028700" y="2878309"/>
            <a:ext cx="4548453" cy="464048"/>
          </a:xfrm>
          <a:prstGeom prst="rect">
            <a:avLst/>
          </a:prstGeom>
        </p:spPr>
        <p:txBody>
          <a:bodyPr anchor="t" rtlCol="false" tIns="0" lIns="0" bIns="0" rIns="0">
            <a:spAutoFit/>
          </a:bodyPr>
          <a:lstStyle/>
          <a:p>
            <a:pPr algn="ctr">
              <a:lnSpc>
                <a:spcPts val="3540"/>
              </a:lnSpc>
            </a:pPr>
            <a:r>
              <a:rPr lang="en-US" b="true" sz="2950">
                <a:solidFill>
                  <a:srgbClr val="073763"/>
                </a:solidFill>
                <a:latin typeface="Ubuntu Bold"/>
                <a:ea typeface="Ubuntu Bold"/>
                <a:cs typeface="Ubuntu Bold"/>
                <a:sym typeface="Ubuntu Bold"/>
              </a:rPr>
              <a:t>PERSONA 2 - SEKUNDER</a:t>
            </a:r>
          </a:p>
        </p:txBody>
      </p:sp>
      <p:sp>
        <p:nvSpPr>
          <p:cNvPr name="Freeform 14" id="14"/>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6967734" y="1356983"/>
            <a:ext cx="10437033" cy="8845386"/>
          </a:xfrm>
          <a:custGeom>
            <a:avLst/>
            <a:gdLst/>
            <a:ahLst/>
            <a:cxnLst/>
            <a:rect r="r" b="b" t="t" l="l"/>
            <a:pathLst>
              <a:path h="8845386" w="10437033">
                <a:moveTo>
                  <a:pt x="0" y="0"/>
                </a:moveTo>
                <a:lnTo>
                  <a:pt x="10437034" y="0"/>
                </a:lnTo>
                <a:lnTo>
                  <a:pt x="10437034" y="8845386"/>
                </a:lnTo>
                <a:lnTo>
                  <a:pt x="0" y="8845386"/>
                </a:lnTo>
                <a:lnTo>
                  <a:pt x="0" y="0"/>
                </a:lnTo>
                <a:close/>
              </a:path>
            </a:pathLst>
          </a:custGeom>
          <a:blipFill>
            <a:blip r:embed="rId14"/>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97791"/>
        </a:solidFill>
      </p:bgPr>
    </p:bg>
    <p:spTree>
      <p:nvGrpSpPr>
        <p:cNvPr id="1" name=""/>
        <p:cNvGrpSpPr/>
        <p:nvPr/>
      </p:nvGrpSpPr>
      <p:grpSpPr>
        <a:xfrm>
          <a:off x="0" y="0"/>
          <a:ext cx="0" cy="0"/>
          <a:chOff x="0" y="0"/>
          <a:chExt cx="0" cy="0"/>
        </a:xfrm>
      </p:grpSpPr>
      <p:sp>
        <p:nvSpPr>
          <p:cNvPr name="Freeform 2" id="2"/>
          <p:cNvSpPr/>
          <p:nvPr/>
        </p:nvSpPr>
        <p:spPr>
          <a:xfrm flipH="false" flipV="false" rot="0">
            <a:off x="2635749" y="-957071"/>
            <a:ext cx="16159193" cy="12595936"/>
          </a:xfrm>
          <a:custGeom>
            <a:avLst/>
            <a:gdLst/>
            <a:ahLst/>
            <a:cxnLst/>
            <a:rect r="r" b="b" t="t" l="l"/>
            <a:pathLst>
              <a:path h="12595936" w="16159193">
                <a:moveTo>
                  <a:pt x="0" y="0"/>
                </a:moveTo>
                <a:lnTo>
                  <a:pt x="16159193" y="0"/>
                </a:lnTo>
                <a:lnTo>
                  <a:pt x="16159193" y="12595936"/>
                </a:lnTo>
                <a:lnTo>
                  <a:pt x="0" y="12595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136584" y="30715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097000" y="82289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242976" y="13891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3050" y="12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892950" y="1199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678684" y="28198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241084" y="7541347"/>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4406297" y="6093480"/>
            <a:ext cx="1860140" cy="1929373"/>
          </a:xfrm>
          <a:custGeom>
            <a:avLst/>
            <a:gdLst/>
            <a:ahLst/>
            <a:cxnLst/>
            <a:rect r="r" b="b" t="t" l="l"/>
            <a:pathLst>
              <a:path h="1929373" w="1860140">
                <a:moveTo>
                  <a:pt x="0" y="0"/>
                </a:moveTo>
                <a:lnTo>
                  <a:pt x="1860140" y="0"/>
                </a:lnTo>
                <a:lnTo>
                  <a:pt x="1860140" y="1929373"/>
                </a:lnTo>
                <a:lnTo>
                  <a:pt x="0" y="19293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3648454" y="7064430"/>
            <a:ext cx="2925203" cy="2764644"/>
          </a:xfrm>
          <a:custGeom>
            <a:avLst/>
            <a:gdLst/>
            <a:ahLst/>
            <a:cxnLst/>
            <a:rect r="r" b="b" t="t" l="l"/>
            <a:pathLst>
              <a:path h="2764644" w="2925203">
                <a:moveTo>
                  <a:pt x="0" y="0"/>
                </a:moveTo>
                <a:lnTo>
                  <a:pt x="2925203" y="0"/>
                </a:lnTo>
                <a:lnTo>
                  <a:pt x="2925203" y="2764644"/>
                </a:lnTo>
                <a:lnTo>
                  <a:pt x="0" y="27646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4035852" y="4228977"/>
            <a:ext cx="10314298" cy="2195266"/>
          </a:xfrm>
          <a:prstGeom prst="rect">
            <a:avLst/>
          </a:prstGeom>
        </p:spPr>
        <p:txBody>
          <a:bodyPr anchor="t" rtlCol="false" tIns="0" lIns="0" bIns="0" rIns="0">
            <a:spAutoFit/>
          </a:bodyPr>
          <a:lstStyle/>
          <a:p>
            <a:pPr algn="r">
              <a:lnSpc>
                <a:spcPts val="8567"/>
              </a:lnSpc>
            </a:pPr>
            <a:r>
              <a:rPr lang="en-US" sz="7139" b="true">
                <a:solidFill>
                  <a:srgbClr val="000000"/>
                </a:solidFill>
                <a:latin typeface="Ubuntu Bold"/>
                <a:ea typeface="Ubuntu Bold"/>
                <a:cs typeface="Ubuntu Bold"/>
                <a:sym typeface="Ubuntu Bold"/>
              </a:rPr>
              <a:t>HOW MIGHT WE </a:t>
            </a:r>
          </a:p>
          <a:p>
            <a:pPr algn="r">
              <a:lnSpc>
                <a:spcPts val="8567"/>
              </a:lnSpc>
            </a:pPr>
            <a:r>
              <a:rPr lang="en-US" b="true" sz="7139">
                <a:solidFill>
                  <a:srgbClr val="000000"/>
                </a:solidFill>
                <a:latin typeface="Ubuntu Bold"/>
                <a:ea typeface="Ubuntu Bold"/>
                <a:cs typeface="Ubuntu Bold"/>
                <a:sym typeface="Ubuntu Bold"/>
              </a:rPr>
              <a:t>(HMW)</a:t>
            </a:r>
          </a:p>
        </p:txBody>
      </p:sp>
      <p:sp>
        <p:nvSpPr>
          <p:cNvPr name="Freeform 13" id="13"/>
          <p:cNvSpPr/>
          <p:nvPr/>
        </p:nvSpPr>
        <p:spPr>
          <a:xfrm flipH="false" flipV="false" rot="0">
            <a:off x="16586141" y="397028"/>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7182619" y="1401647"/>
            <a:ext cx="867895" cy="962670"/>
          </a:xfrm>
          <a:custGeom>
            <a:avLst/>
            <a:gdLst/>
            <a:ahLst/>
            <a:cxnLst/>
            <a:rect r="r" b="b" t="t" l="l"/>
            <a:pathLst>
              <a:path h="962670" w="867895">
                <a:moveTo>
                  <a:pt x="0" y="0"/>
                </a:moveTo>
                <a:lnTo>
                  <a:pt x="867895" y="0"/>
                </a:lnTo>
                <a:lnTo>
                  <a:pt x="867895" y="962670"/>
                </a:lnTo>
                <a:lnTo>
                  <a:pt x="0" y="9626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5894600" y="-415587"/>
            <a:ext cx="855146" cy="966670"/>
          </a:xfrm>
          <a:custGeom>
            <a:avLst/>
            <a:gdLst/>
            <a:ahLst/>
            <a:cxnLst/>
            <a:rect r="r" b="b" t="t" l="l"/>
            <a:pathLst>
              <a:path h="966670" w="855146">
                <a:moveTo>
                  <a:pt x="0" y="0"/>
                </a:moveTo>
                <a:lnTo>
                  <a:pt x="855146" y="0"/>
                </a:lnTo>
                <a:lnTo>
                  <a:pt x="855146" y="966670"/>
                </a:lnTo>
                <a:lnTo>
                  <a:pt x="0" y="9666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9" id="19"/>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5994061" y="-1005133"/>
            <a:ext cx="2408239" cy="2189042"/>
          </a:xfrm>
          <a:custGeom>
            <a:avLst/>
            <a:gdLst/>
            <a:ahLst/>
            <a:cxnLst/>
            <a:rect r="r" b="b" t="t" l="l"/>
            <a:pathLst>
              <a:path h="2189042" w="2408239">
                <a:moveTo>
                  <a:pt x="0" y="0"/>
                </a:moveTo>
                <a:lnTo>
                  <a:pt x="2408239" y="0"/>
                </a:lnTo>
                <a:lnTo>
                  <a:pt x="2408239" y="2189042"/>
                </a:lnTo>
                <a:lnTo>
                  <a:pt x="0" y="21890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7075158" y="-528279"/>
            <a:ext cx="2732598" cy="2877119"/>
          </a:xfrm>
          <a:custGeom>
            <a:avLst/>
            <a:gdLst/>
            <a:ahLst/>
            <a:cxnLst/>
            <a:rect r="r" b="b" t="t" l="l"/>
            <a:pathLst>
              <a:path h="2877119" w="2732598">
                <a:moveTo>
                  <a:pt x="0" y="0"/>
                </a:moveTo>
                <a:lnTo>
                  <a:pt x="2732598" y="0"/>
                </a:lnTo>
                <a:lnTo>
                  <a:pt x="2732598" y="2877119"/>
                </a:lnTo>
                <a:lnTo>
                  <a:pt x="0" y="28771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8761126" y="4551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7252976" y="2882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195851" y="3010123"/>
            <a:ext cx="509054" cy="509054"/>
          </a:xfrm>
          <a:custGeom>
            <a:avLst/>
            <a:gdLst/>
            <a:ahLst/>
            <a:cxnLst/>
            <a:rect r="r" b="b" t="t" l="l"/>
            <a:pathLst>
              <a:path h="509054" w="509054">
                <a:moveTo>
                  <a:pt x="0" y="0"/>
                </a:moveTo>
                <a:lnTo>
                  <a:pt x="509054" y="0"/>
                </a:lnTo>
                <a:lnTo>
                  <a:pt x="509054" y="509054"/>
                </a:lnTo>
                <a:lnTo>
                  <a:pt x="0" y="5090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7252976" y="78859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6726976" y="95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993126" y="298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742468" y="2906687"/>
            <a:ext cx="509054" cy="509054"/>
          </a:xfrm>
          <a:custGeom>
            <a:avLst/>
            <a:gdLst/>
            <a:ahLst/>
            <a:cxnLst/>
            <a:rect r="r" b="b" t="t" l="l"/>
            <a:pathLst>
              <a:path h="509054" w="509054">
                <a:moveTo>
                  <a:pt x="0" y="0"/>
                </a:moveTo>
                <a:lnTo>
                  <a:pt x="509053" y="0"/>
                </a:lnTo>
                <a:lnTo>
                  <a:pt x="509053" y="509053"/>
                </a:lnTo>
                <a:lnTo>
                  <a:pt x="0" y="509053"/>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412514" y="812648"/>
            <a:ext cx="16697223" cy="1095375"/>
          </a:xfrm>
          <a:prstGeom prst="rect">
            <a:avLst/>
          </a:prstGeom>
        </p:spPr>
        <p:txBody>
          <a:bodyPr anchor="t" rtlCol="false" tIns="0" lIns="0" bIns="0" rIns="0">
            <a:spAutoFit/>
          </a:bodyPr>
          <a:lstStyle/>
          <a:p>
            <a:pPr algn="ctr">
              <a:lnSpc>
                <a:spcPts val="8405"/>
              </a:lnSpc>
            </a:pPr>
            <a:r>
              <a:rPr lang="en-US" b="true" sz="7004">
                <a:solidFill>
                  <a:srgbClr val="073763"/>
                </a:solidFill>
                <a:latin typeface="Ubuntu Bold"/>
                <a:ea typeface="Ubuntu Bold"/>
                <a:cs typeface="Ubuntu Bold"/>
                <a:sym typeface="Ubuntu Bold"/>
              </a:rPr>
              <a:t>HOW MIGHT WE (HMW)</a:t>
            </a:r>
          </a:p>
        </p:txBody>
      </p:sp>
      <p:sp>
        <p:nvSpPr>
          <p:cNvPr name="TextBox 12" id="12"/>
          <p:cNvSpPr txBox="true"/>
          <p:nvPr/>
        </p:nvSpPr>
        <p:spPr>
          <a:xfrm rot="0">
            <a:off x="165790" y="2770482"/>
            <a:ext cx="12442348" cy="569444"/>
          </a:xfrm>
          <a:prstGeom prst="rect">
            <a:avLst/>
          </a:prstGeom>
        </p:spPr>
        <p:txBody>
          <a:bodyPr anchor="t" rtlCol="false" tIns="0" lIns="0" bIns="0" rIns="0">
            <a:spAutoFit/>
          </a:bodyPr>
          <a:lstStyle/>
          <a:p>
            <a:pPr algn="l">
              <a:lnSpc>
                <a:spcPts val="4314"/>
              </a:lnSpc>
            </a:pPr>
            <a:r>
              <a:rPr lang="en-US" b="true" sz="3595">
                <a:solidFill>
                  <a:srgbClr val="073763"/>
                </a:solidFill>
                <a:latin typeface="Ubuntu Bold"/>
                <a:ea typeface="Ubuntu Bold"/>
                <a:cs typeface="Ubuntu Bold"/>
                <a:sym typeface="Ubuntu Bold"/>
              </a:rPr>
              <a:t>1.(Masalah: Lupa jadwal / tidak ada sistem pengingat)</a:t>
            </a:r>
          </a:p>
        </p:txBody>
      </p:sp>
      <p:sp>
        <p:nvSpPr>
          <p:cNvPr name="TextBox 13" id="13"/>
          <p:cNvSpPr txBox="true"/>
          <p:nvPr/>
        </p:nvSpPr>
        <p:spPr>
          <a:xfrm rot="0">
            <a:off x="283959" y="3388952"/>
            <a:ext cx="14883366" cy="952315"/>
          </a:xfrm>
          <a:prstGeom prst="rect">
            <a:avLst/>
          </a:prstGeom>
        </p:spPr>
        <p:txBody>
          <a:bodyPr anchor="t" rtlCol="false" tIns="0" lIns="0" bIns="0" rIns="0">
            <a:spAutoFit/>
          </a:bodyPr>
          <a:lstStyle/>
          <a:p>
            <a:pPr algn="just">
              <a:lnSpc>
                <a:spcPts val="3741"/>
              </a:lnSpc>
            </a:pPr>
            <a:r>
              <a:rPr lang="en-US" sz="3117">
                <a:solidFill>
                  <a:srgbClr val="434343"/>
                </a:solidFill>
                <a:latin typeface="Arimo"/>
                <a:ea typeface="Arimo"/>
                <a:cs typeface="Arimo"/>
                <a:sym typeface="Arimo"/>
              </a:rPr>
              <a:t>H</a:t>
            </a:r>
            <a:r>
              <a:rPr lang="en-US" sz="3117">
                <a:solidFill>
                  <a:srgbClr val="434343"/>
                </a:solidFill>
                <a:latin typeface="Arimo"/>
                <a:ea typeface="Arimo"/>
                <a:cs typeface="Arimo"/>
                <a:sym typeface="Arimo"/>
              </a:rPr>
              <a:t>ow might we membantu orang tua mengingat jadwal posyandu dan imunisasi secara konsisten tanpa bergantung pada kader atau ingatan pribadi?</a:t>
            </a:r>
          </a:p>
        </p:txBody>
      </p:sp>
      <p:sp>
        <p:nvSpPr>
          <p:cNvPr name="Freeform 14" id="14"/>
          <p:cNvSpPr/>
          <p:nvPr/>
        </p:nvSpPr>
        <p:spPr>
          <a:xfrm flipH="false" flipV="false" rot="0">
            <a:off x="165790" y="200203"/>
            <a:ext cx="1950272" cy="2348840"/>
          </a:xfrm>
          <a:custGeom>
            <a:avLst/>
            <a:gdLst/>
            <a:ahLst/>
            <a:cxnLst/>
            <a:rect r="r" b="b" t="t" l="l"/>
            <a:pathLst>
              <a:path h="2348840" w="1950272">
                <a:moveTo>
                  <a:pt x="0" y="0"/>
                </a:moveTo>
                <a:lnTo>
                  <a:pt x="1950272" y="0"/>
                </a:lnTo>
                <a:lnTo>
                  <a:pt x="1950272" y="2348840"/>
                </a:lnTo>
                <a:lnTo>
                  <a:pt x="0" y="23488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6097463" y="9420935"/>
            <a:ext cx="608105" cy="384541"/>
          </a:xfrm>
          <a:custGeom>
            <a:avLst/>
            <a:gdLst/>
            <a:ahLst/>
            <a:cxnLst/>
            <a:rect r="r" b="b" t="t" l="l"/>
            <a:pathLst>
              <a:path h="384541" w="608105">
                <a:moveTo>
                  <a:pt x="0" y="0"/>
                </a:moveTo>
                <a:lnTo>
                  <a:pt x="608106" y="0"/>
                </a:lnTo>
                <a:lnTo>
                  <a:pt x="608106" y="384541"/>
                </a:lnTo>
                <a:lnTo>
                  <a:pt x="0" y="3845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7196418" y="9144393"/>
            <a:ext cx="513758" cy="553084"/>
          </a:xfrm>
          <a:custGeom>
            <a:avLst/>
            <a:gdLst/>
            <a:ahLst/>
            <a:cxnLst/>
            <a:rect r="r" b="b" t="t" l="l"/>
            <a:pathLst>
              <a:path h="553084" w="513758">
                <a:moveTo>
                  <a:pt x="0" y="0"/>
                </a:moveTo>
                <a:lnTo>
                  <a:pt x="513758" y="0"/>
                </a:lnTo>
                <a:lnTo>
                  <a:pt x="513758" y="553084"/>
                </a:lnTo>
                <a:lnTo>
                  <a:pt x="0" y="55308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6474805" y="8970388"/>
            <a:ext cx="461527" cy="450547"/>
          </a:xfrm>
          <a:custGeom>
            <a:avLst/>
            <a:gdLst/>
            <a:ahLst/>
            <a:cxnLst/>
            <a:rect r="r" b="b" t="t" l="l"/>
            <a:pathLst>
              <a:path h="450547" w="461527">
                <a:moveTo>
                  <a:pt x="0" y="0"/>
                </a:moveTo>
                <a:lnTo>
                  <a:pt x="461527" y="0"/>
                </a:lnTo>
                <a:lnTo>
                  <a:pt x="461527" y="450547"/>
                </a:lnTo>
                <a:lnTo>
                  <a:pt x="0" y="45054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3764611" y="8598133"/>
            <a:ext cx="509054" cy="509054"/>
          </a:xfrm>
          <a:custGeom>
            <a:avLst/>
            <a:gdLst/>
            <a:ahLst/>
            <a:cxnLst/>
            <a:rect r="r" b="b" t="t" l="l"/>
            <a:pathLst>
              <a:path h="509054" w="509054">
                <a:moveTo>
                  <a:pt x="0" y="0"/>
                </a:moveTo>
                <a:lnTo>
                  <a:pt x="509054" y="0"/>
                </a:lnTo>
                <a:lnTo>
                  <a:pt x="509054" y="509053"/>
                </a:lnTo>
                <a:lnTo>
                  <a:pt x="0" y="509053"/>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165790" y="4524798"/>
            <a:ext cx="12442348" cy="569444"/>
          </a:xfrm>
          <a:prstGeom prst="rect">
            <a:avLst/>
          </a:prstGeom>
        </p:spPr>
        <p:txBody>
          <a:bodyPr anchor="t" rtlCol="false" tIns="0" lIns="0" bIns="0" rIns="0">
            <a:spAutoFit/>
          </a:bodyPr>
          <a:lstStyle/>
          <a:p>
            <a:pPr algn="l">
              <a:lnSpc>
                <a:spcPts val="4314"/>
              </a:lnSpc>
            </a:pPr>
            <a:r>
              <a:rPr lang="en-US" b="true" sz="3595">
                <a:solidFill>
                  <a:srgbClr val="073763"/>
                </a:solidFill>
                <a:latin typeface="Ubuntu Bold"/>
                <a:ea typeface="Ubuntu Bold"/>
                <a:cs typeface="Ubuntu Bold"/>
                <a:sym typeface="Ubuntu Bold"/>
              </a:rPr>
              <a:t>2.(Masalah: Buku KIA sering hilang / tertinggal)</a:t>
            </a:r>
          </a:p>
        </p:txBody>
      </p:sp>
      <p:sp>
        <p:nvSpPr>
          <p:cNvPr name="TextBox 20" id="20"/>
          <p:cNvSpPr txBox="true"/>
          <p:nvPr/>
        </p:nvSpPr>
        <p:spPr>
          <a:xfrm rot="0">
            <a:off x="283959" y="5202636"/>
            <a:ext cx="14883366" cy="952315"/>
          </a:xfrm>
          <a:prstGeom prst="rect">
            <a:avLst/>
          </a:prstGeom>
        </p:spPr>
        <p:txBody>
          <a:bodyPr anchor="t" rtlCol="false" tIns="0" lIns="0" bIns="0" rIns="0">
            <a:spAutoFit/>
          </a:bodyPr>
          <a:lstStyle/>
          <a:p>
            <a:pPr algn="just">
              <a:lnSpc>
                <a:spcPts val="3741"/>
              </a:lnSpc>
            </a:pPr>
            <a:r>
              <a:rPr lang="en-US" sz="3117">
                <a:solidFill>
                  <a:srgbClr val="434343"/>
                </a:solidFill>
                <a:latin typeface="Arimo"/>
                <a:ea typeface="Arimo"/>
                <a:cs typeface="Arimo"/>
                <a:sym typeface="Arimo"/>
              </a:rPr>
              <a:t>H</a:t>
            </a:r>
            <a:r>
              <a:rPr lang="en-US" sz="3117">
                <a:solidFill>
                  <a:srgbClr val="434343"/>
                </a:solidFill>
                <a:latin typeface="Arimo"/>
                <a:ea typeface="Arimo"/>
                <a:cs typeface="Arimo"/>
                <a:sym typeface="Arimo"/>
              </a:rPr>
              <a:t>ow might we memungkinkan orang tua mengakses data kesehatan bayi tanpa harus bergantung pada Buku KIA fisik?</a:t>
            </a:r>
          </a:p>
        </p:txBody>
      </p:sp>
      <p:sp>
        <p:nvSpPr>
          <p:cNvPr name="TextBox 21" id="21"/>
          <p:cNvSpPr txBox="true"/>
          <p:nvPr/>
        </p:nvSpPr>
        <p:spPr>
          <a:xfrm rot="0">
            <a:off x="165790" y="6338482"/>
            <a:ext cx="13966348" cy="569444"/>
          </a:xfrm>
          <a:prstGeom prst="rect">
            <a:avLst/>
          </a:prstGeom>
        </p:spPr>
        <p:txBody>
          <a:bodyPr anchor="t" rtlCol="false" tIns="0" lIns="0" bIns="0" rIns="0">
            <a:spAutoFit/>
          </a:bodyPr>
          <a:lstStyle/>
          <a:p>
            <a:pPr algn="l">
              <a:lnSpc>
                <a:spcPts val="4314"/>
              </a:lnSpc>
            </a:pPr>
            <a:r>
              <a:rPr lang="en-US" b="true" sz="3595">
                <a:solidFill>
                  <a:srgbClr val="073763"/>
                </a:solidFill>
                <a:latin typeface="Ubuntu Bold"/>
                <a:ea typeface="Ubuntu Bold"/>
                <a:cs typeface="Ubuntu Bold"/>
                <a:sym typeface="Ubuntu Bold"/>
              </a:rPr>
              <a:t>3.(Masalah: Persiapan ribet dan banyak yang harus diingat)</a:t>
            </a:r>
          </a:p>
        </p:txBody>
      </p:sp>
      <p:sp>
        <p:nvSpPr>
          <p:cNvPr name="TextBox 22" id="22"/>
          <p:cNvSpPr txBox="true"/>
          <p:nvPr/>
        </p:nvSpPr>
        <p:spPr>
          <a:xfrm rot="0">
            <a:off x="283959" y="7016320"/>
            <a:ext cx="14883366" cy="952315"/>
          </a:xfrm>
          <a:prstGeom prst="rect">
            <a:avLst/>
          </a:prstGeom>
        </p:spPr>
        <p:txBody>
          <a:bodyPr anchor="t" rtlCol="false" tIns="0" lIns="0" bIns="0" rIns="0">
            <a:spAutoFit/>
          </a:bodyPr>
          <a:lstStyle/>
          <a:p>
            <a:pPr algn="just">
              <a:lnSpc>
                <a:spcPts val="3741"/>
              </a:lnSpc>
            </a:pPr>
            <a:r>
              <a:rPr lang="en-US" sz="3117">
                <a:solidFill>
                  <a:srgbClr val="434343"/>
                </a:solidFill>
                <a:latin typeface="Arimo"/>
                <a:ea typeface="Arimo"/>
                <a:cs typeface="Arimo"/>
                <a:sym typeface="Arimo"/>
              </a:rPr>
              <a:t>H</a:t>
            </a:r>
            <a:r>
              <a:rPr lang="en-US" sz="3117">
                <a:solidFill>
                  <a:srgbClr val="434343"/>
                </a:solidFill>
                <a:latin typeface="Arimo"/>
                <a:ea typeface="Arimo"/>
                <a:cs typeface="Arimo"/>
                <a:sym typeface="Arimo"/>
              </a:rPr>
              <a:t>ow might we mempermudah orang tua dalam mempersiapkan kebutuhan sebelum kunjungan ke posyandu?</a:t>
            </a:r>
          </a:p>
        </p:txBody>
      </p:sp>
      <p:sp>
        <p:nvSpPr>
          <p:cNvPr name="TextBox 23" id="23"/>
          <p:cNvSpPr txBox="true"/>
          <p:nvPr/>
        </p:nvSpPr>
        <p:spPr>
          <a:xfrm rot="0">
            <a:off x="165790" y="8067324"/>
            <a:ext cx="12442348" cy="569444"/>
          </a:xfrm>
          <a:prstGeom prst="rect">
            <a:avLst/>
          </a:prstGeom>
        </p:spPr>
        <p:txBody>
          <a:bodyPr anchor="t" rtlCol="false" tIns="0" lIns="0" bIns="0" rIns="0">
            <a:spAutoFit/>
          </a:bodyPr>
          <a:lstStyle/>
          <a:p>
            <a:pPr algn="l">
              <a:lnSpc>
                <a:spcPts val="4314"/>
              </a:lnSpc>
            </a:pPr>
            <a:r>
              <a:rPr lang="en-US" b="true" sz="3595">
                <a:solidFill>
                  <a:srgbClr val="073763"/>
                </a:solidFill>
                <a:latin typeface="Ubuntu Bold"/>
                <a:ea typeface="Ubuntu Bold"/>
                <a:cs typeface="Ubuntu Bold"/>
                <a:sym typeface="Ubuntu Bold"/>
              </a:rPr>
              <a:t>4.(Masalah: Orang tua pasif saat pelayanan)</a:t>
            </a:r>
          </a:p>
        </p:txBody>
      </p:sp>
      <p:sp>
        <p:nvSpPr>
          <p:cNvPr name="TextBox 24" id="24"/>
          <p:cNvSpPr txBox="true"/>
          <p:nvPr/>
        </p:nvSpPr>
        <p:spPr>
          <a:xfrm rot="0">
            <a:off x="283959" y="8745162"/>
            <a:ext cx="14883366" cy="952315"/>
          </a:xfrm>
          <a:prstGeom prst="rect">
            <a:avLst/>
          </a:prstGeom>
        </p:spPr>
        <p:txBody>
          <a:bodyPr anchor="t" rtlCol="false" tIns="0" lIns="0" bIns="0" rIns="0">
            <a:spAutoFit/>
          </a:bodyPr>
          <a:lstStyle/>
          <a:p>
            <a:pPr algn="just">
              <a:lnSpc>
                <a:spcPts val="3741"/>
              </a:lnSpc>
            </a:pPr>
            <a:r>
              <a:rPr lang="en-US" sz="3117">
                <a:solidFill>
                  <a:srgbClr val="434343"/>
                </a:solidFill>
                <a:latin typeface="Arimo"/>
                <a:ea typeface="Arimo"/>
                <a:cs typeface="Arimo"/>
                <a:sym typeface="Arimo"/>
              </a:rPr>
              <a:t>H</a:t>
            </a:r>
            <a:r>
              <a:rPr lang="en-US" sz="3117">
                <a:solidFill>
                  <a:srgbClr val="434343"/>
                </a:solidFill>
                <a:latin typeface="Arimo"/>
                <a:ea typeface="Arimo"/>
                <a:cs typeface="Arimo"/>
                <a:sym typeface="Arimo"/>
              </a:rPr>
              <a:t>ow might we membuat orang tua lebih memahami dan terlibat dalam proses pemeriksaan kesehatan bayi di posyandu?</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5994061" y="-1005133"/>
            <a:ext cx="2408239" cy="2189042"/>
          </a:xfrm>
          <a:custGeom>
            <a:avLst/>
            <a:gdLst/>
            <a:ahLst/>
            <a:cxnLst/>
            <a:rect r="r" b="b" t="t" l="l"/>
            <a:pathLst>
              <a:path h="2189042" w="2408239">
                <a:moveTo>
                  <a:pt x="0" y="0"/>
                </a:moveTo>
                <a:lnTo>
                  <a:pt x="2408239" y="0"/>
                </a:lnTo>
                <a:lnTo>
                  <a:pt x="2408239" y="2189042"/>
                </a:lnTo>
                <a:lnTo>
                  <a:pt x="0" y="21890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7075158" y="-528279"/>
            <a:ext cx="2732598" cy="2877119"/>
          </a:xfrm>
          <a:custGeom>
            <a:avLst/>
            <a:gdLst/>
            <a:ahLst/>
            <a:cxnLst/>
            <a:rect r="r" b="b" t="t" l="l"/>
            <a:pathLst>
              <a:path h="2877119" w="2732598">
                <a:moveTo>
                  <a:pt x="0" y="0"/>
                </a:moveTo>
                <a:lnTo>
                  <a:pt x="2732598" y="0"/>
                </a:lnTo>
                <a:lnTo>
                  <a:pt x="2732598" y="2877119"/>
                </a:lnTo>
                <a:lnTo>
                  <a:pt x="0" y="28771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8761126" y="4551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7252976" y="28827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507729" y="3026891"/>
            <a:ext cx="540616" cy="540616"/>
          </a:xfrm>
          <a:custGeom>
            <a:avLst/>
            <a:gdLst/>
            <a:ahLst/>
            <a:cxnLst/>
            <a:rect r="r" b="b" t="t" l="l"/>
            <a:pathLst>
              <a:path h="540616" w="540616">
                <a:moveTo>
                  <a:pt x="0" y="0"/>
                </a:moveTo>
                <a:lnTo>
                  <a:pt x="540617" y="0"/>
                </a:lnTo>
                <a:lnTo>
                  <a:pt x="540617" y="540616"/>
                </a:lnTo>
                <a:lnTo>
                  <a:pt x="0" y="54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7252976" y="78859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6726976" y="9576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993126" y="298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778224" y="2917041"/>
            <a:ext cx="540616" cy="540616"/>
          </a:xfrm>
          <a:custGeom>
            <a:avLst/>
            <a:gdLst/>
            <a:ahLst/>
            <a:cxnLst/>
            <a:rect r="r" b="b" t="t" l="l"/>
            <a:pathLst>
              <a:path h="540616" w="540616">
                <a:moveTo>
                  <a:pt x="0" y="0"/>
                </a:moveTo>
                <a:lnTo>
                  <a:pt x="540616" y="0"/>
                </a:lnTo>
                <a:lnTo>
                  <a:pt x="540616" y="540617"/>
                </a:lnTo>
                <a:lnTo>
                  <a:pt x="0" y="540617"/>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412514" y="812648"/>
            <a:ext cx="16697223" cy="1095375"/>
          </a:xfrm>
          <a:prstGeom prst="rect">
            <a:avLst/>
          </a:prstGeom>
        </p:spPr>
        <p:txBody>
          <a:bodyPr anchor="t" rtlCol="false" tIns="0" lIns="0" bIns="0" rIns="0">
            <a:spAutoFit/>
          </a:bodyPr>
          <a:lstStyle/>
          <a:p>
            <a:pPr algn="ctr">
              <a:lnSpc>
                <a:spcPts val="8405"/>
              </a:lnSpc>
            </a:pPr>
            <a:r>
              <a:rPr lang="en-US" b="true" sz="7004">
                <a:solidFill>
                  <a:srgbClr val="073763"/>
                </a:solidFill>
                <a:latin typeface="Ubuntu Bold"/>
                <a:ea typeface="Ubuntu Bold"/>
                <a:cs typeface="Ubuntu Bold"/>
                <a:sym typeface="Ubuntu Bold"/>
              </a:rPr>
              <a:t>HOW MIGHT WE (HMW)</a:t>
            </a:r>
          </a:p>
        </p:txBody>
      </p:sp>
      <p:sp>
        <p:nvSpPr>
          <p:cNvPr name="TextBox 12" id="12"/>
          <p:cNvSpPr txBox="true"/>
          <p:nvPr/>
        </p:nvSpPr>
        <p:spPr>
          <a:xfrm rot="0">
            <a:off x="165790" y="2720638"/>
            <a:ext cx="13213808" cy="593455"/>
          </a:xfrm>
          <a:prstGeom prst="rect">
            <a:avLst/>
          </a:prstGeom>
        </p:spPr>
        <p:txBody>
          <a:bodyPr anchor="t" rtlCol="false" tIns="0" lIns="0" bIns="0" rIns="0">
            <a:spAutoFit/>
          </a:bodyPr>
          <a:lstStyle/>
          <a:p>
            <a:pPr algn="l">
              <a:lnSpc>
                <a:spcPts val="4581"/>
              </a:lnSpc>
            </a:pPr>
            <a:r>
              <a:rPr lang="en-US" b="true" sz="3818">
                <a:solidFill>
                  <a:srgbClr val="073763"/>
                </a:solidFill>
                <a:latin typeface="Ubuntu Bold"/>
                <a:ea typeface="Ubuntu Bold"/>
                <a:cs typeface="Ubuntu Bold"/>
                <a:sym typeface="Ubuntu Bold"/>
              </a:rPr>
              <a:t>5.(Masalah: Tulisan tidak terbaca &amp; istilah sulit)</a:t>
            </a:r>
          </a:p>
        </p:txBody>
      </p:sp>
      <p:sp>
        <p:nvSpPr>
          <p:cNvPr name="TextBox 13" id="13"/>
          <p:cNvSpPr txBox="true"/>
          <p:nvPr/>
        </p:nvSpPr>
        <p:spPr>
          <a:xfrm rot="0">
            <a:off x="291286" y="3430390"/>
            <a:ext cx="15806177" cy="1010180"/>
          </a:xfrm>
          <a:prstGeom prst="rect">
            <a:avLst/>
          </a:prstGeom>
        </p:spPr>
        <p:txBody>
          <a:bodyPr anchor="t" rtlCol="false" tIns="0" lIns="0" bIns="0" rIns="0">
            <a:spAutoFit/>
          </a:bodyPr>
          <a:lstStyle/>
          <a:p>
            <a:pPr algn="just">
              <a:lnSpc>
                <a:spcPts val="3973"/>
              </a:lnSpc>
            </a:pPr>
            <a:r>
              <a:rPr lang="en-US" sz="3310">
                <a:solidFill>
                  <a:srgbClr val="434343"/>
                </a:solidFill>
                <a:latin typeface="Arimo"/>
                <a:ea typeface="Arimo"/>
                <a:cs typeface="Arimo"/>
                <a:sym typeface="Arimo"/>
              </a:rPr>
              <a:t>H</a:t>
            </a:r>
            <a:r>
              <a:rPr lang="en-US" sz="3310">
                <a:solidFill>
                  <a:srgbClr val="434343"/>
                </a:solidFill>
                <a:latin typeface="Arimo"/>
                <a:ea typeface="Arimo"/>
                <a:cs typeface="Arimo"/>
                <a:sym typeface="Arimo"/>
              </a:rPr>
              <a:t>ow might we menyajikan informasi kesehatan bayi dengan cara yang mudah dipahami oleh orang tua tanpa latar belakang medis?</a:t>
            </a:r>
          </a:p>
        </p:txBody>
      </p:sp>
      <p:sp>
        <p:nvSpPr>
          <p:cNvPr name="Freeform 14" id="14"/>
          <p:cNvSpPr/>
          <p:nvPr/>
        </p:nvSpPr>
        <p:spPr>
          <a:xfrm flipH="false" flipV="false" rot="0">
            <a:off x="165790" y="200203"/>
            <a:ext cx="1950272" cy="2348840"/>
          </a:xfrm>
          <a:custGeom>
            <a:avLst/>
            <a:gdLst/>
            <a:ahLst/>
            <a:cxnLst/>
            <a:rect r="r" b="b" t="t" l="l"/>
            <a:pathLst>
              <a:path h="2348840" w="1950272">
                <a:moveTo>
                  <a:pt x="0" y="0"/>
                </a:moveTo>
                <a:lnTo>
                  <a:pt x="1950272" y="0"/>
                </a:lnTo>
                <a:lnTo>
                  <a:pt x="1950272" y="2348840"/>
                </a:lnTo>
                <a:lnTo>
                  <a:pt x="0" y="23488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6097463" y="9420935"/>
            <a:ext cx="608105" cy="384541"/>
          </a:xfrm>
          <a:custGeom>
            <a:avLst/>
            <a:gdLst/>
            <a:ahLst/>
            <a:cxnLst/>
            <a:rect r="r" b="b" t="t" l="l"/>
            <a:pathLst>
              <a:path h="384541" w="608105">
                <a:moveTo>
                  <a:pt x="0" y="0"/>
                </a:moveTo>
                <a:lnTo>
                  <a:pt x="608106" y="0"/>
                </a:lnTo>
                <a:lnTo>
                  <a:pt x="608106" y="384541"/>
                </a:lnTo>
                <a:lnTo>
                  <a:pt x="0" y="3845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7196418" y="9144393"/>
            <a:ext cx="513758" cy="553084"/>
          </a:xfrm>
          <a:custGeom>
            <a:avLst/>
            <a:gdLst/>
            <a:ahLst/>
            <a:cxnLst/>
            <a:rect r="r" b="b" t="t" l="l"/>
            <a:pathLst>
              <a:path h="553084" w="513758">
                <a:moveTo>
                  <a:pt x="0" y="0"/>
                </a:moveTo>
                <a:lnTo>
                  <a:pt x="513758" y="0"/>
                </a:lnTo>
                <a:lnTo>
                  <a:pt x="513758" y="553084"/>
                </a:lnTo>
                <a:lnTo>
                  <a:pt x="0" y="55308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6474805" y="8970388"/>
            <a:ext cx="461527" cy="450547"/>
          </a:xfrm>
          <a:custGeom>
            <a:avLst/>
            <a:gdLst/>
            <a:ahLst/>
            <a:cxnLst/>
            <a:rect r="r" b="b" t="t" l="l"/>
            <a:pathLst>
              <a:path h="450547" w="461527">
                <a:moveTo>
                  <a:pt x="0" y="0"/>
                </a:moveTo>
                <a:lnTo>
                  <a:pt x="461527" y="0"/>
                </a:lnTo>
                <a:lnTo>
                  <a:pt x="461527" y="450547"/>
                </a:lnTo>
                <a:lnTo>
                  <a:pt x="0" y="45054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3398026" y="80013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165790" y="4646776"/>
            <a:ext cx="13213808" cy="593455"/>
          </a:xfrm>
          <a:prstGeom prst="rect">
            <a:avLst/>
          </a:prstGeom>
        </p:spPr>
        <p:txBody>
          <a:bodyPr anchor="t" rtlCol="false" tIns="0" lIns="0" bIns="0" rIns="0">
            <a:spAutoFit/>
          </a:bodyPr>
          <a:lstStyle/>
          <a:p>
            <a:pPr algn="l">
              <a:lnSpc>
                <a:spcPts val="4581"/>
              </a:lnSpc>
            </a:pPr>
            <a:r>
              <a:rPr lang="en-US" b="true" sz="3818">
                <a:solidFill>
                  <a:srgbClr val="073763"/>
                </a:solidFill>
                <a:latin typeface="Ubuntu Bold"/>
                <a:ea typeface="Ubuntu Bold"/>
                <a:cs typeface="Ubuntu Bold"/>
                <a:sym typeface="Ubuntu Bold"/>
              </a:rPr>
              <a:t>6.(Masalah: Tidak ada monitoring setelah kunjungan)</a:t>
            </a:r>
          </a:p>
        </p:txBody>
      </p:sp>
      <p:sp>
        <p:nvSpPr>
          <p:cNvPr name="TextBox 20" id="20"/>
          <p:cNvSpPr txBox="true"/>
          <p:nvPr/>
        </p:nvSpPr>
        <p:spPr>
          <a:xfrm rot="0">
            <a:off x="291286" y="5356527"/>
            <a:ext cx="15806177" cy="1010180"/>
          </a:xfrm>
          <a:prstGeom prst="rect">
            <a:avLst/>
          </a:prstGeom>
        </p:spPr>
        <p:txBody>
          <a:bodyPr anchor="t" rtlCol="false" tIns="0" lIns="0" bIns="0" rIns="0">
            <a:spAutoFit/>
          </a:bodyPr>
          <a:lstStyle/>
          <a:p>
            <a:pPr algn="just">
              <a:lnSpc>
                <a:spcPts val="3973"/>
              </a:lnSpc>
            </a:pPr>
            <a:r>
              <a:rPr lang="en-US" sz="3310">
                <a:solidFill>
                  <a:srgbClr val="434343"/>
                </a:solidFill>
                <a:latin typeface="Arimo"/>
                <a:ea typeface="Arimo"/>
                <a:cs typeface="Arimo"/>
                <a:sym typeface="Arimo"/>
              </a:rPr>
              <a:t>H</a:t>
            </a:r>
            <a:r>
              <a:rPr lang="en-US" sz="3310">
                <a:solidFill>
                  <a:srgbClr val="434343"/>
                </a:solidFill>
                <a:latin typeface="Arimo"/>
                <a:ea typeface="Arimo"/>
                <a:cs typeface="Arimo"/>
                <a:sym typeface="Arimo"/>
              </a:rPr>
              <a:t>ow might we membantu orang tua memantau perkembangan bayi secara mandiri setelah kunjungan ke posyandu?</a:t>
            </a:r>
          </a:p>
        </p:txBody>
      </p:sp>
      <p:sp>
        <p:nvSpPr>
          <p:cNvPr name="TextBox 21" id="21"/>
          <p:cNvSpPr txBox="true"/>
          <p:nvPr/>
        </p:nvSpPr>
        <p:spPr>
          <a:xfrm rot="0">
            <a:off x="165790" y="6572914"/>
            <a:ext cx="15118757" cy="593455"/>
          </a:xfrm>
          <a:prstGeom prst="rect">
            <a:avLst/>
          </a:prstGeom>
        </p:spPr>
        <p:txBody>
          <a:bodyPr anchor="t" rtlCol="false" tIns="0" lIns="0" bIns="0" rIns="0">
            <a:spAutoFit/>
          </a:bodyPr>
          <a:lstStyle/>
          <a:p>
            <a:pPr algn="l">
              <a:lnSpc>
                <a:spcPts val="4581"/>
              </a:lnSpc>
            </a:pPr>
            <a:r>
              <a:rPr lang="en-US" b="true" sz="3818">
                <a:solidFill>
                  <a:srgbClr val="073763"/>
                </a:solidFill>
                <a:latin typeface="Ubuntu Bold"/>
                <a:ea typeface="Ubuntu Bold"/>
                <a:cs typeface="Ubuntu Bold"/>
                <a:sym typeface="Ubuntu Bold"/>
              </a:rPr>
              <a:t>7.(Masalah: Tidak ada sistem berkelanjutan / journey terputus)</a:t>
            </a:r>
          </a:p>
        </p:txBody>
      </p:sp>
      <p:sp>
        <p:nvSpPr>
          <p:cNvPr name="TextBox 22" id="22"/>
          <p:cNvSpPr txBox="true"/>
          <p:nvPr/>
        </p:nvSpPr>
        <p:spPr>
          <a:xfrm rot="0">
            <a:off x="291286" y="7282665"/>
            <a:ext cx="15806177" cy="1010180"/>
          </a:xfrm>
          <a:prstGeom prst="rect">
            <a:avLst/>
          </a:prstGeom>
        </p:spPr>
        <p:txBody>
          <a:bodyPr anchor="t" rtlCol="false" tIns="0" lIns="0" bIns="0" rIns="0">
            <a:spAutoFit/>
          </a:bodyPr>
          <a:lstStyle/>
          <a:p>
            <a:pPr algn="just">
              <a:lnSpc>
                <a:spcPts val="3973"/>
              </a:lnSpc>
            </a:pPr>
            <a:r>
              <a:rPr lang="en-US" sz="3310">
                <a:solidFill>
                  <a:srgbClr val="434343"/>
                </a:solidFill>
                <a:latin typeface="Arimo"/>
                <a:ea typeface="Arimo"/>
                <a:cs typeface="Arimo"/>
                <a:sym typeface="Arimo"/>
              </a:rPr>
              <a:t>H</a:t>
            </a:r>
            <a:r>
              <a:rPr lang="en-US" sz="3310">
                <a:solidFill>
                  <a:srgbClr val="434343"/>
                </a:solidFill>
                <a:latin typeface="Arimo"/>
                <a:ea typeface="Arimo"/>
                <a:cs typeface="Arimo"/>
                <a:sym typeface="Arimo"/>
              </a:rPr>
              <a:t>ow might we menciptakan sistem yang mendukung pemantauan kesehatan bayi secara berkelanjutan dari sebelum, saat, hingga setelah kunjungan?</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2272098" y="-42200"/>
            <a:ext cx="5212196" cy="2224406"/>
          </a:xfrm>
          <a:custGeom>
            <a:avLst/>
            <a:gdLst/>
            <a:ahLst/>
            <a:cxnLst/>
            <a:rect r="r" b="b" t="t" l="l"/>
            <a:pathLst>
              <a:path h="2224406" w="5212196">
                <a:moveTo>
                  <a:pt x="0" y="0"/>
                </a:moveTo>
                <a:lnTo>
                  <a:pt x="5212196" y="0"/>
                </a:lnTo>
                <a:lnTo>
                  <a:pt x="5212196" y="2224406"/>
                </a:lnTo>
                <a:lnTo>
                  <a:pt x="0" y="22244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272098" y="-42200"/>
            <a:ext cx="3558030" cy="1814000"/>
            <a:chOff x="0" y="0"/>
            <a:chExt cx="4744040" cy="2418667"/>
          </a:xfrm>
        </p:grpSpPr>
        <p:sp>
          <p:nvSpPr>
            <p:cNvPr name="Freeform 4" id="4"/>
            <p:cNvSpPr/>
            <p:nvPr/>
          </p:nvSpPr>
          <p:spPr>
            <a:xfrm flipH="false" flipV="false" rot="0">
              <a:off x="0" y="0"/>
              <a:ext cx="4744085" cy="2418588"/>
            </a:xfrm>
            <a:custGeom>
              <a:avLst/>
              <a:gdLst/>
              <a:ahLst/>
              <a:cxnLst/>
              <a:rect r="r" b="b" t="t" l="l"/>
              <a:pathLst>
                <a:path h="2418588" w="4744085">
                  <a:moveTo>
                    <a:pt x="0" y="0"/>
                  </a:moveTo>
                  <a:lnTo>
                    <a:pt x="0" y="2038350"/>
                  </a:lnTo>
                  <a:cubicBezTo>
                    <a:pt x="295021" y="2289937"/>
                    <a:pt x="767080" y="2418588"/>
                    <a:pt x="1250950" y="2418588"/>
                  </a:cubicBezTo>
                  <a:cubicBezTo>
                    <a:pt x="1791716" y="2418588"/>
                    <a:pt x="2347214" y="2258187"/>
                    <a:pt x="2687574" y="1929384"/>
                  </a:cubicBezTo>
                  <a:cubicBezTo>
                    <a:pt x="3390138" y="1250950"/>
                    <a:pt x="3702685" y="327025"/>
                    <a:pt x="4744085" y="0"/>
                  </a:cubicBezTo>
                  <a:close/>
                </a:path>
              </a:pathLst>
            </a:custGeom>
            <a:gradFill rotWithShape="true">
              <a:gsLst>
                <a:gs pos="0">
                  <a:srgbClr val="61EEDD">
                    <a:alpha val="100000"/>
                  </a:srgbClr>
                </a:gs>
                <a:gs pos="100000">
                  <a:srgbClr val="79D3FE">
                    <a:alpha val="100000"/>
                  </a:srgbClr>
                </a:gs>
              </a:gsLst>
              <a:lin ang="5400016"/>
            </a:gradFill>
          </p:spPr>
        </p:sp>
      </p:grpSp>
      <p:sp>
        <p:nvSpPr>
          <p:cNvPr name="Freeform 5" id="5"/>
          <p:cNvSpPr/>
          <p:nvPr/>
        </p:nvSpPr>
        <p:spPr>
          <a:xfrm flipH="false" flipV="false" rot="0">
            <a:off x="12340338" y="4212013"/>
            <a:ext cx="12441906" cy="8880656"/>
          </a:xfrm>
          <a:custGeom>
            <a:avLst/>
            <a:gdLst/>
            <a:ahLst/>
            <a:cxnLst/>
            <a:rect r="r" b="b" t="t" l="l"/>
            <a:pathLst>
              <a:path h="8880656" w="12441906">
                <a:moveTo>
                  <a:pt x="0" y="0"/>
                </a:moveTo>
                <a:lnTo>
                  <a:pt x="12441906" y="0"/>
                </a:lnTo>
                <a:lnTo>
                  <a:pt x="12441906" y="8880656"/>
                </a:lnTo>
                <a:lnTo>
                  <a:pt x="0" y="88806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004288" y="3947863"/>
            <a:ext cx="12441906" cy="8880656"/>
          </a:xfrm>
          <a:custGeom>
            <a:avLst/>
            <a:gdLst/>
            <a:ahLst/>
            <a:cxnLst/>
            <a:rect r="r" b="b" t="t" l="l"/>
            <a:pathLst>
              <a:path h="8880656" w="12441906">
                <a:moveTo>
                  <a:pt x="0" y="0"/>
                </a:moveTo>
                <a:lnTo>
                  <a:pt x="12441906" y="0"/>
                </a:lnTo>
                <a:lnTo>
                  <a:pt x="12441906" y="8880656"/>
                </a:lnTo>
                <a:lnTo>
                  <a:pt x="0" y="88806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28726" y="5562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4234126" y="248211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0" y="4410278"/>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7859576" y="69602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579013" y="834030"/>
            <a:ext cx="18114036" cy="942270"/>
          </a:xfrm>
          <a:prstGeom prst="rect">
            <a:avLst/>
          </a:prstGeom>
        </p:spPr>
        <p:txBody>
          <a:bodyPr anchor="t" rtlCol="false" tIns="0" lIns="0" bIns="0" rIns="0">
            <a:spAutoFit/>
          </a:bodyPr>
          <a:lstStyle/>
          <a:p>
            <a:pPr algn="ctr">
              <a:lnSpc>
                <a:spcPts val="7269"/>
              </a:lnSpc>
            </a:pPr>
            <a:r>
              <a:rPr lang="en-US" b="true" sz="6057">
                <a:solidFill>
                  <a:srgbClr val="073763"/>
                </a:solidFill>
                <a:latin typeface="Ubuntu Bold"/>
                <a:ea typeface="Ubuntu Bold"/>
                <a:cs typeface="Ubuntu Bold"/>
                <a:sym typeface="Ubuntu Bold"/>
              </a:rPr>
              <a:t>Problem Statement</a:t>
            </a:r>
          </a:p>
        </p:txBody>
      </p:sp>
      <p:sp>
        <p:nvSpPr>
          <p:cNvPr name="Freeform 12" id="12"/>
          <p:cNvSpPr/>
          <p:nvPr/>
        </p:nvSpPr>
        <p:spPr>
          <a:xfrm flipH="false" flipV="false" rot="0">
            <a:off x="16615641" y="9527442"/>
            <a:ext cx="854032" cy="966641"/>
          </a:xfrm>
          <a:custGeom>
            <a:avLst/>
            <a:gdLst/>
            <a:ahLst/>
            <a:cxnLst/>
            <a:rect r="r" b="b" t="t" l="l"/>
            <a:pathLst>
              <a:path h="966641" w="854032">
                <a:moveTo>
                  <a:pt x="0" y="0"/>
                </a:moveTo>
                <a:lnTo>
                  <a:pt x="854033" y="0"/>
                </a:lnTo>
                <a:lnTo>
                  <a:pt x="854033" y="966642"/>
                </a:lnTo>
                <a:lnTo>
                  <a:pt x="0" y="9666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5589869" y="9105147"/>
            <a:ext cx="941649" cy="911341"/>
          </a:xfrm>
          <a:custGeom>
            <a:avLst/>
            <a:gdLst/>
            <a:ahLst/>
            <a:cxnLst/>
            <a:rect r="r" b="b" t="t" l="l"/>
            <a:pathLst>
              <a:path h="911341" w="941649">
                <a:moveTo>
                  <a:pt x="0" y="0"/>
                </a:moveTo>
                <a:lnTo>
                  <a:pt x="941650" y="0"/>
                </a:lnTo>
                <a:lnTo>
                  <a:pt x="941650" y="911341"/>
                </a:lnTo>
                <a:lnTo>
                  <a:pt x="0" y="91134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16454803" y="6330534"/>
            <a:ext cx="719515" cy="703444"/>
          </a:xfrm>
          <a:custGeom>
            <a:avLst/>
            <a:gdLst/>
            <a:ahLst/>
            <a:cxnLst/>
            <a:rect r="r" b="b" t="t" l="l"/>
            <a:pathLst>
              <a:path h="703444" w="719515">
                <a:moveTo>
                  <a:pt x="0" y="0"/>
                </a:moveTo>
                <a:lnTo>
                  <a:pt x="719515" y="0"/>
                </a:lnTo>
                <a:lnTo>
                  <a:pt x="719515" y="703444"/>
                </a:lnTo>
                <a:lnTo>
                  <a:pt x="0" y="70344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5" id="15"/>
          <p:cNvSpPr/>
          <p:nvPr/>
        </p:nvSpPr>
        <p:spPr>
          <a:xfrm flipH="false" flipV="false" rot="0">
            <a:off x="17180958" y="8716549"/>
            <a:ext cx="914668" cy="939522"/>
          </a:xfrm>
          <a:custGeom>
            <a:avLst/>
            <a:gdLst/>
            <a:ahLst/>
            <a:cxnLst/>
            <a:rect r="r" b="b" t="t" l="l"/>
            <a:pathLst>
              <a:path h="939522" w="914668">
                <a:moveTo>
                  <a:pt x="0" y="0"/>
                </a:moveTo>
                <a:lnTo>
                  <a:pt x="914668" y="0"/>
                </a:lnTo>
                <a:lnTo>
                  <a:pt x="914668" y="939522"/>
                </a:lnTo>
                <a:lnTo>
                  <a:pt x="0" y="93952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6" id="16"/>
          <p:cNvSpPr/>
          <p:nvPr/>
        </p:nvSpPr>
        <p:spPr>
          <a:xfrm flipH="false" flipV="false" rot="0">
            <a:off x="16550744" y="7833535"/>
            <a:ext cx="722736" cy="707727"/>
          </a:xfrm>
          <a:custGeom>
            <a:avLst/>
            <a:gdLst/>
            <a:ahLst/>
            <a:cxnLst/>
            <a:rect r="r" b="b" t="t" l="l"/>
            <a:pathLst>
              <a:path h="707727" w="722736">
                <a:moveTo>
                  <a:pt x="0" y="0"/>
                </a:moveTo>
                <a:lnTo>
                  <a:pt x="722736" y="0"/>
                </a:lnTo>
                <a:lnTo>
                  <a:pt x="722736" y="707727"/>
                </a:lnTo>
                <a:lnTo>
                  <a:pt x="0" y="70772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7" id="17"/>
          <p:cNvGrpSpPr/>
          <p:nvPr/>
        </p:nvGrpSpPr>
        <p:grpSpPr>
          <a:xfrm rot="-1371185">
            <a:off x="16115676" y="1821968"/>
            <a:ext cx="1201948" cy="46246"/>
            <a:chOff x="0" y="0"/>
            <a:chExt cx="1602597" cy="61661"/>
          </a:xfrm>
        </p:grpSpPr>
        <p:sp>
          <p:nvSpPr>
            <p:cNvPr name="Freeform 18" id="18"/>
            <p:cNvSpPr/>
            <p:nvPr/>
          </p:nvSpPr>
          <p:spPr>
            <a:xfrm flipH="false" flipV="false" rot="0">
              <a:off x="0" y="0"/>
              <a:ext cx="1602613" cy="61722"/>
            </a:xfrm>
            <a:custGeom>
              <a:avLst/>
              <a:gdLst/>
              <a:ahLst/>
              <a:cxnLst/>
              <a:rect r="r" b="b" t="t" l="l"/>
              <a:pathLst>
                <a:path h="61722" w="1602613">
                  <a:moveTo>
                    <a:pt x="0" y="30861"/>
                  </a:moveTo>
                  <a:cubicBezTo>
                    <a:pt x="0" y="13843"/>
                    <a:pt x="13843" y="0"/>
                    <a:pt x="30861" y="0"/>
                  </a:cubicBezTo>
                  <a:lnTo>
                    <a:pt x="1571752" y="0"/>
                  </a:lnTo>
                  <a:cubicBezTo>
                    <a:pt x="1588770" y="0"/>
                    <a:pt x="1602613" y="13843"/>
                    <a:pt x="1602613" y="30861"/>
                  </a:cubicBezTo>
                  <a:cubicBezTo>
                    <a:pt x="1602613" y="47879"/>
                    <a:pt x="1588770" y="61722"/>
                    <a:pt x="1571752" y="61722"/>
                  </a:cubicBezTo>
                  <a:lnTo>
                    <a:pt x="30861" y="61722"/>
                  </a:lnTo>
                  <a:cubicBezTo>
                    <a:pt x="13843" y="61722"/>
                    <a:pt x="0" y="47879"/>
                    <a:pt x="0" y="30861"/>
                  </a:cubicBezTo>
                  <a:close/>
                </a:path>
              </a:pathLst>
            </a:custGeom>
            <a:gradFill rotWithShape="true">
              <a:gsLst>
                <a:gs pos="0">
                  <a:srgbClr val="191919">
                    <a:alpha val="25490"/>
                  </a:srgbClr>
                </a:gs>
                <a:gs pos="50000">
                  <a:srgbClr val="FFFFFF">
                    <a:alpha val="100000"/>
                  </a:srgbClr>
                </a:gs>
                <a:gs pos="100000">
                  <a:srgbClr val="191919">
                    <a:alpha val="31372"/>
                  </a:srgbClr>
                </a:gs>
              </a:gsLst>
              <a:lin ang="10746170"/>
            </a:gradFill>
          </p:spPr>
        </p:sp>
      </p:grpSp>
      <p:sp>
        <p:nvSpPr>
          <p:cNvPr name="Freeform 19" id="19"/>
          <p:cNvSpPr/>
          <p:nvPr/>
        </p:nvSpPr>
        <p:spPr>
          <a:xfrm flipH="false" flipV="false" rot="0">
            <a:off x="15925428" y="7056287"/>
            <a:ext cx="928490" cy="927857"/>
          </a:xfrm>
          <a:custGeom>
            <a:avLst/>
            <a:gdLst/>
            <a:ahLst/>
            <a:cxnLst/>
            <a:rect r="r" b="b" t="t" l="l"/>
            <a:pathLst>
              <a:path h="927857" w="928490">
                <a:moveTo>
                  <a:pt x="0" y="0"/>
                </a:moveTo>
                <a:lnTo>
                  <a:pt x="928489" y="0"/>
                </a:lnTo>
                <a:lnTo>
                  <a:pt x="928489" y="927856"/>
                </a:lnTo>
                <a:lnTo>
                  <a:pt x="0" y="92785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0" id="20"/>
          <p:cNvSpPr/>
          <p:nvPr/>
        </p:nvSpPr>
        <p:spPr>
          <a:xfrm flipH="false" flipV="false" rot="0">
            <a:off x="16280734" y="4980825"/>
            <a:ext cx="871862" cy="961717"/>
          </a:xfrm>
          <a:custGeom>
            <a:avLst/>
            <a:gdLst/>
            <a:ahLst/>
            <a:cxnLst/>
            <a:rect r="r" b="b" t="t" l="l"/>
            <a:pathLst>
              <a:path h="961717" w="871862">
                <a:moveTo>
                  <a:pt x="0" y="0"/>
                </a:moveTo>
                <a:lnTo>
                  <a:pt x="871862" y="0"/>
                </a:lnTo>
                <a:lnTo>
                  <a:pt x="871862" y="961717"/>
                </a:lnTo>
                <a:lnTo>
                  <a:pt x="0" y="961717"/>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1" id="21"/>
          <p:cNvSpPr/>
          <p:nvPr/>
        </p:nvSpPr>
        <p:spPr>
          <a:xfrm flipH="false" flipV="false" rot="0">
            <a:off x="16814427" y="4376371"/>
            <a:ext cx="720596" cy="714640"/>
          </a:xfrm>
          <a:custGeom>
            <a:avLst/>
            <a:gdLst/>
            <a:ahLst/>
            <a:cxnLst/>
            <a:rect r="r" b="b" t="t" l="l"/>
            <a:pathLst>
              <a:path h="714640" w="720596">
                <a:moveTo>
                  <a:pt x="0" y="0"/>
                </a:moveTo>
                <a:lnTo>
                  <a:pt x="720596" y="0"/>
                </a:lnTo>
                <a:lnTo>
                  <a:pt x="720596" y="714640"/>
                </a:lnTo>
                <a:lnTo>
                  <a:pt x="0" y="714640"/>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2" id="22"/>
          <p:cNvSpPr/>
          <p:nvPr/>
        </p:nvSpPr>
        <p:spPr>
          <a:xfrm flipH="false" flipV="false" rot="0">
            <a:off x="15892905" y="4212013"/>
            <a:ext cx="722736" cy="707727"/>
          </a:xfrm>
          <a:custGeom>
            <a:avLst/>
            <a:gdLst/>
            <a:ahLst/>
            <a:cxnLst/>
            <a:rect r="r" b="b" t="t" l="l"/>
            <a:pathLst>
              <a:path h="707727" w="722736">
                <a:moveTo>
                  <a:pt x="0" y="0"/>
                </a:moveTo>
                <a:lnTo>
                  <a:pt x="722736" y="0"/>
                </a:lnTo>
                <a:lnTo>
                  <a:pt x="722736" y="707727"/>
                </a:lnTo>
                <a:lnTo>
                  <a:pt x="0" y="70772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3" id="23"/>
          <p:cNvSpPr/>
          <p:nvPr/>
        </p:nvSpPr>
        <p:spPr>
          <a:xfrm flipH="false" flipV="false" rot="0">
            <a:off x="17202361" y="3490416"/>
            <a:ext cx="871862" cy="961717"/>
          </a:xfrm>
          <a:custGeom>
            <a:avLst/>
            <a:gdLst/>
            <a:ahLst/>
            <a:cxnLst/>
            <a:rect r="r" b="b" t="t" l="l"/>
            <a:pathLst>
              <a:path h="961717" w="871862">
                <a:moveTo>
                  <a:pt x="0" y="0"/>
                </a:moveTo>
                <a:lnTo>
                  <a:pt x="871862" y="0"/>
                </a:lnTo>
                <a:lnTo>
                  <a:pt x="871862" y="961717"/>
                </a:lnTo>
                <a:lnTo>
                  <a:pt x="0" y="961717"/>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4" id="24"/>
          <p:cNvSpPr/>
          <p:nvPr/>
        </p:nvSpPr>
        <p:spPr>
          <a:xfrm flipH="false" flipV="false" rot="0">
            <a:off x="16158553" y="8607934"/>
            <a:ext cx="719515" cy="703444"/>
          </a:xfrm>
          <a:custGeom>
            <a:avLst/>
            <a:gdLst/>
            <a:ahLst/>
            <a:cxnLst/>
            <a:rect r="r" b="b" t="t" l="l"/>
            <a:pathLst>
              <a:path h="703444" w="719515">
                <a:moveTo>
                  <a:pt x="0" y="0"/>
                </a:moveTo>
                <a:lnTo>
                  <a:pt x="719515" y="0"/>
                </a:lnTo>
                <a:lnTo>
                  <a:pt x="719515" y="703444"/>
                </a:lnTo>
                <a:lnTo>
                  <a:pt x="0" y="70344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5" id="25"/>
          <p:cNvSpPr/>
          <p:nvPr/>
        </p:nvSpPr>
        <p:spPr>
          <a:xfrm flipH="false" flipV="false" rot="-1775186">
            <a:off x="1325635" y="1239558"/>
            <a:ext cx="2311734" cy="2311734"/>
          </a:xfrm>
          <a:custGeom>
            <a:avLst/>
            <a:gdLst/>
            <a:ahLst/>
            <a:cxnLst/>
            <a:rect r="r" b="b" t="t" l="l"/>
            <a:pathLst>
              <a:path h="2311734" w="2311734">
                <a:moveTo>
                  <a:pt x="0" y="0"/>
                </a:moveTo>
                <a:lnTo>
                  <a:pt x="2311734" y="0"/>
                </a:lnTo>
                <a:lnTo>
                  <a:pt x="2311734" y="2311734"/>
                </a:lnTo>
                <a:lnTo>
                  <a:pt x="0" y="2311734"/>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26" id="26"/>
          <p:cNvSpPr/>
          <p:nvPr/>
        </p:nvSpPr>
        <p:spPr>
          <a:xfrm flipH="false" flipV="false" rot="1388226">
            <a:off x="14028441" y="658990"/>
            <a:ext cx="3134683" cy="3060235"/>
          </a:xfrm>
          <a:custGeom>
            <a:avLst/>
            <a:gdLst/>
            <a:ahLst/>
            <a:cxnLst/>
            <a:rect r="r" b="b" t="t" l="l"/>
            <a:pathLst>
              <a:path h="3060235" w="3134683">
                <a:moveTo>
                  <a:pt x="0" y="0"/>
                </a:moveTo>
                <a:lnTo>
                  <a:pt x="3134683" y="0"/>
                </a:lnTo>
                <a:lnTo>
                  <a:pt x="3134683" y="3060234"/>
                </a:lnTo>
                <a:lnTo>
                  <a:pt x="0" y="3060234"/>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TextBox 27" id="27"/>
          <p:cNvSpPr txBox="true"/>
          <p:nvPr/>
        </p:nvSpPr>
        <p:spPr>
          <a:xfrm rot="0">
            <a:off x="3672210" y="3137430"/>
            <a:ext cx="10293737" cy="4972049"/>
          </a:xfrm>
          <a:prstGeom prst="rect">
            <a:avLst/>
          </a:prstGeom>
        </p:spPr>
        <p:txBody>
          <a:bodyPr anchor="t" rtlCol="false" tIns="0" lIns="0" bIns="0" rIns="0">
            <a:spAutoFit/>
          </a:bodyPr>
          <a:lstStyle/>
          <a:p>
            <a:pPr algn="just">
              <a:lnSpc>
                <a:spcPts val="4947"/>
              </a:lnSpc>
            </a:pPr>
            <a:r>
              <a:rPr lang="en-US" sz="4123" b="true">
                <a:solidFill>
                  <a:srgbClr val="000000"/>
                </a:solidFill>
                <a:latin typeface="Ubuntu Bold"/>
                <a:ea typeface="Ubuntu Bold"/>
                <a:cs typeface="Ubuntu Bold"/>
                <a:sym typeface="Ubuntu Bold"/>
              </a:rPr>
              <a:t>Orang tua dengan anak usia 0–2 tahun </a:t>
            </a:r>
            <a:r>
              <a:rPr lang="en-US" sz="4123" b="true">
                <a:solidFill>
                  <a:srgbClr val="2F878A"/>
                </a:solidFill>
                <a:latin typeface="Ubuntu Bold"/>
                <a:ea typeface="Ubuntu Bold"/>
                <a:cs typeface="Ubuntu Bold"/>
                <a:sym typeface="Ubuntu Bold"/>
              </a:rPr>
              <a:t>membutuhkan</a:t>
            </a:r>
            <a:r>
              <a:rPr lang="en-US" sz="4123" b="true">
                <a:solidFill>
                  <a:srgbClr val="000000"/>
                </a:solidFill>
                <a:latin typeface="Ubuntu Bold"/>
                <a:ea typeface="Ubuntu Bold"/>
                <a:cs typeface="Ubuntu Bold"/>
                <a:sym typeface="Ubuntu Bold"/>
              </a:rPr>
              <a:t> cara untuk </a:t>
            </a:r>
            <a:r>
              <a:rPr lang="en-US" sz="4123" b="true">
                <a:solidFill>
                  <a:srgbClr val="FF5757"/>
                </a:solidFill>
                <a:latin typeface="Ubuntu Bold"/>
                <a:ea typeface="Ubuntu Bold"/>
                <a:cs typeface="Ubuntu Bold"/>
                <a:sym typeface="Ubuntu Bold"/>
              </a:rPr>
              <a:t>mengelola dan mengingat jadwal imunisasi </a:t>
            </a:r>
            <a:r>
              <a:rPr lang="en-US" sz="4123" b="true">
                <a:solidFill>
                  <a:srgbClr val="000000"/>
                </a:solidFill>
                <a:latin typeface="Ubuntu Bold"/>
                <a:ea typeface="Ubuntu Bold"/>
                <a:cs typeface="Ubuntu Bold"/>
                <a:sym typeface="Ubuntu Bold"/>
              </a:rPr>
              <a:t>secara konsisten </a:t>
            </a:r>
            <a:r>
              <a:rPr lang="en-US" sz="4123" b="true">
                <a:solidFill>
                  <a:srgbClr val="2F878A"/>
                </a:solidFill>
                <a:latin typeface="Ubuntu Bold"/>
                <a:ea typeface="Ubuntu Bold"/>
                <a:cs typeface="Ubuntu Bold"/>
                <a:sym typeface="Ubuntu Bold"/>
              </a:rPr>
              <a:t>karena</a:t>
            </a:r>
            <a:r>
              <a:rPr lang="en-US" sz="4123" b="true">
                <a:solidFill>
                  <a:srgbClr val="000000"/>
                </a:solidFill>
                <a:latin typeface="Ubuntu Bold"/>
                <a:ea typeface="Ubuntu Bold"/>
                <a:cs typeface="Ubuntu Bold"/>
                <a:sym typeface="Ubuntu Bold"/>
              </a:rPr>
              <a:t> proses pengelolaan masih manual dan bergantung pada ingatan sehingga </a:t>
            </a:r>
            <a:r>
              <a:rPr lang="en-US" sz="4123" b="true">
                <a:solidFill>
                  <a:srgbClr val="FF5757"/>
                </a:solidFill>
                <a:latin typeface="Ubuntu Bold"/>
                <a:ea typeface="Ubuntu Bold"/>
                <a:cs typeface="Ubuntu Bold"/>
                <a:sym typeface="Ubuntu Bold"/>
              </a:rPr>
              <a:t>berisiko jadwal imunisasi terlewat.</a:t>
            </a:r>
          </a:p>
          <a:p>
            <a:pPr algn="just">
              <a:lnSpc>
                <a:spcPts val="4947"/>
              </a:lnSpc>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2272098" y="-42200"/>
            <a:ext cx="5212196" cy="2224406"/>
          </a:xfrm>
          <a:custGeom>
            <a:avLst/>
            <a:gdLst/>
            <a:ahLst/>
            <a:cxnLst/>
            <a:rect r="r" b="b" t="t" l="l"/>
            <a:pathLst>
              <a:path h="2224406" w="5212196">
                <a:moveTo>
                  <a:pt x="0" y="0"/>
                </a:moveTo>
                <a:lnTo>
                  <a:pt x="5212196" y="0"/>
                </a:lnTo>
                <a:lnTo>
                  <a:pt x="5212196" y="2224406"/>
                </a:lnTo>
                <a:lnTo>
                  <a:pt x="0" y="22244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272098" y="-42200"/>
            <a:ext cx="3558030" cy="1814000"/>
            <a:chOff x="0" y="0"/>
            <a:chExt cx="4744040" cy="2418667"/>
          </a:xfrm>
        </p:grpSpPr>
        <p:sp>
          <p:nvSpPr>
            <p:cNvPr name="Freeform 4" id="4"/>
            <p:cNvSpPr/>
            <p:nvPr/>
          </p:nvSpPr>
          <p:spPr>
            <a:xfrm flipH="false" flipV="false" rot="0">
              <a:off x="0" y="0"/>
              <a:ext cx="4744085" cy="2418588"/>
            </a:xfrm>
            <a:custGeom>
              <a:avLst/>
              <a:gdLst/>
              <a:ahLst/>
              <a:cxnLst/>
              <a:rect r="r" b="b" t="t" l="l"/>
              <a:pathLst>
                <a:path h="2418588" w="4744085">
                  <a:moveTo>
                    <a:pt x="0" y="0"/>
                  </a:moveTo>
                  <a:lnTo>
                    <a:pt x="0" y="2038350"/>
                  </a:lnTo>
                  <a:cubicBezTo>
                    <a:pt x="295021" y="2289937"/>
                    <a:pt x="767080" y="2418588"/>
                    <a:pt x="1250950" y="2418588"/>
                  </a:cubicBezTo>
                  <a:cubicBezTo>
                    <a:pt x="1791716" y="2418588"/>
                    <a:pt x="2347214" y="2258187"/>
                    <a:pt x="2687574" y="1929384"/>
                  </a:cubicBezTo>
                  <a:cubicBezTo>
                    <a:pt x="3390138" y="1250950"/>
                    <a:pt x="3702685" y="327025"/>
                    <a:pt x="4744085" y="0"/>
                  </a:cubicBezTo>
                  <a:close/>
                </a:path>
              </a:pathLst>
            </a:custGeom>
            <a:gradFill rotWithShape="true">
              <a:gsLst>
                <a:gs pos="0">
                  <a:srgbClr val="61EEDD">
                    <a:alpha val="100000"/>
                  </a:srgbClr>
                </a:gs>
                <a:gs pos="100000">
                  <a:srgbClr val="79D3FE">
                    <a:alpha val="100000"/>
                  </a:srgbClr>
                </a:gs>
              </a:gsLst>
              <a:lin ang="5400016"/>
            </a:gradFill>
          </p:spPr>
        </p:sp>
      </p:grpSp>
      <p:sp>
        <p:nvSpPr>
          <p:cNvPr name="Freeform 5" id="5"/>
          <p:cNvSpPr/>
          <p:nvPr/>
        </p:nvSpPr>
        <p:spPr>
          <a:xfrm flipH="false" flipV="false" rot="0">
            <a:off x="2795538" y="1890206"/>
            <a:ext cx="12441906" cy="8880656"/>
          </a:xfrm>
          <a:custGeom>
            <a:avLst/>
            <a:gdLst/>
            <a:ahLst/>
            <a:cxnLst/>
            <a:rect r="r" b="b" t="t" l="l"/>
            <a:pathLst>
              <a:path h="8880656" w="12441906">
                <a:moveTo>
                  <a:pt x="0" y="0"/>
                </a:moveTo>
                <a:lnTo>
                  <a:pt x="12441906" y="0"/>
                </a:lnTo>
                <a:lnTo>
                  <a:pt x="12441906" y="8880656"/>
                </a:lnTo>
                <a:lnTo>
                  <a:pt x="0" y="88806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28726" y="5562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234126" y="248211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0" y="4410278"/>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79013" y="834030"/>
            <a:ext cx="18114036" cy="942270"/>
          </a:xfrm>
          <a:prstGeom prst="rect">
            <a:avLst/>
          </a:prstGeom>
        </p:spPr>
        <p:txBody>
          <a:bodyPr anchor="t" rtlCol="false" tIns="0" lIns="0" bIns="0" rIns="0">
            <a:spAutoFit/>
          </a:bodyPr>
          <a:lstStyle/>
          <a:p>
            <a:pPr algn="ctr">
              <a:lnSpc>
                <a:spcPts val="7269"/>
              </a:lnSpc>
            </a:pPr>
            <a:r>
              <a:rPr lang="en-US" b="true" sz="6057">
                <a:solidFill>
                  <a:srgbClr val="073763"/>
                </a:solidFill>
                <a:latin typeface="Ubuntu Bold"/>
                <a:ea typeface="Ubuntu Bold"/>
                <a:cs typeface="Ubuntu Bold"/>
                <a:sym typeface="Ubuntu Bold"/>
              </a:rPr>
              <a:t>BRAINSTORMING</a:t>
            </a:r>
          </a:p>
        </p:txBody>
      </p:sp>
      <p:grpSp>
        <p:nvGrpSpPr>
          <p:cNvPr name="Group 10" id="10"/>
          <p:cNvGrpSpPr/>
          <p:nvPr/>
        </p:nvGrpSpPr>
        <p:grpSpPr>
          <a:xfrm rot="-1371185">
            <a:off x="16115676" y="1821968"/>
            <a:ext cx="1201948" cy="46246"/>
            <a:chOff x="0" y="0"/>
            <a:chExt cx="1602597" cy="61661"/>
          </a:xfrm>
        </p:grpSpPr>
        <p:sp>
          <p:nvSpPr>
            <p:cNvPr name="Freeform 11" id="11"/>
            <p:cNvSpPr/>
            <p:nvPr/>
          </p:nvSpPr>
          <p:spPr>
            <a:xfrm flipH="false" flipV="false" rot="0">
              <a:off x="0" y="0"/>
              <a:ext cx="1602613" cy="61722"/>
            </a:xfrm>
            <a:custGeom>
              <a:avLst/>
              <a:gdLst/>
              <a:ahLst/>
              <a:cxnLst/>
              <a:rect r="r" b="b" t="t" l="l"/>
              <a:pathLst>
                <a:path h="61722" w="1602613">
                  <a:moveTo>
                    <a:pt x="0" y="30861"/>
                  </a:moveTo>
                  <a:cubicBezTo>
                    <a:pt x="0" y="13843"/>
                    <a:pt x="13843" y="0"/>
                    <a:pt x="30861" y="0"/>
                  </a:cubicBezTo>
                  <a:lnTo>
                    <a:pt x="1571752" y="0"/>
                  </a:lnTo>
                  <a:cubicBezTo>
                    <a:pt x="1588770" y="0"/>
                    <a:pt x="1602613" y="13843"/>
                    <a:pt x="1602613" y="30861"/>
                  </a:cubicBezTo>
                  <a:cubicBezTo>
                    <a:pt x="1602613" y="47879"/>
                    <a:pt x="1588770" y="61722"/>
                    <a:pt x="1571752" y="61722"/>
                  </a:cubicBezTo>
                  <a:lnTo>
                    <a:pt x="30861" y="61722"/>
                  </a:lnTo>
                  <a:cubicBezTo>
                    <a:pt x="13843" y="61722"/>
                    <a:pt x="0" y="47879"/>
                    <a:pt x="0" y="30861"/>
                  </a:cubicBezTo>
                  <a:close/>
                </a:path>
              </a:pathLst>
            </a:custGeom>
            <a:gradFill rotWithShape="true">
              <a:gsLst>
                <a:gs pos="0">
                  <a:srgbClr val="191919">
                    <a:alpha val="25490"/>
                  </a:srgbClr>
                </a:gs>
                <a:gs pos="50000">
                  <a:srgbClr val="FFFFFF">
                    <a:alpha val="100000"/>
                  </a:srgbClr>
                </a:gs>
                <a:gs pos="100000">
                  <a:srgbClr val="191919">
                    <a:alpha val="31372"/>
                  </a:srgbClr>
                </a:gs>
              </a:gsLst>
              <a:lin ang="10746170"/>
            </a:gradFill>
          </p:spPr>
        </p:sp>
      </p:grpSp>
      <p:sp>
        <p:nvSpPr>
          <p:cNvPr name="Freeform 12" id="12"/>
          <p:cNvSpPr/>
          <p:nvPr/>
        </p:nvSpPr>
        <p:spPr>
          <a:xfrm flipH="false" flipV="false" rot="1388226">
            <a:off x="15419944" y="505891"/>
            <a:ext cx="2593411" cy="2531818"/>
          </a:xfrm>
          <a:custGeom>
            <a:avLst/>
            <a:gdLst/>
            <a:ahLst/>
            <a:cxnLst/>
            <a:rect r="r" b="b" t="t" l="l"/>
            <a:pathLst>
              <a:path h="2531818" w="2593411">
                <a:moveTo>
                  <a:pt x="0" y="0"/>
                </a:moveTo>
                <a:lnTo>
                  <a:pt x="2593412" y="0"/>
                </a:lnTo>
                <a:lnTo>
                  <a:pt x="2593412" y="2531818"/>
                </a:lnTo>
                <a:lnTo>
                  <a:pt x="0" y="25318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546303" y="1890206"/>
            <a:ext cx="10687823" cy="7855550"/>
          </a:xfrm>
          <a:custGeom>
            <a:avLst/>
            <a:gdLst/>
            <a:ahLst/>
            <a:cxnLst/>
            <a:rect r="r" b="b" t="t" l="l"/>
            <a:pathLst>
              <a:path h="7855550" w="10687823">
                <a:moveTo>
                  <a:pt x="0" y="0"/>
                </a:moveTo>
                <a:lnTo>
                  <a:pt x="10687823" y="0"/>
                </a:lnTo>
                <a:lnTo>
                  <a:pt x="10687823" y="7855550"/>
                </a:lnTo>
                <a:lnTo>
                  <a:pt x="0" y="7855550"/>
                </a:lnTo>
                <a:lnTo>
                  <a:pt x="0" y="0"/>
                </a:lnTo>
                <a:close/>
              </a:path>
            </a:pathLst>
          </a:custGeom>
          <a:blipFill>
            <a:blip r:embed="rId12"/>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45450" y="850850"/>
            <a:ext cx="15247996" cy="10287048"/>
          </a:xfrm>
          <a:custGeom>
            <a:avLst/>
            <a:gdLst/>
            <a:ahLst/>
            <a:cxnLst/>
            <a:rect r="r" b="b" t="t" l="l"/>
            <a:pathLst>
              <a:path h="10287048" w="15247996">
                <a:moveTo>
                  <a:pt x="0" y="0"/>
                </a:moveTo>
                <a:lnTo>
                  <a:pt x="15247996" y="0"/>
                </a:lnTo>
                <a:lnTo>
                  <a:pt x="15247996" y="10287048"/>
                </a:lnTo>
                <a:lnTo>
                  <a:pt x="0" y="102870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09550" y="-384300"/>
            <a:ext cx="5169274" cy="3463802"/>
          </a:xfrm>
          <a:custGeom>
            <a:avLst/>
            <a:gdLst/>
            <a:ahLst/>
            <a:cxnLst/>
            <a:rect r="r" b="b" t="t" l="l"/>
            <a:pathLst>
              <a:path h="3463802" w="5169274">
                <a:moveTo>
                  <a:pt x="0" y="0"/>
                </a:moveTo>
                <a:lnTo>
                  <a:pt x="5169274" y="0"/>
                </a:lnTo>
                <a:lnTo>
                  <a:pt x="5169274" y="3463802"/>
                </a:lnTo>
                <a:lnTo>
                  <a:pt x="0" y="34638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327176" y="10583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8236026" y="28315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7243276" y="9309055"/>
            <a:ext cx="869332" cy="848872"/>
          </a:xfrm>
          <a:custGeom>
            <a:avLst/>
            <a:gdLst/>
            <a:ahLst/>
            <a:cxnLst/>
            <a:rect r="r" b="b" t="t" l="l"/>
            <a:pathLst>
              <a:path h="848872" w="869332">
                <a:moveTo>
                  <a:pt x="0" y="0"/>
                </a:moveTo>
                <a:lnTo>
                  <a:pt x="869332" y="0"/>
                </a:lnTo>
                <a:lnTo>
                  <a:pt x="869332" y="848871"/>
                </a:lnTo>
                <a:lnTo>
                  <a:pt x="0" y="84887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6660457" y="8744030"/>
            <a:ext cx="613304" cy="934024"/>
          </a:xfrm>
          <a:custGeom>
            <a:avLst/>
            <a:gdLst/>
            <a:ahLst/>
            <a:cxnLst/>
            <a:rect r="r" b="b" t="t" l="l"/>
            <a:pathLst>
              <a:path h="934024" w="613304">
                <a:moveTo>
                  <a:pt x="0" y="0"/>
                </a:moveTo>
                <a:lnTo>
                  <a:pt x="613303" y="0"/>
                </a:lnTo>
                <a:lnTo>
                  <a:pt x="613303" y="934025"/>
                </a:lnTo>
                <a:lnTo>
                  <a:pt x="0" y="9340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4992393" y="8929403"/>
            <a:ext cx="941712" cy="911514"/>
          </a:xfrm>
          <a:custGeom>
            <a:avLst/>
            <a:gdLst/>
            <a:ahLst/>
            <a:cxnLst/>
            <a:rect r="r" b="b" t="t" l="l"/>
            <a:pathLst>
              <a:path h="911514" w="941712">
                <a:moveTo>
                  <a:pt x="0" y="0"/>
                </a:moveTo>
                <a:lnTo>
                  <a:pt x="941712" y="0"/>
                </a:lnTo>
                <a:lnTo>
                  <a:pt x="941712" y="911513"/>
                </a:lnTo>
                <a:lnTo>
                  <a:pt x="0" y="91151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7778850" y="8261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3788800" y="7138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5543900" y="8261576"/>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571454" y="3301323"/>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4" id="14"/>
          <p:cNvSpPr/>
          <p:nvPr/>
        </p:nvSpPr>
        <p:spPr>
          <a:xfrm flipH="false" flipV="false" rot="0">
            <a:off x="1814688" y="3205434"/>
            <a:ext cx="871562" cy="854959"/>
          </a:xfrm>
          <a:custGeom>
            <a:avLst/>
            <a:gdLst/>
            <a:ahLst/>
            <a:cxnLst/>
            <a:rect r="r" b="b" t="t" l="l"/>
            <a:pathLst>
              <a:path h="854959" w="871562">
                <a:moveTo>
                  <a:pt x="0" y="0"/>
                </a:moveTo>
                <a:lnTo>
                  <a:pt x="871562" y="0"/>
                </a:lnTo>
                <a:lnTo>
                  <a:pt x="871562" y="854958"/>
                </a:lnTo>
                <a:lnTo>
                  <a:pt x="0" y="85495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5" id="15"/>
          <p:cNvSpPr/>
          <p:nvPr/>
        </p:nvSpPr>
        <p:spPr>
          <a:xfrm flipH="false" flipV="false" rot="0">
            <a:off x="1430978" y="4010899"/>
            <a:ext cx="903722" cy="536677"/>
          </a:xfrm>
          <a:custGeom>
            <a:avLst/>
            <a:gdLst/>
            <a:ahLst/>
            <a:cxnLst/>
            <a:rect r="r" b="b" t="t" l="l"/>
            <a:pathLst>
              <a:path h="536677" w="903722">
                <a:moveTo>
                  <a:pt x="0" y="0"/>
                </a:moveTo>
                <a:lnTo>
                  <a:pt x="903722" y="0"/>
                </a:lnTo>
                <a:lnTo>
                  <a:pt x="903722" y="536677"/>
                </a:lnTo>
                <a:lnTo>
                  <a:pt x="0" y="53667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6" id="16"/>
          <p:cNvSpPr/>
          <p:nvPr/>
        </p:nvSpPr>
        <p:spPr>
          <a:xfrm flipH="false" flipV="false" rot="0">
            <a:off x="2229050" y="6467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383426" y="45475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3"/>
                </a:ext>
              </a:extLst>
            </a:blip>
            <a:stretch>
              <a:fillRect l="0" t="0" r="0" b="0"/>
            </a:stretch>
          </a:blipFill>
        </p:spPr>
      </p:sp>
      <p:sp>
        <p:nvSpPr>
          <p:cNvPr name="Freeform 18" id="18"/>
          <p:cNvSpPr/>
          <p:nvPr/>
        </p:nvSpPr>
        <p:spPr>
          <a:xfrm flipH="false" flipV="false" rot="0">
            <a:off x="17345576" y="76928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3"/>
                </a:ext>
              </a:extLst>
            </a:blip>
            <a:stretch>
              <a:fillRect l="0" t="0" r="0" b="0"/>
            </a:stretch>
          </a:blipFill>
        </p:spPr>
      </p:sp>
      <p:sp>
        <p:nvSpPr>
          <p:cNvPr name="Freeform 19" id="19"/>
          <p:cNvSpPr/>
          <p:nvPr/>
        </p:nvSpPr>
        <p:spPr>
          <a:xfrm flipH="false" flipV="false" rot="0">
            <a:off x="1145426" y="88513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3"/>
                </a:ext>
              </a:extLst>
            </a:blip>
            <a:stretch>
              <a:fillRect l="0" t="0" r="0" b="0"/>
            </a:stretch>
          </a:blipFill>
        </p:spPr>
      </p:sp>
      <p:sp>
        <p:nvSpPr>
          <p:cNvPr name="Freeform 20" id="20"/>
          <p:cNvSpPr/>
          <p:nvPr/>
        </p:nvSpPr>
        <p:spPr>
          <a:xfrm flipH="false" flipV="false" rot="0">
            <a:off x="16841121" y="2544076"/>
            <a:ext cx="2123496" cy="2113649"/>
          </a:xfrm>
          <a:custGeom>
            <a:avLst/>
            <a:gdLst/>
            <a:ahLst/>
            <a:cxnLst/>
            <a:rect r="r" b="b" t="t" l="l"/>
            <a:pathLst>
              <a:path h="2113649" w="2123496">
                <a:moveTo>
                  <a:pt x="0" y="0"/>
                </a:moveTo>
                <a:lnTo>
                  <a:pt x="2123496" y="0"/>
                </a:lnTo>
                <a:lnTo>
                  <a:pt x="2123496" y="2113649"/>
                </a:lnTo>
                <a:lnTo>
                  <a:pt x="0" y="211364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1" id="21"/>
          <p:cNvSpPr/>
          <p:nvPr/>
        </p:nvSpPr>
        <p:spPr>
          <a:xfrm flipH="false" flipV="false" rot="0">
            <a:off x="16545826" y="3952401"/>
            <a:ext cx="2344812" cy="2382199"/>
          </a:xfrm>
          <a:custGeom>
            <a:avLst/>
            <a:gdLst/>
            <a:ahLst/>
            <a:cxnLst/>
            <a:rect r="r" b="b" t="t" l="l"/>
            <a:pathLst>
              <a:path h="2382199" w="2344812">
                <a:moveTo>
                  <a:pt x="0" y="0"/>
                </a:moveTo>
                <a:lnTo>
                  <a:pt x="2344812" y="0"/>
                </a:lnTo>
                <a:lnTo>
                  <a:pt x="2344812" y="2382198"/>
                </a:lnTo>
                <a:lnTo>
                  <a:pt x="0" y="238219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2" id="22"/>
          <p:cNvSpPr/>
          <p:nvPr/>
        </p:nvSpPr>
        <p:spPr>
          <a:xfrm flipH="false" flipV="false" rot="0">
            <a:off x="5946476" y="13986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0">
            <a:off x="13788800" y="9533276"/>
            <a:ext cx="859524" cy="851805"/>
          </a:xfrm>
          <a:custGeom>
            <a:avLst/>
            <a:gdLst/>
            <a:ahLst/>
            <a:cxnLst/>
            <a:rect r="r" b="b" t="t" l="l"/>
            <a:pathLst>
              <a:path h="851805" w="859524">
                <a:moveTo>
                  <a:pt x="0" y="0"/>
                </a:moveTo>
                <a:lnTo>
                  <a:pt x="859524" y="0"/>
                </a:lnTo>
                <a:lnTo>
                  <a:pt x="859524" y="851805"/>
                </a:lnTo>
                <a:lnTo>
                  <a:pt x="0" y="85180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16088626" y="5559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3"/>
                </a:ext>
              </a:extLst>
            </a:blip>
            <a:stretch>
              <a:fillRect l="0" t="0" r="0" b="0"/>
            </a:stretch>
          </a:blipFill>
        </p:spPr>
      </p:sp>
      <p:sp>
        <p:nvSpPr>
          <p:cNvPr name="Freeform 25" id="25"/>
          <p:cNvSpPr/>
          <p:nvPr/>
        </p:nvSpPr>
        <p:spPr>
          <a:xfrm flipH="false" flipV="false" rot="0">
            <a:off x="13490576" y="5460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9">
              <a:extLst>
                <a:ext uri="{96DAC541-7B7A-43D3-8B79-37D633B846F1}">
                  <asvg:svgBlip xmlns:asvg="http://schemas.microsoft.com/office/drawing/2016/SVG/main" r:embed="rId23"/>
                </a:ext>
              </a:extLst>
            </a:blip>
            <a:stretch>
              <a:fillRect l="0" t="0" r="0" b="0"/>
            </a:stretch>
          </a:blipFill>
        </p:spPr>
      </p:sp>
      <p:sp>
        <p:nvSpPr>
          <p:cNvPr name="Freeform 26" id="26"/>
          <p:cNvSpPr/>
          <p:nvPr/>
        </p:nvSpPr>
        <p:spPr>
          <a:xfrm flipH="false" flipV="false" rot="0">
            <a:off x="15934105" y="442376"/>
            <a:ext cx="2163320" cy="2728975"/>
          </a:xfrm>
          <a:custGeom>
            <a:avLst/>
            <a:gdLst/>
            <a:ahLst/>
            <a:cxnLst/>
            <a:rect r="r" b="b" t="t" l="l"/>
            <a:pathLst>
              <a:path h="2728975" w="2163320">
                <a:moveTo>
                  <a:pt x="0" y="0"/>
                </a:moveTo>
                <a:lnTo>
                  <a:pt x="2163320" y="0"/>
                </a:lnTo>
                <a:lnTo>
                  <a:pt x="2163320" y="2728975"/>
                </a:lnTo>
                <a:lnTo>
                  <a:pt x="0" y="2728975"/>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27" id="27"/>
          <p:cNvSpPr/>
          <p:nvPr/>
        </p:nvSpPr>
        <p:spPr>
          <a:xfrm flipH="false" flipV="false" rot="0">
            <a:off x="3420099" y="1919024"/>
            <a:ext cx="11572294" cy="6932302"/>
          </a:xfrm>
          <a:custGeom>
            <a:avLst/>
            <a:gdLst/>
            <a:ahLst/>
            <a:cxnLst/>
            <a:rect r="r" b="b" t="t" l="l"/>
            <a:pathLst>
              <a:path h="6932302" w="11572294">
                <a:moveTo>
                  <a:pt x="0" y="0"/>
                </a:moveTo>
                <a:lnTo>
                  <a:pt x="11572294" y="0"/>
                </a:lnTo>
                <a:lnTo>
                  <a:pt x="11572294" y="6932302"/>
                </a:lnTo>
                <a:lnTo>
                  <a:pt x="0" y="6932302"/>
                </a:lnTo>
                <a:lnTo>
                  <a:pt x="0" y="0"/>
                </a:lnTo>
                <a:close/>
              </a:path>
            </a:pathLst>
          </a:custGeom>
          <a:blipFill>
            <a:blip r:embed="rId30"/>
            <a:stretch>
              <a:fillRect l="0" t="0" r="0" b="0"/>
            </a:stretch>
          </a:blipFill>
        </p:spPr>
      </p:sp>
      <p:sp>
        <p:nvSpPr>
          <p:cNvPr name="TextBox 28" id="28"/>
          <p:cNvSpPr txBox="true"/>
          <p:nvPr/>
        </p:nvSpPr>
        <p:spPr>
          <a:xfrm rot="0">
            <a:off x="6403676" y="514305"/>
            <a:ext cx="5322341" cy="1341545"/>
          </a:xfrm>
          <a:prstGeom prst="rect">
            <a:avLst/>
          </a:prstGeom>
        </p:spPr>
        <p:txBody>
          <a:bodyPr anchor="t" rtlCol="false" tIns="0" lIns="0" bIns="0" rIns="0">
            <a:spAutoFit/>
          </a:bodyPr>
          <a:lstStyle/>
          <a:p>
            <a:pPr algn="ctr">
              <a:lnSpc>
                <a:spcPts val="10020"/>
              </a:lnSpc>
            </a:pPr>
            <a:r>
              <a:rPr lang="en-US" b="true" sz="9277">
                <a:solidFill>
                  <a:srgbClr val="097791"/>
                </a:solidFill>
                <a:latin typeface="Ubuntu Bold"/>
                <a:ea typeface="Ubuntu Bold"/>
                <a:cs typeface="Ubuntu Bold"/>
                <a:sym typeface="Ubuntu Bold"/>
              </a:rPr>
              <a:t>SITEMAP</a:t>
            </a:r>
          </a:p>
        </p:txBody>
      </p:sp>
      <p:sp>
        <p:nvSpPr>
          <p:cNvPr name="TextBox 29" id="29"/>
          <p:cNvSpPr txBox="true"/>
          <p:nvPr/>
        </p:nvSpPr>
        <p:spPr>
          <a:xfrm rot="0">
            <a:off x="9139238" y="4638675"/>
            <a:ext cx="9525" cy="990600"/>
          </a:xfrm>
          <a:prstGeom prst="rect">
            <a:avLst/>
          </a:prstGeom>
        </p:spPr>
        <p:txBody>
          <a:bodyPr anchor="t" rtlCol="false" tIns="0" lIns="0" bIns="0" rIns="0">
            <a:spAutoFit/>
          </a:bodyPr>
          <a:lstStyle/>
          <a:p>
            <a:pPr algn="ctr">
              <a:lnSpc>
                <a:spcPts val="7679"/>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3200176" y="66040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2214826" y="316188"/>
            <a:ext cx="1445646" cy="1445646"/>
          </a:xfrm>
          <a:custGeom>
            <a:avLst/>
            <a:gdLst/>
            <a:ahLst/>
            <a:cxnLst/>
            <a:rect r="r" b="b" t="t" l="l"/>
            <a:pathLst>
              <a:path h="1445646" w="1445646">
                <a:moveTo>
                  <a:pt x="0" y="0"/>
                </a:moveTo>
                <a:lnTo>
                  <a:pt x="1445646" y="0"/>
                </a:lnTo>
                <a:lnTo>
                  <a:pt x="1445646" y="1445646"/>
                </a:lnTo>
                <a:lnTo>
                  <a:pt x="0" y="144564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512430" y="5708659"/>
            <a:ext cx="17031146" cy="2107604"/>
          </a:xfrm>
          <a:custGeom>
            <a:avLst/>
            <a:gdLst/>
            <a:ahLst/>
            <a:cxnLst/>
            <a:rect r="r" b="b" t="t" l="l"/>
            <a:pathLst>
              <a:path h="2107604" w="17031146">
                <a:moveTo>
                  <a:pt x="0" y="0"/>
                </a:moveTo>
                <a:lnTo>
                  <a:pt x="17031146" y="0"/>
                </a:lnTo>
                <a:lnTo>
                  <a:pt x="17031146" y="2107605"/>
                </a:lnTo>
                <a:lnTo>
                  <a:pt x="0" y="2107605"/>
                </a:lnTo>
                <a:lnTo>
                  <a:pt x="0" y="0"/>
                </a:lnTo>
                <a:close/>
              </a:path>
            </a:pathLst>
          </a:custGeom>
          <a:blipFill>
            <a:blip r:embed="rId16"/>
            <a:stretch>
              <a:fillRect l="0" t="0" r="0" b="0"/>
            </a:stretch>
          </a:blipFill>
        </p:spPr>
      </p:sp>
      <p:sp>
        <p:nvSpPr>
          <p:cNvPr name="TextBox 15" id="15"/>
          <p:cNvSpPr txBox="true"/>
          <p:nvPr/>
        </p:nvSpPr>
        <p:spPr>
          <a:xfrm rot="0">
            <a:off x="3976177" y="2295234"/>
            <a:ext cx="9684295" cy="1943064"/>
          </a:xfrm>
          <a:prstGeom prst="rect">
            <a:avLst/>
          </a:prstGeom>
        </p:spPr>
        <p:txBody>
          <a:bodyPr anchor="t" rtlCol="false" tIns="0" lIns="0" bIns="0" rIns="0">
            <a:spAutoFit/>
          </a:bodyPr>
          <a:lstStyle/>
          <a:p>
            <a:pPr algn="ctr">
              <a:lnSpc>
                <a:spcPts val="7680"/>
              </a:lnSpc>
            </a:pPr>
            <a:r>
              <a:rPr lang="en-US" b="true" sz="6400">
                <a:solidFill>
                  <a:srgbClr val="073763"/>
                </a:solidFill>
                <a:latin typeface="League Spartan"/>
                <a:ea typeface="League Spartan"/>
                <a:cs typeface="League Spartan"/>
                <a:sym typeface="League Spartan"/>
              </a:rPr>
              <a:t>Melihat Jadwal Imunisasi Anak</a:t>
            </a:r>
          </a:p>
        </p:txBody>
      </p:sp>
      <p:sp>
        <p:nvSpPr>
          <p:cNvPr name="TextBox 16" id="16"/>
          <p:cNvSpPr txBox="true"/>
          <p:nvPr/>
        </p:nvSpPr>
        <p:spPr>
          <a:xfrm rot="0">
            <a:off x="400054" y="743551"/>
            <a:ext cx="7027410" cy="809589"/>
          </a:xfrm>
          <a:prstGeom prst="rect">
            <a:avLst/>
          </a:prstGeom>
        </p:spPr>
        <p:txBody>
          <a:bodyPr anchor="t" rtlCol="false" tIns="0" lIns="0" bIns="0" rIns="0">
            <a:spAutoFit/>
          </a:bodyPr>
          <a:lstStyle/>
          <a:p>
            <a:pPr algn="ctr">
              <a:lnSpc>
                <a:spcPts val="6347"/>
              </a:lnSpc>
            </a:pPr>
            <a:r>
              <a:rPr lang="en-US" sz="5289">
                <a:solidFill>
                  <a:srgbClr val="37A4DB"/>
                </a:solidFill>
                <a:latin typeface="More Sugar"/>
                <a:ea typeface="More Sugar"/>
                <a:cs typeface="More Sugar"/>
                <a:sym typeface="More Sugar"/>
              </a:rPr>
              <a:t>TASK FLOW 1</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3955906" y="1457346"/>
            <a:ext cx="2670278" cy="2076141"/>
          </a:xfrm>
          <a:custGeom>
            <a:avLst/>
            <a:gdLst/>
            <a:ahLst/>
            <a:cxnLst/>
            <a:rect r="r" b="b" t="t" l="l"/>
            <a:pathLst>
              <a:path h="2076141" w="2670278">
                <a:moveTo>
                  <a:pt x="0" y="0"/>
                </a:moveTo>
                <a:lnTo>
                  <a:pt x="2670278" y="0"/>
                </a:lnTo>
                <a:lnTo>
                  <a:pt x="2670278" y="2076141"/>
                </a:lnTo>
                <a:lnTo>
                  <a:pt x="0" y="2076141"/>
                </a:lnTo>
                <a:lnTo>
                  <a:pt x="0" y="0"/>
                </a:lnTo>
                <a:close/>
              </a:path>
            </a:pathLst>
          </a:custGeom>
          <a:blipFill>
            <a:blip r:embed="rId12"/>
            <a:stretch>
              <a:fillRect l="0" t="0" r="0" b="0"/>
            </a:stretch>
          </a:blipFill>
        </p:spPr>
      </p:sp>
      <p:sp>
        <p:nvSpPr>
          <p:cNvPr name="Freeform 13" id="13"/>
          <p:cNvSpPr/>
          <p:nvPr/>
        </p:nvSpPr>
        <p:spPr>
          <a:xfrm flipH="false" flipV="false" rot="0">
            <a:off x="2438192" y="1533335"/>
            <a:ext cx="1863661" cy="1831047"/>
          </a:xfrm>
          <a:custGeom>
            <a:avLst/>
            <a:gdLst/>
            <a:ahLst/>
            <a:cxnLst/>
            <a:rect r="r" b="b" t="t" l="l"/>
            <a:pathLst>
              <a:path h="1831047" w="1863661">
                <a:moveTo>
                  <a:pt x="0" y="0"/>
                </a:moveTo>
                <a:lnTo>
                  <a:pt x="1863660" y="0"/>
                </a:lnTo>
                <a:lnTo>
                  <a:pt x="1863660" y="1831047"/>
                </a:lnTo>
                <a:lnTo>
                  <a:pt x="0" y="1831047"/>
                </a:lnTo>
                <a:lnTo>
                  <a:pt x="0" y="0"/>
                </a:lnTo>
                <a:close/>
              </a:path>
            </a:pathLst>
          </a:custGeom>
          <a:blipFill>
            <a:blip r:embed="rId13"/>
            <a:stretch>
              <a:fillRect l="0" t="0" r="0" b="0"/>
            </a:stretch>
          </a:blipFill>
        </p:spPr>
      </p:sp>
      <p:sp>
        <p:nvSpPr>
          <p:cNvPr name="Freeform 14" id="14"/>
          <p:cNvSpPr/>
          <p:nvPr/>
        </p:nvSpPr>
        <p:spPr>
          <a:xfrm flipH="false" flipV="false" rot="0">
            <a:off x="1174623" y="3904941"/>
            <a:ext cx="16140353" cy="5669299"/>
          </a:xfrm>
          <a:custGeom>
            <a:avLst/>
            <a:gdLst/>
            <a:ahLst/>
            <a:cxnLst/>
            <a:rect r="r" b="b" t="t" l="l"/>
            <a:pathLst>
              <a:path h="5669299" w="16140353">
                <a:moveTo>
                  <a:pt x="0" y="0"/>
                </a:moveTo>
                <a:lnTo>
                  <a:pt x="16140353" y="0"/>
                </a:lnTo>
                <a:lnTo>
                  <a:pt x="16140353" y="5669299"/>
                </a:lnTo>
                <a:lnTo>
                  <a:pt x="0" y="5669299"/>
                </a:lnTo>
                <a:lnTo>
                  <a:pt x="0" y="0"/>
                </a:lnTo>
                <a:close/>
              </a:path>
            </a:pathLst>
          </a:custGeom>
          <a:blipFill>
            <a:blip r:embed="rId14"/>
            <a:stretch>
              <a:fillRect l="0" t="0" r="0" b="0"/>
            </a:stretch>
          </a:blipFill>
        </p:spPr>
      </p:sp>
      <p:sp>
        <p:nvSpPr>
          <p:cNvPr name="TextBox 15" id="15"/>
          <p:cNvSpPr txBox="true"/>
          <p:nvPr/>
        </p:nvSpPr>
        <p:spPr>
          <a:xfrm rot="0">
            <a:off x="4301852" y="1552302"/>
            <a:ext cx="9684295" cy="1943064"/>
          </a:xfrm>
          <a:prstGeom prst="rect">
            <a:avLst/>
          </a:prstGeom>
        </p:spPr>
        <p:txBody>
          <a:bodyPr anchor="t" rtlCol="false" tIns="0" lIns="0" bIns="0" rIns="0">
            <a:spAutoFit/>
          </a:bodyPr>
          <a:lstStyle/>
          <a:p>
            <a:pPr algn="ctr">
              <a:lnSpc>
                <a:spcPts val="7680"/>
              </a:lnSpc>
            </a:pPr>
            <a:r>
              <a:rPr lang="en-US" b="true" sz="6400">
                <a:solidFill>
                  <a:srgbClr val="073763"/>
                </a:solidFill>
                <a:latin typeface="League Spartan"/>
                <a:ea typeface="League Spartan"/>
                <a:cs typeface="League Spartan"/>
                <a:sym typeface="League Spartan"/>
              </a:rPr>
              <a:t>Mengatur Pengingat Imunisasi</a:t>
            </a:r>
          </a:p>
        </p:txBody>
      </p:sp>
      <p:sp>
        <p:nvSpPr>
          <p:cNvPr name="TextBox 16" id="16"/>
          <p:cNvSpPr txBox="true"/>
          <p:nvPr/>
        </p:nvSpPr>
        <p:spPr>
          <a:xfrm rot="0">
            <a:off x="400054" y="621741"/>
            <a:ext cx="6156711" cy="712645"/>
          </a:xfrm>
          <a:prstGeom prst="rect">
            <a:avLst/>
          </a:prstGeom>
        </p:spPr>
        <p:txBody>
          <a:bodyPr anchor="t" rtlCol="false" tIns="0" lIns="0" bIns="0" rIns="0">
            <a:spAutoFit/>
          </a:bodyPr>
          <a:lstStyle/>
          <a:p>
            <a:pPr algn="ctr">
              <a:lnSpc>
                <a:spcPts val="5561"/>
              </a:lnSpc>
            </a:pPr>
            <a:r>
              <a:rPr lang="en-US" sz="4634">
                <a:solidFill>
                  <a:srgbClr val="37A4DB"/>
                </a:solidFill>
                <a:latin typeface="More Sugar"/>
                <a:ea typeface="More Sugar"/>
                <a:cs typeface="More Sugar"/>
                <a:sym typeface="More Sugar"/>
              </a:rPr>
              <a:t>TASK FLOW 2</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639804">
            <a:off x="13946065" y="737958"/>
            <a:ext cx="2109732" cy="2890044"/>
          </a:xfrm>
          <a:custGeom>
            <a:avLst/>
            <a:gdLst/>
            <a:ahLst/>
            <a:cxnLst/>
            <a:rect r="r" b="b" t="t" l="l"/>
            <a:pathLst>
              <a:path h="2890044" w="2109732">
                <a:moveTo>
                  <a:pt x="0" y="0"/>
                </a:moveTo>
                <a:lnTo>
                  <a:pt x="2109732" y="0"/>
                </a:lnTo>
                <a:lnTo>
                  <a:pt x="2109732" y="2890044"/>
                </a:lnTo>
                <a:lnTo>
                  <a:pt x="0" y="2890044"/>
                </a:lnTo>
                <a:lnTo>
                  <a:pt x="0" y="0"/>
                </a:lnTo>
                <a:close/>
              </a:path>
            </a:pathLst>
          </a:custGeom>
          <a:blipFill>
            <a:blip r:embed="rId12"/>
            <a:stretch>
              <a:fillRect l="0" t="0" r="0" b="0"/>
            </a:stretch>
          </a:blipFill>
        </p:spPr>
      </p:sp>
      <p:sp>
        <p:nvSpPr>
          <p:cNvPr name="Freeform 13" id="13"/>
          <p:cNvSpPr/>
          <p:nvPr/>
        </p:nvSpPr>
        <p:spPr>
          <a:xfrm flipH="false" flipV="false" rot="0">
            <a:off x="1095113" y="3969861"/>
            <a:ext cx="16448463" cy="5448553"/>
          </a:xfrm>
          <a:custGeom>
            <a:avLst/>
            <a:gdLst/>
            <a:ahLst/>
            <a:cxnLst/>
            <a:rect r="r" b="b" t="t" l="l"/>
            <a:pathLst>
              <a:path h="5448553" w="16448463">
                <a:moveTo>
                  <a:pt x="0" y="0"/>
                </a:moveTo>
                <a:lnTo>
                  <a:pt x="16448463" y="0"/>
                </a:lnTo>
                <a:lnTo>
                  <a:pt x="16448463" y="5448553"/>
                </a:lnTo>
                <a:lnTo>
                  <a:pt x="0" y="5448553"/>
                </a:lnTo>
                <a:lnTo>
                  <a:pt x="0" y="0"/>
                </a:lnTo>
                <a:close/>
              </a:path>
            </a:pathLst>
          </a:custGeom>
          <a:blipFill>
            <a:blip r:embed="rId13"/>
            <a:stretch>
              <a:fillRect l="0" t="0" r="0" b="0"/>
            </a:stretch>
          </a:blipFill>
        </p:spPr>
      </p:sp>
      <p:sp>
        <p:nvSpPr>
          <p:cNvPr name="TextBox 14" id="14"/>
          <p:cNvSpPr txBox="true"/>
          <p:nvPr/>
        </p:nvSpPr>
        <p:spPr>
          <a:xfrm rot="0">
            <a:off x="4301852" y="1211448"/>
            <a:ext cx="9684295" cy="1943064"/>
          </a:xfrm>
          <a:prstGeom prst="rect">
            <a:avLst/>
          </a:prstGeom>
        </p:spPr>
        <p:txBody>
          <a:bodyPr anchor="t" rtlCol="false" tIns="0" lIns="0" bIns="0" rIns="0">
            <a:spAutoFit/>
          </a:bodyPr>
          <a:lstStyle/>
          <a:p>
            <a:pPr algn="ctr">
              <a:lnSpc>
                <a:spcPts val="7680"/>
              </a:lnSpc>
            </a:pPr>
            <a:r>
              <a:rPr lang="en-US" b="true" sz="6400">
                <a:solidFill>
                  <a:srgbClr val="073763"/>
                </a:solidFill>
                <a:latin typeface="League Spartan"/>
                <a:ea typeface="League Spartan"/>
                <a:cs typeface="League Spartan"/>
                <a:sym typeface="League Spartan"/>
              </a:rPr>
              <a:t>Menambahkan Riwayat Imunisasi</a:t>
            </a:r>
          </a:p>
        </p:txBody>
      </p:sp>
      <p:sp>
        <p:nvSpPr>
          <p:cNvPr name="TextBox 15" id="15"/>
          <p:cNvSpPr txBox="true"/>
          <p:nvPr/>
        </p:nvSpPr>
        <p:spPr>
          <a:xfrm rot="0">
            <a:off x="400054" y="735049"/>
            <a:ext cx="5609000" cy="650094"/>
          </a:xfrm>
          <a:prstGeom prst="rect">
            <a:avLst/>
          </a:prstGeom>
        </p:spPr>
        <p:txBody>
          <a:bodyPr anchor="t" rtlCol="false" tIns="0" lIns="0" bIns="0" rIns="0">
            <a:spAutoFit/>
          </a:bodyPr>
          <a:lstStyle/>
          <a:p>
            <a:pPr algn="ctr">
              <a:lnSpc>
                <a:spcPts val="5066"/>
              </a:lnSpc>
            </a:pPr>
            <a:r>
              <a:rPr lang="en-US" sz="4222">
                <a:solidFill>
                  <a:srgbClr val="37A4DB"/>
                </a:solidFill>
                <a:latin typeface="More Sugar"/>
                <a:ea typeface="More Sugar"/>
                <a:cs typeface="More Sugar"/>
                <a:sym typeface="More Sugar"/>
              </a:rPr>
              <a:t>TASK FLOW 3</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639804">
            <a:off x="13946065" y="737958"/>
            <a:ext cx="2109732" cy="2890044"/>
          </a:xfrm>
          <a:custGeom>
            <a:avLst/>
            <a:gdLst/>
            <a:ahLst/>
            <a:cxnLst/>
            <a:rect r="r" b="b" t="t" l="l"/>
            <a:pathLst>
              <a:path h="2890044" w="2109732">
                <a:moveTo>
                  <a:pt x="0" y="0"/>
                </a:moveTo>
                <a:lnTo>
                  <a:pt x="2109732" y="0"/>
                </a:lnTo>
                <a:lnTo>
                  <a:pt x="2109732" y="2890044"/>
                </a:lnTo>
                <a:lnTo>
                  <a:pt x="0" y="2890044"/>
                </a:lnTo>
                <a:lnTo>
                  <a:pt x="0" y="0"/>
                </a:lnTo>
                <a:close/>
              </a:path>
            </a:pathLst>
          </a:custGeom>
          <a:blipFill>
            <a:blip r:embed="rId12"/>
            <a:stretch>
              <a:fillRect l="0" t="0" r="0" b="0"/>
            </a:stretch>
          </a:blipFill>
        </p:spPr>
      </p:sp>
      <p:sp>
        <p:nvSpPr>
          <p:cNvPr name="Freeform 13" id="13"/>
          <p:cNvSpPr/>
          <p:nvPr/>
        </p:nvSpPr>
        <p:spPr>
          <a:xfrm flipH="false" flipV="false" rot="0">
            <a:off x="6155251" y="2409166"/>
            <a:ext cx="6341495" cy="7437821"/>
          </a:xfrm>
          <a:custGeom>
            <a:avLst/>
            <a:gdLst/>
            <a:ahLst/>
            <a:cxnLst/>
            <a:rect r="r" b="b" t="t" l="l"/>
            <a:pathLst>
              <a:path h="7437821" w="6341495">
                <a:moveTo>
                  <a:pt x="0" y="0"/>
                </a:moveTo>
                <a:lnTo>
                  <a:pt x="6341495" y="0"/>
                </a:lnTo>
                <a:lnTo>
                  <a:pt x="6341495" y="7437821"/>
                </a:lnTo>
                <a:lnTo>
                  <a:pt x="0" y="7437821"/>
                </a:lnTo>
                <a:lnTo>
                  <a:pt x="0" y="0"/>
                </a:lnTo>
                <a:close/>
              </a:path>
            </a:pathLst>
          </a:custGeom>
          <a:blipFill>
            <a:blip r:embed="rId13"/>
            <a:stretch>
              <a:fillRect l="0" t="0" r="0" b="0"/>
            </a:stretch>
          </a:blipFill>
        </p:spPr>
      </p:sp>
      <p:sp>
        <p:nvSpPr>
          <p:cNvPr name="TextBox 14" id="14"/>
          <p:cNvSpPr txBox="true"/>
          <p:nvPr/>
        </p:nvSpPr>
        <p:spPr>
          <a:xfrm rot="0">
            <a:off x="4985105" y="754086"/>
            <a:ext cx="8296293" cy="1655080"/>
          </a:xfrm>
          <a:prstGeom prst="rect">
            <a:avLst/>
          </a:prstGeom>
        </p:spPr>
        <p:txBody>
          <a:bodyPr anchor="t" rtlCol="false" tIns="0" lIns="0" bIns="0" rIns="0">
            <a:spAutoFit/>
          </a:bodyPr>
          <a:lstStyle/>
          <a:p>
            <a:pPr algn="ctr">
              <a:lnSpc>
                <a:spcPts val="6579"/>
              </a:lnSpc>
            </a:pPr>
            <a:r>
              <a:rPr lang="en-US" b="true" sz="5482">
                <a:solidFill>
                  <a:srgbClr val="073763"/>
                </a:solidFill>
                <a:latin typeface="League Spartan"/>
                <a:ea typeface="League Spartan"/>
                <a:cs typeface="League Spartan"/>
                <a:sym typeface="League Spartan"/>
              </a:rPr>
              <a:t>Melihat Jadwal Imunisasi Anak</a:t>
            </a:r>
          </a:p>
        </p:txBody>
      </p:sp>
      <p:sp>
        <p:nvSpPr>
          <p:cNvPr name="TextBox 15" id="15"/>
          <p:cNvSpPr txBox="true"/>
          <p:nvPr/>
        </p:nvSpPr>
        <p:spPr>
          <a:xfrm rot="0">
            <a:off x="400054" y="735036"/>
            <a:ext cx="5609000" cy="650120"/>
          </a:xfrm>
          <a:prstGeom prst="rect">
            <a:avLst/>
          </a:prstGeom>
        </p:spPr>
        <p:txBody>
          <a:bodyPr anchor="t" rtlCol="false" tIns="0" lIns="0" bIns="0" rIns="0">
            <a:spAutoFit/>
          </a:bodyPr>
          <a:lstStyle/>
          <a:p>
            <a:pPr algn="ctr">
              <a:lnSpc>
                <a:spcPts val="5066"/>
              </a:lnSpc>
            </a:pPr>
            <a:r>
              <a:rPr lang="en-US" sz="4222">
                <a:solidFill>
                  <a:srgbClr val="37A4DB"/>
                </a:solidFill>
                <a:latin typeface="More Sugar"/>
                <a:ea typeface="More Sugar"/>
                <a:cs typeface="More Sugar"/>
                <a:sym typeface="More Sugar"/>
              </a:rPr>
              <a:t>USER FLOW 1</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639804">
            <a:off x="13946065" y="737958"/>
            <a:ext cx="2109732" cy="2890044"/>
          </a:xfrm>
          <a:custGeom>
            <a:avLst/>
            <a:gdLst/>
            <a:ahLst/>
            <a:cxnLst/>
            <a:rect r="r" b="b" t="t" l="l"/>
            <a:pathLst>
              <a:path h="2890044" w="2109732">
                <a:moveTo>
                  <a:pt x="0" y="0"/>
                </a:moveTo>
                <a:lnTo>
                  <a:pt x="2109732" y="0"/>
                </a:lnTo>
                <a:lnTo>
                  <a:pt x="2109732" y="2890044"/>
                </a:lnTo>
                <a:lnTo>
                  <a:pt x="0" y="2890044"/>
                </a:lnTo>
                <a:lnTo>
                  <a:pt x="0" y="0"/>
                </a:lnTo>
                <a:close/>
              </a:path>
            </a:pathLst>
          </a:custGeom>
          <a:blipFill>
            <a:blip r:embed="rId12"/>
            <a:stretch>
              <a:fillRect l="0" t="0" r="0" b="0"/>
            </a:stretch>
          </a:blipFill>
        </p:spPr>
      </p:sp>
      <p:sp>
        <p:nvSpPr>
          <p:cNvPr name="Freeform 13" id="13"/>
          <p:cNvSpPr/>
          <p:nvPr/>
        </p:nvSpPr>
        <p:spPr>
          <a:xfrm flipH="false" flipV="false" rot="0">
            <a:off x="5990736" y="2320561"/>
            <a:ext cx="5765004" cy="7817524"/>
          </a:xfrm>
          <a:custGeom>
            <a:avLst/>
            <a:gdLst/>
            <a:ahLst/>
            <a:cxnLst/>
            <a:rect r="r" b="b" t="t" l="l"/>
            <a:pathLst>
              <a:path h="7817524" w="5765004">
                <a:moveTo>
                  <a:pt x="0" y="0"/>
                </a:moveTo>
                <a:lnTo>
                  <a:pt x="5765004" y="0"/>
                </a:lnTo>
                <a:lnTo>
                  <a:pt x="5765004" y="7817525"/>
                </a:lnTo>
                <a:lnTo>
                  <a:pt x="0" y="7817525"/>
                </a:lnTo>
                <a:lnTo>
                  <a:pt x="0" y="0"/>
                </a:lnTo>
                <a:close/>
              </a:path>
            </a:pathLst>
          </a:custGeom>
          <a:blipFill>
            <a:blip r:embed="rId13"/>
            <a:stretch>
              <a:fillRect l="0" t="0" r="0" b="0"/>
            </a:stretch>
          </a:blipFill>
        </p:spPr>
      </p:sp>
      <p:sp>
        <p:nvSpPr>
          <p:cNvPr name="TextBox 14" id="14"/>
          <p:cNvSpPr txBox="true"/>
          <p:nvPr/>
        </p:nvSpPr>
        <p:spPr>
          <a:xfrm rot="0">
            <a:off x="5240601" y="744561"/>
            <a:ext cx="7265274" cy="1457737"/>
          </a:xfrm>
          <a:prstGeom prst="rect">
            <a:avLst/>
          </a:prstGeom>
        </p:spPr>
        <p:txBody>
          <a:bodyPr anchor="t" rtlCol="false" tIns="0" lIns="0" bIns="0" rIns="0">
            <a:spAutoFit/>
          </a:bodyPr>
          <a:lstStyle/>
          <a:p>
            <a:pPr algn="ctr">
              <a:lnSpc>
                <a:spcPts val="5761"/>
              </a:lnSpc>
            </a:pPr>
            <a:r>
              <a:rPr lang="en-US" b="true" sz="4801">
                <a:solidFill>
                  <a:srgbClr val="073763"/>
                </a:solidFill>
                <a:latin typeface="League Spartan"/>
                <a:ea typeface="League Spartan"/>
                <a:cs typeface="League Spartan"/>
                <a:sym typeface="League Spartan"/>
              </a:rPr>
              <a:t>Mengatur Pengingat Imunisasi</a:t>
            </a:r>
          </a:p>
        </p:txBody>
      </p:sp>
      <p:sp>
        <p:nvSpPr>
          <p:cNvPr name="TextBox 15" id="15"/>
          <p:cNvSpPr txBox="true"/>
          <p:nvPr/>
        </p:nvSpPr>
        <p:spPr>
          <a:xfrm rot="0">
            <a:off x="400054" y="735036"/>
            <a:ext cx="5609000" cy="650120"/>
          </a:xfrm>
          <a:prstGeom prst="rect">
            <a:avLst/>
          </a:prstGeom>
        </p:spPr>
        <p:txBody>
          <a:bodyPr anchor="t" rtlCol="false" tIns="0" lIns="0" bIns="0" rIns="0">
            <a:spAutoFit/>
          </a:bodyPr>
          <a:lstStyle/>
          <a:p>
            <a:pPr algn="ctr">
              <a:lnSpc>
                <a:spcPts val="5066"/>
              </a:lnSpc>
            </a:pPr>
            <a:r>
              <a:rPr lang="en-US" sz="4222">
                <a:solidFill>
                  <a:srgbClr val="37A4DB"/>
                </a:solidFill>
                <a:latin typeface="More Sugar"/>
                <a:ea typeface="More Sugar"/>
                <a:cs typeface="More Sugar"/>
                <a:sym typeface="More Sugar"/>
              </a:rPr>
              <a:t>USER FLOW 2</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639804">
            <a:off x="13946065" y="737958"/>
            <a:ext cx="2109732" cy="2890044"/>
          </a:xfrm>
          <a:custGeom>
            <a:avLst/>
            <a:gdLst/>
            <a:ahLst/>
            <a:cxnLst/>
            <a:rect r="r" b="b" t="t" l="l"/>
            <a:pathLst>
              <a:path h="2890044" w="2109732">
                <a:moveTo>
                  <a:pt x="0" y="0"/>
                </a:moveTo>
                <a:lnTo>
                  <a:pt x="2109732" y="0"/>
                </a:lnTo>
                <a:lnTo>
                  <a:pt x="2109732" y="2890044"/>
                </a:lnTo>
                <a:lnTo>
                  <a:pt x="0" y="2890044"/>
                </a:lnTo>
                <a:lnTo>
                  <a:pt x="0" y="0"/>
                </a:lnTo>
                <a:close/>
              </a:path>
            </a:pathLst>
          </a:custGeom>
          <a:blipFill>
            <a:blip r:embed="rId12"/>
            <a:stretch>
              <a:fillRect l="0" t="0" r="0" b="0"/>
            </a:stretch>
          </a:blipFill>
        </p:spPr>
      </p:sp>
      <p:sp>
        <p:nvSpPr>
          <p:cNvPr name="Freeform 13" id="13"/>
          <p:cNvSpPr/>
          <p:nvPr/>
        </p:nvSpPr>
        <p:spPr>
          <a:xfrm flipH="false" flipV="false" rot="0">
            <a:off x="6009053" y="2133194"/>
            <a:ext cx="5935201" cy="8047731"/>
          </a:xfrm>
          <a:custGeom>
            <a:avLst/>
            <a:gdLst/>
            <a:ahLst/>
            <a:cxnLst/>
            <a:rect r="r" b="b" t="t" l="l"/>
            <a:pathLst>
              <a:path h="8047731" w="5935201">
                <a:moveTo>
                  <a:pt x="0" y="0"/>
                </a:moveTo>
                <a:lnTo>
                  <a:pt x="5935202" y="0"/>
                </a:lnTo>
                <a:lnTo>
                  <a:pt x="5935202" y="8047731"/>
                </a:lnTo>
                <a:lnTo>
                  <a:pt x="0" y="8047731"/>
                </a:lnTo>
                <a:lnTo>
                  <a:pt x="0" y="0"/>
                </a:lnTo>
                <a:close/>
              </a:path>
            </a:pathLst>
          </a:custGeom>
          <a:blipFill>
            <a:blip r:embed="rId13"/>
            <a:stretch>
              <a:fillRect l="0" t="0" r="0" b="0"/>
            </a:stretch>
          </a:blipFill>
        </p:spPr>
      </p:sp>
      <p:sp>
        <p:nvSpPr>
          <p:cNvPr name="TextBox 14" id="14"/>
          <p:cNvSpPr txBox="true"/>
          <p:nvPr/>
        </p:nvSpPr>
        <p:spPr>
          <a:xfrm rot="0">
            <a:off x="5231472" y="744561"/>
            <a:ext cx="7455774" cy="1495960"/>
          </a:xfrm>
          <a:prstGeom prst="rect">
            <a:avLst/>
          </a:prstGeom>
        </p:spPr>
        <p:txBody>
          <a:bodyPr anchor="t" rtlCol="false" tIns="0" lIns="0" bIns="0" rIns="0">
            <a:spAutoFit/>
          </a:bodyPr>
          <a:lstStyle/>
          <a:p>
            <a:pPr algn="ctr">
              <a:lnSpc>
                <a:spcPts val="5912"/>
              </a:lnSpc>
            </a:pPr>
            <a:r>
              <a:rPr lang="en-US" b="true" sz="4927">
                <a:solidFill>
                  <a:srgbClr val="073763"/>
                </a:solidFill>
                <a:latin typeface="League Spartan"/>
                <a:ea typeface="League Spartan"/>
                <a:cs typeface="League Spartan"/>
                <a:sym typeface="League Spartan"/>
              </a:rPr>
              <a:t>Menambahkan Riwayat Imunisasi</a:t>
            </a:r>
          </a:p>
        </p:txBody>
      </p:sp>
      <p:sp>
        <p:nvSpPr>
          <p:cNvPr name="TextBox 15" id="15"/>
          <p:cNvSpPr txBox="true"/>
          <p:nvPr/>
        </p:nvSpPr>
        <p:spPr>
          <a:xfrm rot="0">
            <a:off x="400054" y="735036"/>
            <a:ext cx="5609000" cy="650120"/>
          </a:xfrm>
          <a:prstGeom prst="rect">
            <a:avLst/>
          </a:prstGeom>
        </p:spPr>
        <p:txBody>
          <a:bodyPr anchor="t" rtlCol="false" tIns="0" lIns="0" bIns="0" rIns="0">
            <a:spAutoFit/>
          </a:bodyPr>
          <a:lstStyle/>
          <a:p>
            <a:pPr algn="ctr">
              <a:lnSpc>
                <a:spcPts val="5066"/>
              </a:lnSpc>
            </a:pPr>
            <a:r>
              <a:rPr lang="en-US" sz="4222">
                <a:solidFill>
                  <a:srgbClr val="37A4DB"/>
                </a:solidFill>
                <a:latin typeface="More Sugar"/>
                <a:ea typeface="More Sugar"/>
                <a:cs typeface="More Sugar"/>
                <a:sym typeface="More Sugar"/>
              </a:rPr>
              <a:t>USER FLOW 3</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6183441" y="207214"/>
            <a:ext cx="6975493" cy="9872573"/>
          </a:xfrm>
          <a:custGeom>
            <a:avLst/>
            <a:gdLst/>
            <a:ahLst/>
            <a:cxnLst/>
            <a:rect r="r" b="b" t="t" l="l"/>
            <a:pathLst>
              <a:path h="9872573" w="6975493">
                <a:moveTo>
                  <a:pt x="0" y="0"/>
                </a:moveTo>
                <a:lnTo>
                  <a:pt x="6975493" y="0"/>
                </a:lnTo>
                <a:lnTo>
                  <a:pt x="6975493" y="9872572"/>
                </a:lnTo>
                <a:lnTo>
                  <a:pt x="0" y="9872572"/>
                </a:lnTo>
                <a:lnTo>
                  <a:pt x="0" y="0"/>
                </a:lnTo>
                <a:close/>
              </a:path>
            </a:pathLst>
          </a:custGeom>
          <a:blipFill>
            <a:blip r:embed="rId10"/>
            <a:stretch>
              <a:fillRect l="0" t="0" r="0" b="0"/>
            </a:stretch>
          </a:blipFill>
        </p:spPr>
      </p:sp>
      <p:sp>
        <p:nvSpPr>
          <p:cNvPr name="TextBox 12" id="12"/>
          <p:cNvSpPr txBox="true"/>
          <p:nvPr/>
        </p:nvSpPr>
        <p:spPr>
          <a:xfrm rot="0">
            <a:off x="1460314" y="395377"/>
            <a:ext cx="50092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SKETSA</a:t>
            </a:r>
          </a:p>
        </p:txBody>
      </p:sp>
      <p:sp>
        <p:nvSpPr>
          <p:cNvPr name="TextBox 13" id="13"/>
          <p:cNvSpPr txBox="true"/>
          <p:nvPr/>
        </p:nvSpPr>
        <p:spPr>
          <a:xfrm rot="0">
            <a:off x="2955110" y="1745454"/>
            <a:ext cx="2713006" cy="464048"/>
          </a:xfrm>
          <a:prstGeom prst="rect">
            <a:avLst/>
          </a:prstGeom>
        </p:spPr>
        <p:txBody>
          <a:bodyPr anchor="t" rtlCol="false" tIns="0" lIns="0" bIns="0" rIns="0">
            <a:spAutoFit/>
          </a:bodyPr>
          <a:lstStyle/>
          <a:p>
            <a:pPr algn="l">
              <a:lnSpc>
                <a:spcPts val="3540"/>
              </a:lnSpc>
            </a:pPr>
            <a:r>
              <a:rPr lang="en-US" b="true" sz="2950">
                <a:solidFill>
                  <a:srgbClr val="073763"/>
                </a:solidFill>
                <a:latin typeface="Ubuntu Bold"/>
                <a:ea typeface="Ubuntu Bold"/>
                <a:cs typeface="Ubuntu Bold"/>
                <a:sym typeface="Ubuntu Bold"/>
              </a:rPr>
              <a:t>Beranda</a:t>
            </a:r>
          </a:p>
        </p:txBody>
      </p:sp>
      <p:sp>
        <p:nvSpPr>
          <p:cNvPr name="Freeform 14" id="14"/>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7" id="17"/>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9" id="19"/>
          <p:cNvSpPr/>
          <p:nvPr/>
        </p:nvSpPr>
        <p:spPr>
          <a:xfrm flipH="false" flipV="false" rot="0">
            <a:off x="951526" y="1159001"/>
            <a:ext cx="2162733" cy="1948386"/>
          </a:xfrm>
          <a:custGeom>
            <a:avLst/>
            <a:gdLst/>
            <a:ahLst/>
            <a:cxnLst/>
            <a:rect r="r" b="b" t="t" l="l"/>
            <a:pathLst>
              <a:path h="1948386" w="2162733">
                <a:moveTo>
                  <a:pt x="0" y="0"/>
                </a:moveTo>
                <a:lnTo>
                  <a:pt x="2162733" y="0"/>
                </a:lnTo>
                <a:lnTo>
                  <a:pt x="2162733" y="1948386"/>
                </a:lnTo>
                <a:lnTo>
                  <a:pt x="0" y="1948386"/>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20" id="20"/>
          <p:cNvSpPr txBox="true"/>
          <p:nvPr/>
        </p:nvSpPr>
        <p:spPr>
          <a:xfrm rot="0">
            <a:off x="1721796" y="1691782"/>
            <a:ext cx="593105" cy="817184"/>
          </a:xfrm>
          <a:prstGeom prst="rect">
            <a:avLst/>
          </a:prstGeom>
        </p:spPr>
        <p:txBody>
          <a:bodyPr anchor="t" rtlCol="false" tIns="0" lIns="0" bIns="0" rIns="0">
            <a:spAutoFit/>
          </a:bodyPr>
          <a:lstStyle/>
          <a:p>
            <a:pPr algn="l">
              <a:lnSpc>
                <a:spcPts val="6364"/>
              </a:lnSpc>
            </a:pPr>
            <a:r>
              <a:rPr lang="en-US" b="true" sz="5303">
                <a:solidFill>
                  <a:srgbClr val="073763"/>
                </a:solidFill>
                <a:latin typeface="Ubuntu Bold"/>
                <a:ea typeface="Ubuntu Bold"/>
                <a:cs typeface="Ubuntu Bold"/>
                <a:sym typeface="Ubuntu Bold"/>
              </a:rPr>
              <a:t>1</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460314" y="395377"/>
            <a:ext cx="50092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SKETSA</a:t>
            </a:r>
          </a:p>
        </p:txBody>
      </p:sp>
      <p:sp>
        <p:nvSpPr>
          <p:cNvPr name="TextBox 12" id="12"/>
          <p:cNvSpPr txBox="true"/>
          <p:nvPr/>
        </p:nvSpPr>
        <p:spPr>
          <a:xfrm rot="0">
            <a:off x="2892668" y="1599920"/>
            <a:ext cx="2713006" cy="909046"/>
          </a:xfrm>
          <a:prstGeom prst="rect">
            <a:avLst/>
          </a:prstGeom>
        </p:spPr>
        <p:txBody>
          <a:bodyPr anchor="t" rtlCol="false" tIns="0" lIns="0" bIns="0" rIns="0">
            <a:spAutoFit/>
          </a:bodyPr>
          <a:lstStyle/>
          <a:p>
            <a:pPr algn="l">
              <a:lnSpc>
                <a:spcPts val="3540"/>
              </a:lnSpc>
            </a:pPr>
            <a:r>
              <a:rPr lang="en-US" b="true" sz="2950">
                <a:solidFill>
                  <a:srgbClr val="073763"/>
                </a:solidFill>
                <a:latin typeface="Ubuntu Bold"/>
                <a:ea typeface="Ubuntu Bold"/>
                <a:cs typeface="Ubuntu Bold"/>
                <a:sym typeface="Ubuntu Bold"/>
              </a:rPr>
              <a:t>Jadwal Imunisasi</a:t>
            </a:r>
          </a:p>
        </p:txBody>
      </p:sp>
      <p:sp>
        <p:nvSpPr>
          <p:cNvPr name="Freeform 13" id="1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951526" y="1159001"/>
            <a:ext cx="2162733" cy="1948386"/>
          </a:xfrm>
          <a:custGeom>
            <a:avLst/>
            <a:gdLst/>
            <a:ahLst/>
            <a:cxnLst/>
            <a:rect r="r" b="b" t="t" l="l"/>
            <a:pathLst>
              <a:path h="1948386" w="2162733">
                <a:moveTo>
                  <a:pt x="0" y="0"/>
                </a:moveTo>
                <a:lnTo>
                  <a:pt x="2162733" y="0"/>
                </a:lnTo>
                <a:lnTo>
                  <a:pt x="2162733" y="1948386"/>
                </a:lnTo>
                <a:lnTo>
                  <a:pt x="0" y="194838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9" id="19"/>
          <p:cNvSpPr/>
          <p:nvPr/>
        </p:nvSpPr>
        <p:spPr>
          <a:xfrm flipH="false" flipV="false" rot="0">
            <a:off x="6974389" y="90718"/>
            <a:ext cx="7140114" cy="10105564"/>
          </a:xfrm>
          <a:custGeom>
            <a:avLst/>
            <a:gdLst/>
            <a:ahLst/>
            <a:cxnLst/>
            <a:rect r="r" b="b" t="t" l="l"/>
            <a:pathLst>
              <a:path h="10105564" w="7140114">
                <a:moveTo>
                  <a:pt x="0" y="0"/>
                </a:moveTo>
                <a:lnTo>
                  <a:pt x="7140113" y="0"/>
                </a:lnTo>
                <a:lnTo>
                  <a:pt x="7140113" y="10105564"/>
                </a:lnTo>
                <a:lnTo>
                  <a:pt x="0" y="10105564"/>
                </a:lnTo>
                <a:lnTo>
                  <a:pt x="0" y="0"/>
                </a:lnTo>
                <a:close/>
              </a:path>
            </a:pathLst>
          </a:custGeom>
          <a:blipFill>
            <a:blip r:embed="rId22"/>
            <a:stretch>
              <a:fillRect l="0" t="0" r="0" b="0"/>
            </a:stretch>
          </a:blipFill>
        </p:spPr>
      </p:sp>
      <p:sp>
        <p:nvSpPr>
          <p:cNvPr name="TextBox 20" id="20"/>
          <p:cNvSpPr txBox="true"/>
          <p:nvPr/>
        </p:nvSpPr>
        <p:spPr>
          <a:xfrm rot="0">
            <a:off x="1721796" y="1691782"/>
            <a:ext cx="593105" cy="817184"/>
          </a:xfrm>
          <a:prstGeom prst="rect">
            <a:avLst/>
          </a:prstGeom>
        </p:spPr>
        <p:txBody>
          <a:bodyPr anchor="t" rtlCol="false" tIns="0" lIns="0" bIns="0" rIns="0">
            <a:spAutoFit/>
          </a:bodyPr>
          <a:lstStyle/>
          <a:p>
            <a:pPr algn="l">
              <a:lnSpc>
                <a:spcPts val="6364"/>
              </a:lnSpc>
            </a:pPr>
            <a:r>
              <a:rPr lang="en-US" b="true" sz="5303">
                <a:solidFill>
                  <a:srgbClr val="073763"/>
                </a:solidFill>
                <a:latin typeface="Ubuntu Bold"/>
                <a:ea typeface="Ubuntu Bold"/>
                <a:cs typeface="Ubuntu Bold"/>
                <a:sym typeface="Ubuntu Bold"/>
              </a:rPr>
              <a:t>2</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460314" y="395377"/>
            <a:ext cx="50092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SKETSA</a:t>
            </a:r>
          </a:p>
        </p:txBody>
      </p:sp>
      <p:sp>
        <p:nvSpPr>
          <p:cNvPr name="TextBox 12" id="12"/>
          <p:cNvSpPr txBox="true"/>
          <p:nvPr/>
        </p:nvSpPr>
        <p:spPr>
          <a:xfrm rot="0">
            <a:off x="2892668" y="1599920"/>
            <a:ext cx="2713006" cy="909046"/>
          </a:xfrm>
          <a:prstGeom prst="rect">
            <a:avLst/>
          </a:prstGeom>
        </p:spPr>
        <p:txBody>
          <a:bodyPr anchor="t" rtlCol="false" tIns="0" lIns="0" bIns="0" rIns="0">
            <a:spAutoFit/>
          </a:bodyPr>
          <a:lstStyle/>
          <a:p>
            <a:pPr algn="l">
              <a:lnSpc>
                <a:spcPts val="3540"/>
              </a:lnSpc>
            </a:pPr>
            <a:r>
              <a:rPr lang="en-US" b="true" sz="2950">
                <a:solidFill>
                  <a:srgbClr val="073763"/>
                </a:solidFill>
                <a:latin typeface="Ubuntu Bold"/>
                <a:ea typeface="Ubuntu Bold"/>
                <a:cs typeface="Ubuntu Bold"/>
                <a:sym typeface="Ubuntu Bold"/>
              </a:rPr>
              <a:t>Jadwal Imunisasi</a:t>
            </a:r>
          </a:p>
        </p:txBody>
      </p:sp>
      <p:sp>
        <p:nvSpPr>
          <p:cNvPr name="Freeform 13" id="1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951526" y="1159001"/>
            <a:ext cx="2162733" cy="1948386"/>
          </a:xfrm>
          <a:custGeom>
            <a:avLst/>
            <a:gdLst/>
            <a:ahLst/>
            <a:cxnLst/>
            <a:rect r="r" b="b" t="t" l="l"/>
            <a:pathLst>
              <a:path h="1948386" w="2162733">
                <a:moveTo>
                  <a:pt x="0" y="0"/>
                </a:moveTo>
                <a:lnTo>
                  <a:pt x="2162733" y="0"/>
                </a:lnTo>
                <a:lnTo>
                  <a:pt x="2162733" y="1948386"/>
                </a:lnTo>
                <a:lnTo>
                  <a:pt x="0" y="194838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9" id="19"/>
          <p:cNvSpPr/>
          <p:nvPr/>
        </p:nvSpPr>
        <p:spPr>
          <a:xfrm flipH="false" flipV="false" rot="0">
            <a:off x="5752046" y="209768"/>
            <a:ext cx="6971883" cy="9867464"/>
          </a:xfrm>
          <a:custGeom>
            <a:avLst/>
            <a:gdLst/>
            <a:ahLst/>
            <a:cxnLst/>
            <a:rect r="r" b="b" t="t" l="l"/>
            <a:pathLst>
              <a:path h="9867464" w="6971883">
                <a:moveTo>
                  <a:pt x="0" y="0"/>
                </a:moveTo>
                <a:lnTo>
                  <a:pt x="6971884" y="0"/>
                </a:lnTo>
                <a:lnTo>
                  <a:pt x="6971884" y="9867464"/>
                </a:lnTo>
                <a:lnTo>
                  <a:pt x="0" y="9867464"/>
                </a:lnTo>
                <a:lnTo>
                  <a:pt x="0" y="0"/>
                </a:lnTo>
                <a:close/>
              </a:path>
            </a:pathLst>
          </a:custGeom>
          <a:blipFill>
            <a:blip r:embed="rId22"/>
            <a:stretch>
              <a:fillRect l="0" t="0" r="0" b="0"/>
            </a:stretch>
          </a:blipFill>
        </p:spPr>
      </p:sp>
      <p:sp>
        <p:nvSpPr>
          <p:cNvPr name="Freeform 20" id="20"/>
          <p:cNvSpPr/>
          <p:nvPr/>
        </p:nvSpPr>
        <p:spPr>
          <a:xfrm flipH="false" flipV="false" rot="0">
            <a:off x="12764082" y="1322674"/>
            <a:ext cx="5280469" cy="7473567"/>
          </a:xfrm>
          <a:custGeom>
            <a:avLst/>
            <a:gdLst/>
            <a:ahLst/>
            <a:cxnLst/>
            <a:rect r="r" b="b" t="t" l="l"/>
            <a:pathLst>
              <a:path h="7473567" w="5280469">
                <a:moveTo>
                  <a:pt x="0" y="0"/>
                </a:moveTo>
                <a:lnTo>
                  <a:pt x="5280469" y="0"/>
                </a:lnTo>
                <a:lnTo>
                  <a:pt x="5280469" y="7473568"/>
                </a:lnTo>
                <a:lnTo>
                  <a:pt x="0" y="7473568"/>
                </a:lnTo>
                <a:lnTo>
                  <a:pt x="0" y="0"/>
                </a:lnTo>
                <a:close/>
              </a:path>
            </a:pathLst>
          </a:custGeom>
          <a:blipFill>
            <a:blip r:embed="rId23"/>
            <a:stretch>
              <a:fillRect l="0" t="0" r="0" b="0"/>
            </a:stretch>
          </a:blipFill>
        </p:spPr>
      </p:sp>
      <p:sp>
        <p:nvSpPr>
          <p:cNvPr name="TextBox 21" id="21"/>
          <p:cNvSpPr txBox="true"/>
          <p:nvPr/>
        </p:nvSpPr>
        <p:spPr>
          <a:xfrm rot="0">
            <a:off x="1721796" y="1691782"/>
            <a:ext cx="593105" cy="817184"/>
          </a:xfrm>
          <a:prstGeom prst="rect">
            <a:avLst/>
          </a:prstGeom>
        </p:spPr>
        <p:txBody>
          <a:bodyPr anchor="t" rtlCol="false" tIns="0" lIns="0" bIns="0" rIns="0">
            <a:spAutoFit/>
          </a:bodyPr>
          <a:lstStyle/>
          <a:p>
            <a:pPr algn="l">
              <a:lnSpc>
                <a:spcPts val="6364"/>
              </a:lnSpc>
            </a:pPr>
            <a:r>
              <a:rPr lang="en-US" b="true" sz="5303">
                <a:solidFill>
                  <a:srgbClr val="073763"/>
                </a:solidFill>
                <a:latin typeface="Ubuntu Bold"/>
                <a:ea typeface="Ubuntu Bold"/>
                <a:cs typeface="Ubuntu Bold"/>
                <a:sym typeface="Ubuntu Bold"/>
              </a:rPr>
              <a:t>3</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460314" y="395377"/>
            <a:ext cx="50092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SKETSA</a:t>
            </a:r>
          </a:p>
        </p:txBody>
      </p:sp>
      <p:sp>
        <p:nvSpPr>
          <p:cNvPr name="TextBox 12" id="12"/>
          <p:cNvSpPr txBox="true"/>
          <p:nvPr/>
        </p:nvSpPr>
        <p:spPr>
          <a:xfrm rot="0">
            <a:off x="2892668" y="1822419"/>
            <a:ext cx="2713006" cy="464048"/>
          </a:xfrm>
          <a:prstGeom prst="rect">
            <a:avLst/>
          </a:prstGeom>
        </p:spPr>
        <p:txBody>
          <a:bodyPr anchor="t" rtlCol="false" tIns="0" lIns="0" bIns="0" rIns="0">
            <a:spAutoFit/>
          </a:bodyPr>
          <a:lstStyle/>
          <a:p>
            <a:pPr algn="l">
              <a:lnSpc>
                <a:spcPts val="3540"/>
              </a:lnSpc>
            </a:pPr>
            <a:r>
              <a:rPr lang="en-US" b="true" sz="2950">
                <a:solidFill>
                  <a:srgbClr val="073763"/>
                </a:solidFill>
                <a:latin typeface="Ubuntu Bold"/>
                <a:ea typeface="Ubuntu Bold"/>
                <a:cs typeface="Ubuntu Bold"/>
                <a:sym typeface="Ubuntu Bold"/>
              </a:rPr>
              <a:t>Edukasi</a:t>
            </a:r>
          </a:p>
        </p:txBody>
      </p:sp>
      <p:sp>
        <p:nvSpPr>
          <p:cNvPr name="Freeform 13" id="1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951526" y="1159001"/>
            <a:ext cx="2162733" cy="1948386"/>
          </a:xfrm>
          <a:custGeom>
            <a:avLst/>
            <a:gdLst/>
            <a:ahLst/>
            <a:cxnLst/>
            <a:rect r="r" b="b" t="t" l="l"/>
            <a:pathLst>
              <a:path h="1948386" w="2162733">
                <a:moveTo>
                  <a:pt x="0" y="0"/>
                </a:moveTo>
                <a:lnTo>
                  <a:pt x="2162733" y="0"/>
                </a:lnTo>
                <a:lnTo>
                  <a:pt x="2162733" y="1948386"/>
                </a:lnTo>
                <a:lnTo>
                  <a:pt x="0" y="194838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9" id="19"/>
          <p:cNvSpPr/>
          <p:nvPr/>
        </p:nvSpPr>
        <p:spPr>
          <a:xfrm flipH="false" flipV="false" rot="0">
            <a:off x="9612704" y="1159001"/>
            <a:ext cx="7894622" cy="5577966"/>
          </a:xfrm>
          <a:custGeom>
            <a:avLst/>
            <a:gdLst/>
            <a:ahLst/>
            <a:cxnLst/>
            <a:rect r="r" b="b" t="t" l="l"/>
            <a:pathLst>
              <a:path h="5577966" w="7894622">
                <a:moveTo>
                  <a:pt x="0" y="0"/>
                </a:moveTo>
                <a:lnTo>
                  <a:pt x="7894622" y="0"/>
                </a:lnTo>
                <a:lnTo>
                  <a:pt x="7894622" y="5577966"/>
                </a:lnTo>
                <a:lnTo>
                  <a:pt x="0" y="5577966"/>
                </a:lnTo>
                <a:lnTo>
                  <a:pt x="0" y="0"/>
                </a:lnTo>
                <a:close/>
              </a:path>
            </a:pathLst>
          </a:custGeom>
          <a:blipFill>
            <a:blip r:embed="rId22"/>
            <a:stretch>
              <a:fillRect l="0" t="0" r="0" b="0"/>
            </a:stretch>
          </a:blipFill>
        </p:spPr>
      </p:sp>
      <p:sp>
        <p:nvSpPr>
          <p:cNvPr name="Freeform 20" id="20"/>
          <p:cNvSpPr/>
          <p:nvPr/>
        </p:nvSpPr>
        <p:spPr>
          <a:xfrm flipH="false" flipV="false" rot="0">
            <a:off x="1069983" y="3181675"/>
            <a:ext cx="8001104" cy="5653202"/>
          </a:xfrm>
          <a:custGeom>
            <a:avLst/>
            <a:gdLst/>
            <a:ahLst/>
            <a:cxnLst/>
            <a:rect r="r" b="b" t="t" l="l"/>
            <a:pathLst>
              <a:path h="5653202" w="8001104">
                <a:moveTo>
                  <a:pt x="0" y="0"/>
                </a:moveTo>
                <a:lnTo>
                  <a:pt x="8001105" y="0"/>
                </a:lnTo>
                <a:lnTo>
                  <a:pt x="8001105" y="5653202"/>
                </a:lnTo>
                <a:lnTo>
                  <a:pt x="0" y="5653202"/>
                </a:lnTo>
                <a:lnTo>
                  <a:pt x="0" y="0"/>
                </a:lnTo>
                <a:close/>
              </a:path>
            </a:pathLst>
          </a:custGeom>
          <a:blipFill>
            <a:blip r:embed="rId23"/>
            <a:stretch>
              <a:fillRect l="0" t="0" r="0" b="0"/>
            </a:stretch>
          </a:blipFill>
        </p:spPr>
      </p:sp>
      <p:sp>
        <p:nvSpPr>
          <p:cNvPr name="TextBox 21" id="21"/>
          <p:cNvSpPr txBox="true"/>
          <p:nvPr/>
        </p:nvSpPr>
        <p:spPr>
          <a:xfrm rot="0">
            <a:off x="1721796" y="1691782"/>
            <a:ext cx="593105" cy="817184"/>
          </a:xfrm>
          <a:prstGeom prst="rect">
            <a:avLst/>
          </a:prstGeom>
        </p:spPr>
        <p:txBody>
          <a:bodyPr anchor="t" rtlCol="false" tIns="0" lIns="0" bIns="0" rIns="0">
            <a:spAutoFit/>
          </a:bodyPr>
          <a:lstStyle/>
          <a:p>
            <a:pPr algn="l">
              <a:lnSpc>
                <a:spcPts val="6364"/>
              </a:lnSpc>
            </a:pPr>
            <a:r>
              <a:rPr lang="en-US" b="true" sz="5303">
                <a:solidFill>
                  <a:srgbClr val="073763"/>
                </a:solidFill>
                <a:latin typeface="Ubuntu Bold"/>
                <a:ea typeface="Ubuntu Bold"/>
                <a:cs typeface="Ubuntu Bold"/>
                <a:sym typeface="Ubuntu Bold"/>
              </a:rPr>
              <a:t>4</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460314" y="395377"/>
            <a:ext cx="5009250" cy="990600"/>
          </a:xfrm>
          <a:prstGeom prst="rect">
            <a:avLst/>
          </a:prstGeom>
        </p:spPr>
        <p:txBody>
          <a:bodyPr anchor="t" rtlCol="false" tIns="0" lIns="0" bIns="0" rIns="0">
            <a:spAutoFit/>
          </a:bodyPr>
          <a:lstStyle/>
          <a:p>
            <a:pPr algn="ctr">
              <a:lnSpc>
                <a:spcPts val="7680"/>
              </a:lnSpc>
            </a:pPr>
            <a:r>
              <a:rPr lang="en-US" b="true" sz="6400">
                <a:solidFill>
                  <a:srgbClr val="073763"/>
                </a:solidFill>
                <a:latin typeface="Ubuntu Bold"/>
                <a:ea typeface="Ubuntu Bold"/>
                <a:cs typeface="Ubuntu Bold"/>
                <a:sym typeface="Ubuntu Bold"/>
              </a:rPr>
              <a:t>SKETSA</a:t>
            </a:r>
          </a:p>
        </p:txBody>
      </p:sp>
      <p:sp>
        <p:nvSpPr>
          <p:cNvPr name="TextBox 12" id="12"/>
          <p:cNvSpPr txBox="true"/>
          <p:nvPr/>
        </p:nvSpPr>
        <p:spPr>
          <a:xfrm rot="0">
            <a:off x="2892668" y="1822419"/>
            <a:ext cx="2713006" cy="464048"/>
          </a:xfrm>
          <a:prstGeom prst="rect">
            <a:avLst/>
          </a:prstGeom>
        </p:spPr>
        <p:txBody>
          <a:bodyPr anchor="t" rtlCol="false" tIns="0" lIns="0" bIns="0" rIns="0">
            <a:spAutoFit/>
          </a:bodyPr>
          <a:lstStyle/>
          <a:p>
            <a:pPr algn="l">
              <a:lnSpc>
                <a:spcPts val="3540"/>
              </a:lnSpc>
            </a:pPr>
            <a:r>
              <a:rPr lang="en-US" b="true" sz="2950">
                <a:solidFill>
                  <a:srgbClr val="073763"/>
                </a:solidFill>
                <a:latin typeface="Ubuntu Bold"/>
                <a:ea typeface="Ubuntu Bold"/>
                <a:cs typeface="Ubuntu Bold"/>
                <a:sym typeface="Ubuntu Bold"/>
              </a:rPr>
              <a:t>Profil</a:t>
            </a:r>
          </a:p>
        </p:txBody>
      </p:sp>
      <p:sp>
        <p:nvSpPr>
          <p:cNvPr name="Freeform 13" id="13"/>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6854754" y="7838236"/>
            <a:ext cx="2123496" cy="2113649"/>
          </a:xfrm>
          <a:custGeom>
            <a:avLst/>
            <a:gdLst/>
            <a:ahLst/>
            <a:cxnLst/>
            <a:rect r="r" b="b" t="t" l="l"/>
            <a:pathLst>
              <a:path h="2113649" w="2123496">
                <a:moveTo>
                  <a:pt x="0" y="0"/>
                </a:moveTo>
                <a:lnTo>
                  <a:pt x="2123496" y="0"/>
                </a:lnTo>
                <a:lnTo>
                  <a:pt x="2123496" y="2113648"/>
                </a:lnTo>
                <a:lnTo>
                  <a:pt x="0" y="211364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6701699" y="5898942"/>
            <a:ext cx="2344812" cy="2382199"/>
          </a:xfrm>
          <a:custGeom>
            <a:avLst/>
            <a:gdLst/>
            <a:ahLst/>
            <a:cxnLst/>
            <a:rect r="r" b="b" t="t" l="l"/>
            <a:pathLst>
              <a:path h="2382199" w="2344812">
                <a:moveTo>
                  <a:pt x="0" y="0"/>
                </a:moveTo>
                <a:lnTo>
                  <a:pt x="2344812" y="0"/>
                </a:lnTo>
                <a:lnTo>
                  <a:pt x="2344812" y="2382199"/>
                </a:lnTo>
                <a:lnTo>
                  <a:pt x="0" y="23821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802576" y="8678623"/>
            <a:ext cx="949554" cy="899025"/>
          </a:xfrm>
          <a:custGeom>
            <a:avLst/>
            <a:gdLst/>
            <a:ahLst/>
            <a:cxnLst/>
            <a:rect r="r" b="b" t="t" l="l"/>
            <a:pathLst>
              <a:path h="899025" w="949554">
                <a:moveTo>
                  <a:pt x="0" y="0"/>
                </a:moveTo>
                <a:lnTo>
                  <a:pt x="949554" y="0"/>
                </a:lnTo>
                <a:lnTo>
                  <a:pt x="949554" y="899024"/>
                </a:lnTo>
                <a:lnTo>
                  <a:pt x="0" y="89902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26964" y="9258300"/>
            <a:ext cx="943020" cy="638695"/>
          </a:xfrm>
          <a:custGeom>
            <a:avLst/>
            <a:gdLst/>
            <a:ahLst/>
            <a:cxnLst/>
            <a:rect r="r" b="b" t="t" l="l"/>
            <a:pathLst>
              <a:path h="638695" w="943020">
                <a:moveTo>
                  <a:pt x="0" y="0"/>
                </a:moveTo>
                <a:lnTo>
                  <a:pt x="943019" y="0"/>
                </a:lnTo>
                <a:lnTo>
                  <a:pt x="943019" y="638695"/>
                </a:lnTo>
                <a:lnTo>
                  <a:pt x="0" y="63869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951526" y="1159001"/>
            <a:ext cx="2162733" cy="1948386"/>
          </a:xfrm>
          <a:custGeom>
            <a:avLst/>
            <a:gdLst/>
            <a:ahLst/>
            <a:cxnLst/>
            <a:rect r="r" b="b" t="t" l="l"/>
            <a:pathLst>
              <a:path h="1948386" w="2162733">
                <a:moveTo>
                  <a:pt x="0" y="0"/>
                </a:moveTo>
                <a:lnTo>
                  <a:pt x="2162733" y="0"/>
                </a:lnTo>
                <a:lnTo>
                  <a:pt x="2162733" y="1948386"/>
                </a:lnTo>
                <a:lnTo>
                  <a:pt x="0" y="194838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9" id="19"/>
          <p:cNvSpPr/>
          <p:nvPr/>
        </p:nvSpPr>
        <p:spPr>
          <a:xfrm flipH="false" flipV="false" rot="0">
            <a:off x="6964864" y="267364"/>
            <a:ext cx="7079401" cy="10019636"/>
          </a:xfrm>
          <a:custGeom>
            <a:avLst/>
            <a:gdLst/>
            <a:ahLst/>
            <a:cxnLst/>
            <a:rect r="r" b="b" t="t" l="l"/>
            <a:pathLst>
              <a:path h="10019636" w="7079401">
                <a:moveTo>
                  <a:pt x="0" y="0"/>
                </a:moveTo>
                <a:lnTo>
                  <a:pt x="7079401" y="0"/>
                </a:lnTo>
                <a:lnTo>
                  <a:pt x="7079401" y="10019636"/>
                </a:lnTo>
                <a:lnTo>
                  <a:pt x="0" y="10019636"/>
                </a:lnTo>
                <a:lnTo>
                  <a:pt x="0" y="0"/>
                </a:lnTo>
                <a:close/>
              </a:path>
            </a:pathLst>
          </a:custGeom>
          <a:blipFill>
            <a:blip r:embed="rId22"/>
            <a:stretch>
              <a:fillRect l="0" t="0" r="0" b="0"/>
            </a:stretch>
          </a:blipFill>
        </p:spPr>
      </p:sp>
      <p:sp>
        <p:nvSpPr>
          <p:cNvPr name="TextBox 20" id="20"/>
          <p:cNvSpPr txBox="true"/>
          <p:nvPr/>
        </p:nvSpPr>
        <p:spPr>
          <a:xfrm rot="0">
            <a:off x="1721796" y="1691782"/>
            <a:ext cx="593105" cy="817184"/>
          </a:xfrm>
          <a:prstGeom prst="rect">
            <a:avLst/>
          </a:prstGeom>
        </p:spPr>
        <p:txBody>
          <a:bodyPr anchor="t" rtlCol="false" tIns="0" lIns="0" bIns="0" rIns="0">
            <a:spAutoFit/>
          </a:bodyPr>
          <a:lstStyle/>
          <a:p>
            <a:pPr algn="l">
              <a:lnSpc>
                <a:spcPts val="6364"/>
              </a:lnSpc>
            </a:pPr>
            <a:r>
              <a:rPr lang="en-US" b="true" sz="5303">
                <a:solidFill>
                  <a:srgbClr val="073763"/>
                </a:solidFill>
                <a:latin typeface="Ubuntu Bold"/>
                <a:ea typeface="Ubuntu Bold"/>
                <a:cs typeface="Ubuntu Bold"/>
                <a:sym typeface="Ubuntu Bold"/>
              </a:rPr>
              <a:t>5</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376958" y="1117576"/>
            <a:ext cx="15534084" cy="8944980"/>
          </a:xfrm>
          <a:custGeom>
            <a:avLst/>
            <a:gdLst/>
            <a:ahLst/>
            <a:cxnLst/>
            <a:rect r="r" b="b" t="t" l="l"/>
            <a:pathLst>
              <a:path h="8944980" w="15534084">
                <a:moveTo>
                  <a:pt x="0" y="0"/>
                </a:moveTo>
                <a:lnTo>
                  <a:pt x="15534084" y="0"/>
                </a:lnTo>
                <a:lnTo>
                  <a:pt x="15534084" y="8944980"/>
                </a:lnTo>
                <a:lnTo>
                  <a:pt x="0" y="8944980"/>
                </a:lnTo>
                <a:lnTo>
                  <a:pt x="0" y="0"/>
                </a:lnTo>
                <a:close/>
              </a:path>
            </a:pathLst>
          </a:custGeom>
          <a:blipFill>
            <a:blip r:embed="rId12"/>
            <a:stretch>
              <a:fillRect l="0" t="-25450" r="-685" b="-257790"/>
            </a:stretch>
          </a:blipFill>
        </p:spPr>
      </p:sp>
      <p:sp>
        <p:nvSpPr>
          <p:cNvPr name="TextBox 13" id="13"/>
          <p:cNvSpPr txBox="true"/>
          <p:nvPr/>
        </p:nvSpPr>
        <p:spPr>
          <a:xfrm rot="0">
            <a:off x="1835049" y="404902"/>
            <a:ext cx="4577372" cy="712673"/>
          </a:xfrm>
          <a:prstGeom prst="rect">
            <a:avLst/>
          </a:prstGeom>
        </p:spPr>
        <p:txBody>
          <a:bodyPr anchor="t" rtlCol="false" tIns="0" lIns="0" bIns="0" rIns="0">
            <a:spAutoFit/>
          </a:bodyPr>
          <a:lstStyle/>
          <a:p>
            <a:pPr algn="ctr">
              <a:lnSpc>
                <a:spcPts val="5561"/>
              </a:lnSpc>
            </a:pPr>
            <a:r>
              <a:rPr lang="en-US" sz="4634">
                <a:solidFill>
                  <a:srgbClr val="37A4DB"/>
                </a:solidFill>
                <a:latin typeface="More Sugar"/>
                <a:ea typeface="More Sugar"/>
                <a:cs typeface="More Sugar"/>
                <a:sym typeface="More Sugar"/>
              </a:rPr>
              <a:t>UI STYLE GUIDE</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376958" y="1117576"/>
            <a:ext cx="15534084" cy="8944980"/>
          </a:xfrm>
          <a:custGeom>
            <a:avLst/>
            <a:gdLst/>
            <a:ahLst/>
            <a:cxnLst/>
            <a:rect r="r" b="b" t="t" l="l"/>
            <a:pathLst>
              <a:path h="8944980" w="15534084">
                <a:moveTo>
                  <a:pt x="0" y="0"/>
                </a:moveTo>
                <a:lnTo>
                  <a:pt x="15534084" y="0"/>
                </a:lnTo>
                <a:lnTo>
                  <a:pt x="15534084" y="8944980"/>
                </a:lnTo>
                <a:lnTo>
                  <a:pt x="0" y="8944980"/>
                </a:lnTo>
                <a:lnTo>
                  <a:pt x="0" y="0"/>
                </a:lnTo>
                <a:close/>
              </a:path>
            </a:pathLst>
          </a:custGeom>
          <a:blipFill>
            <a:blip r:embed="rId12"/>
            <a:stretch>
              <a:fillRect l="0" t="-124547" r="-685" b="-158693"/>
            </a:stretch>
          </a:blipFill>
        </p:spPr>
      </p:sp>
      <p:sp>
        <p:nvSpPr>
          <p:cNvPr name="TextBox 13" id="13"/>
          <p:cNvSpPr txBox="true"/>
          <p:nvPr/>
        </p:nvSpPr>
        <p:spPr>
          <a:xfrm rot="0">
            <a:off x="1835049" y="404902"/>
            <a:ext cx="4577372" cy="712673"/>
          </a:xfrm>
          <a:prstGeom prst="rect">
            <a:avLst/>
          </a:prstGeom>
        </p:spPr>
        <p:txBody>
          <a:bodyPr anchor="t" rtlCol="false" tIns="0" lIns="0" bIns="0" rIns="0">
            <a:spAutoFit/>
          </a:bodyPr>
          <a:lstStyle/>
          <a:p>
            <a:pPr algn="ctr">
              <a:lnSpc>
                <a:spcPts val="5561"/>
              </a:lnSpc>
            </a:pPr>
            <a:r>
              <a:rPr lang="en-US" sz="4634">
                <a:solidFill>
                  <a:srgbClr val="37A4DB"/>
                </a:solidFill>
                <a:latin typeface="More Sugar"/>
                <a:ea typeface="More Sugar"/>
                <a:cs typeface="More Sugar"/>
                <a:sym typeface="More Sugar"/>
              </a:rPr>
              <a:t>UI STYLE GUIDE</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376958" y="1117576"/>
            <a:ext cx="15534084" cy="8944980"/>
          </a:xfrm>
          <a:custGeom>
            <a:avLst/>
            <a:gdLst/>
            <a:ahLst/>
            <a:cxnLst/>
            <a:rect r="r" b="b" t="t" l="l"/>
            <a:pathLst>
              <a:path h="8944980" w="15534084">
                <a:moveTo>
                  <a:pt x="0" y="0"/>
                </a:moveTo>
                <a:lnTo>
                  <a:pt x="15534084" y="0"/>
                </a:lnTo>
                <a:lnTo>
                  <a:pt x="15534084" y="8944980"/>
                </a:lnTo>
                <a:lnTo>
                  <a:pt x="0" y="8944980"/>
                </a:lnTo>
                <a:lnTo>
                  <a:pt x="0" y="0"/>
                </a:lnTo>
                <a:close/>
              </a:path>
            </a:pathLst>
          </a:custGeom>
          <a:blipFill>
            <a:blip r:embed="rId12"/>
            <a:stretch>
              <a:fillRect l="-136" t="-225712" r="-549" b="-57528"/>
            </a:stretch>
          </a:blipFill>
        </p:spPr>
      </p:sp>
      <p:sp>
        <p:nvSpPr>
          <p:cNvPr name="TextBox 13" id="13"/>
          <p:cNvSpPr txBox="true"/>
          <p:nvPr/>
        </p:nvSpPr>
        <p:spPr>
          <a:xfrm rot="0">
            <a:off x="1835049" y="404902"/>
            <a:ext cx="4577372" cy="712673"/>
          </a:xfrm>
          <a:prstGeom prst="rect">
            <a:avLst/>
          </a:prstGeom>
        </p:spPr>
        <p:txBody>
          <a:bodyPr anchor="t" rtlCol="false" tIns="0" lIns="0" bIns="0" rIns="0">
            <a:spAutoFit/>
          </a:bodyPr>
          <a:lstStyle/>
          <a:p>
            <a:pPr algn="ctr">
              <a:lnSpc>
                <a:spcPts val="5561"/>
              </a:lnSpc>
            </a:pPr>
            <a:r>
              <a:rPr lang="en-US" sz="4634">
                <a:solidFill>
                  <a:srgbClr val="37A4DB"/>
                </a:solidFill>
                <a:latin typeface="More Sugar"/>
                <a:ea typeface="More Sugar"/>
                <a:cs typeface="More Sugar"/>
                <a:sym typeface="More Sugar"/>
              </a:rPr>
              <a:t>UI STYLE GUIDE</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460314" y="1128229"/>
            <a:ext cx="4577372" cy="712673"/>
          </a:xfrm>
          <a:prstGeom prst="rect">
            <a:avLst/>
          </a:prstGeom>
        </p:spPr>
        <p:txBody>
          <a:bodyPr anchor="t" rtlCol="false" tIns="0" lIns="0" bIns="0" rIns="0">
            <a:spAutoFit/>
          </a:bodyPr>
          <a:lstStyle/>
          <a:p>
            <a:pPr algn="ctr">
              <a:lnSpc>
                <a:spcPts val="5561"/>
              </a:lnSpc>
            </a:pPr>
            <a:r>
              <a:rPr lang="en-US" sz="4634">
                <a:solidFill>
                  <a:srgbClr val="37A4DB"/>
                </a:solidFill>
                <a:latin typeface="More Sugar"/>
                <a:ea typeface="More Sugar"/>
                <a:cs typeface="More Sugar"/>
                <a:sym typeface="More Sugar"/>
              </a:rPr>
              <a:t>UI STYLE GUIDE</a:t>
            </a:r>
          </a:p>
        </p:txBody>
      </p:sp>
      <p:sp>
        <p:nvSpPr>
          <p:cNvPr name="TextBox 13" id="13"/>
          <p:cNvSpPr txBox="true"/>
          <p:nvPr/>
        </p:nvSpPr>
        <p:spPr>
          <a:xfrm rot="0">
            <a:off x="1286499" y="3666816"/>
            <a:ext cx="15276025" cy="1047750"/>
          </a:xfrm>
          <a:prstGeom prst="rect">
            <a:avLst/>
          </a:prstGeom>
        </p:spPr>
        <p:txBody>
          <a:bodyPr anchor="t" rtlCol="false" tIns="0" lIns="0" bIns="0" rIns="0">
            <a:spAutoFit/>
          </a:bodyPr>
          <a:lstStyle/>
          <a:p>
            <a:pPr algn="l" marL="0" indent="0" lvl="0">
              <a:lnSpc>
                <a:spcPts val="4200"/>
              </a:lnSpc>
              <a:spcBef>
                <a:spcPct val="0"/>
              </a:spcBef>
            </a:pPr>
            <a:r>
              <a:rPr lang="en-US" b="true" sz="3000" u="sng">
                <a:solidFill>
                  <a:srgbClr val="000000"/>
                </a:solidFill>
                <a:latin typeface="Open Sans Bold"/>
                <a:ea typeface="Open Sans Bold"/>
                <a:cs typeface="Open Sans Bold"/>
                <a:sym typeface="Open Sans Bold"/>
                <a:hlinkClick r:id="rId12" tooltip="https://www.figma.com/design/EUd196AcgzlmVeMxYgauHq/UI-STYLE-GUIDE?node-id=39-2&amp;t=638jm4mwCAKn8ZQa-1"/>
              </a:rPr>
              <a:t>https://www.figma.com/design/EUd196AcgzlmVeMxYgauHq/UI-STYLE-GUIDE?node-id=39-2&amp;t=638jm4mwCAKn8ZQa-1</a:t>
            </a:r>
          </a:p>
        </p:txBody>
      </p:sp>
      <p:sp>
        <p:nvSpPr>
          <p:cNvPr name="TextBox 14" id="14"/>
          <p:cNvSpPr txBox="true"/>
          <p:nvPr/>
        </p:nvSpPr>
        <p:spPr>
          <a:xfrm rot="0">
            <a:off x="1286499" y="2466666"/>
            <a:ext cx="10061127" cy="1028700"/>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000000"/>
                </a:solidFill>
                <a:latin typeface="Open Sans Bold"/>
                <a:ea typeface="Open Sans Bold"/>
                <a:cs typeface="Open Sans Bold"/>
                <a:sym typeface="Open Sans Bold"/>
              </a:rPr>
              <a:t>Link Figma UI Style Guide : </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6244326" y="86902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51427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730" y="649935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914176" y="95066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064426" y="49148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99226" y="27310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7600626" y="569014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592253" y="7949594"/>
            <a:ext cx="2345563" cy="1911808"/>
          </a:xfrm>
          <a:custGeom>
            <a:avLst/>
            <a:gdLst/>
            <a:ahLst/>
            <a:cxnLst/>
            <a:rect r="r" b="b" t="t" l="l"/>
            <a:pathLst>
              <a:path h="1911808" w="2345563">
                <a:moveTo>
                  <a:pt x="0" y="0"/>
                </a:moveTo>
                <a:lnTo>
                  <a:pt x="2345562" y="0"/>
                </a:lnTo>
                <a:lnTo>
                  <a:pt x="2345562" y="1911808"/>
                </a:lnTo>
                <a:lnTo>
                  <a:pt x="0" y="1911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2941780"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7794516"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8107368"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3273206"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604632" y="4542200"/>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9874230"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9530952" y="4781164"/>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8426970" y="425665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4894468"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4551190" y="6962886"/>
            <a:ext cx="253136" cy="589628"/>
          </a:xfrm>
          <a:custGeom>
            <a:avLst/>
            <a:gdLst/>
            <a:ahLst/>
            <a:cxnLst/>
            <a:rect r="r" b="b" t="t" l="l"/>
            <a:pathLst>
              <a:path h="589628" w="253136">
                <a:moveTo>
                  <a:pt x="0" y="0"/>
                </a:moveTo>
                <a:lnTo>
                  <a:pt x="253136" y="0"/>
                </a:lnTo>
                <a:lnTo>
                  <a:pt x="253136" y="589628"/>
                </a:lnTo>
                <a:lnTo>
                  <a:pt x="0" y="5896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409554" y="-505700"/>
            <a:ext cx="5169274" cy="3371266"/>
          </a:xfrm>
          <a:custGeom>
            <a:avLst/>
            <a:gdLst/>
            <a:ahLst/>
            <a:cxnLst/>
            <a:rect r="r" b="b" t="t" l="l"/>
            <a:pathLst>
              <a:path h="3371266" w="5169274">
                <a:moveTo>
                  <a:pt x="0" y="0"/>
                </a:moveTo>
                <a:lnTo>
                  <a:pt x="5169274" y="0"/>
                </a:lnTo>
                <a:lnTo>
                  <a:pt x="5169274" y="3371266"/>
                </a:lnTo>
                <a:lnTo>
                  <a:pt x="0" y="33712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14181999" y="-942032"/>
            <a:ext cx="2374761" cy="2532994"/>
          </a:xfrm>
          <a:custGeom>
            <a:avLst/>
            <a:gdLst/>
            <a:ahLst/>
            <a:cxnLst/>
            <a:rect r="r" b="b" t="t" l="l"/>
            <a:pathLst>
              <a:path h="2532994" w="2374761">
                <a:moveTo>
                  <a:pt x="0" y="0"/>
                </a:moveTo>
                <a:lnTo>
                  <a:pt x="2374761" y="0"/>
                </a:lnTo>
                <a:lnTo>
                  <a:pt x="2374761" y="2532994"/>
                </a:lnTo>
                <a:lnTo>
                  <a:pt x="0" y="253299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12870302" y="-1702473"/>
            <a:ext cx="2534015" cy="2769577"/>
          </a:xfrm>
          <a:custGeom>
            <a:avLst/>
            <a:gdLst/>
            <a:ahLst/>
            <a:cxnLst/>
            <a:rect r="r" b="b" t="t" l="l"/>
            <a:pathLst>
              <a:path h="2769577" w="2534015">
                <a:moveTo>
                  <a:pt x="0" y="0"/>
                </a:moveTo>
                <a:lnTo>
                  <a:pt x="2534014" y="0"/>
                </a:lnTo>
                <a:lnTo>
                  <a:pt x="2534014" y="2769577"/>
                </a:lnTo>
                <a:lnTo>
                  <a:pt x="0" y="27695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3" id="23"/>
          <p:cNvSpPr txBox="true"/>
          <p:nvPr/>
        </p:nvSpPr>
        <p:spPr>
          <a:xfrm rot="0">
            <a:off x="0" y="4375690"/>
            <a:ext cx="18288000" cy="1543050"/>
          </a:xfrm>
          <a:prstGeom prst="rect">
            <a:avLst/>
          </a:prstGeom>
        </p:spPr>
        <p:txBody>
          <a:bodyPr anchor="t" rtlCol="false" tIns="0" lIns="0" bIns="0" rIns="0">
            <a:spAutoFit/>
          </a:bodyPr>
          <a:lstStyle/>
          <a:p>
            <a:pPr algn="ctr">
              <a:lnSpc>
                <a:spcPts val="4080"/>
              </a:lnSpc>
            </a:pPr>
            <a:r>
              <a:rPr lang="en-US" sz="3400" b="true">
                <a:solidFill>
                  <a:srgbClr val="000000"/>
                </a:solidFill>
                <a:latin typeface="Open Sans Bold"/>
                <a:ea typeface="Open Sans Bold"/>
                <a:cs typeface="Open Sans Bold"/>
                <a:sym typeface="Open Sans Bold"/>
              </a:rPr>
              <a:t>Link figma prototipe:</a:t>
            </a:r>
          </a:p>
          <a:p>
            <a:pPr algn="ctr">
              <a:lnSpc>
                <a:spcPts val="4080"/>
              </a:lnSpc>
              <a:spcBef>
                <a:spcPct val="0"/>
              </a:spcBef>
            </a:pPr>
            <a:r>
              <a:rPr lang="en-US" b="true" sz="3400" u="sng">
                <a:solidFill>
                  <a:srgbClr val="000000"/>
                </a:solidFill>
                <a:latin typeface="Open Sans Bold"/>
                <a:ea typeface="Open Sans Bold"/>
                <a:cs typeface="Open Sans Bold"/>
                <a:sym typeface="Open Sans Bold"/>
                <a:hlinkClick r:id="rId17" tooltip="https://www.figma.com/design/PyCyMKOQivC12WdPfXpDCa/Untitled?node-id=0-1&amp;t=y0hWkM0pxfe1tHss-1"/>
              </a:rPr>
              <a:t>https://www.figma.com/board/gs2nm7evoHRroooTMkktpB/Untitled?t=cPIrQHmNG4YARHct-6</a:t>
            </a:r>
          </a:p>
        </p:txBody>
      </p:sp>
      <p:sp>
        <p:nvSpPr>
          <p:cNvPr name="TextBox 24" id="24"/>
          <p:cNvSpPr txBox="true"/>
          <p:nvPr/>
        </p:nvSpPr>
        <p:spPr>
          <a:xfrm rot="0">
            <a:off x="-318597" y="670855"/>
            <a:ext cx="18925193" cy="2594912"/>
          </a:xfrm>
          <a:prstGeom prst="rect">
            <a:avLst/>
          </a:prstGeom>
        </p:spPr>
        <p:txBody>
          <a:bodyPr anchor="t" rtlCol="false" tIns="0" lIns="0" bIns="0" rIns="0">
            <a:spAutoFit/>
          </a:bodyPr>
          <a:lstStyle/>
          <a:p>
            <a:pPr algn="ctr">
              <a:lnSpc>
                <a:spcPts val="10224"/>
              </a:lnSpc>
            </a:pPr>
            <a:r>
              <a:rPr lang="en-US" sz="8520">
                <a:solidFill>
                  <a:srgbClr val="37A4DB"/>
                </a:solidFill>
                <a:latin typeface="More Sugar"/>
                <a:ea typeface="More Sugar"/>
                <a:cs typeface="More Sugar"/>
                <a:sym typeface="More Sugar"/>
              </a:rPr>
              <a:t>Interactive </a:t>
            </a:r>
          </a:p>
          <a:p>
            <a:pPr algn="ctr">
              <a:lnSpc>
                <a:spcPts val="10224"/>
              </a:lnSpc>
            </a:pPr>
            <a:r>
              <a:rPr lang="en-US" sz="8520">
                <a:solidFill>
                  <a:srgbClr val="37A4DB"/>
                </a:solidFill>
                <a:latin typeface="More Sugar"/>
                <a:ea typeface="More Sugar"/>
                <a:cs typeface="More Sugar"/>
                <a:sym typeface="More Sugar"/>
              </a:rPr>
              <a:t>Prototipe</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460314" y="1840902"/>
            <a:ext cx="6580183" cy="8267410"/>
          </a:xfrm>
          <a:custGeom>
            <a:avLst/>
            <a:gdLst/>
            <a:ahLst/>
            <a:cxnLst/>
            <a:rect r="r" b="b" t="t" l="l"/>
            <a:pathLst>
              <a:path h="8267410" w="6580183">
                <a:moveTo>
                  <a:pt x="0" y="0"/>
                </a:moveTo>
                <a:lnTo>
                  <a:pt x="6580183" y="0"/>
                </a:lnTo>
                <a:lnTo>
                  <a:pt x="6580183" y="8267409"/>
                </a:lnTo>
                <a:lnTo>
                  <a:pt x="0" y="8267409"/>
                </a:lnTo>
                <a:lnTo>
                  <a:pt x="0" y="0"/>
                </a:lnTo>
                <a:close/>
              </a:path>
            </a:pathLst>
          </a:custGeom>
          <a:blipFill>
            <a:blip r:embed="rId12"/>
            <a:stretch>
              <a:fillRect l="0" t="0" r="0" b="0"/>
            </a:stretch>
          </a:blipFill>
        </p:spPr>
      </p:sp>
      <p:sp>
        <p:nvSpPr>
          <p:cNvPr name="TextBox 13" id="13"/>
          <p:cNvSpPr txBox="true"/>
          <p:nvPr/>
        </p:nvSpPr>
        <p:spPr>
          <a:xfrm rot="0">
            <a:off x="1460314" y="1128229"/>
            <a:ext cx="4577372" cy="712673"/>
          </a:xfrm>
          <a:prstGeom prst="rect">
            <a:avLst/>
          </a:prstGeom>
        </p:spPr>
        <p:txBody>
          <a:bodyPr anchor="t" rtlCol="false" tIns="0" lIns="0" bIns="0" rIns="0">
            <a:spAutoFit/>
          </a:bodyPr>
          <a:lstStyle/>
          <a:p>
            <a:pPr algn="ctr">
              <a:lnSpc>
                <a:spcPts val="5561"/>
              </a:lnSpc>
            </a:pPr>
            <a:r>
              <a:rPr lang="en-US" sz="4634">
                <a:solidFill>
                  <a:srgbClr val="37A4DB"/>
                </a:solidFill>
                <a:latin typeface="More Sugar"/>
                <a:ea typeface="More Sugar"/>
                <a:cs typeface="More Sugar"/>
                <a:sym typeface="More Sugar"/>
              </a:rPr>
              <a:t>SKENARIO UJI</a:t>
            </a:r>
          </a:p>
        </p:txBody>
      </p:sp>
      <p:sp>
        <p:nvSpPr>
          <p:cNvPr name="TextBox 14" id="14"/>
          <p:cNvSpPr txBox="true"/>
          <p:nvPr/>
        </p:nvSpPr>
        <p:spPr>
          <a:xfrm rot="0">
            <a:off x="9616686" y="2686126"/>
            <a:ext cx="7890640" cy="6591300"/>
          </a:xfrm>
          <a:prstGeom prst="rect">
            <a:avLst/>
          </a:prstGeom>
        </p:spPr>
        <p:txBody>
          <a:bodyPr anchor="t" rtlCol="false" tIns="0" lIns="0" bIns="0" rIns="0">
            <a:spAutoFit/>
          </a:bodyPr>
          <a:lstStyle/>
          <a:p>
            <a:pPr algn="just">
              <a:lnSpc>
                <a:spcPts val="4039"/>
              </a:lnSpc>
              <a:spcBef>
                <a:spcPct val="0"/>
              </a:spcBef>
            </a:pPr>
            <a:r>
              <a:rPr lang="en-US" sz="3366">
                <a:solidFill>
                  <a:srgbClr val="000000"/>
                </a:solidFill>
                <a:latin typeface="Times New Roman"/>
                <a:ea typeface="Times New Roman"/>
                <a:cs typeface="Times New Roman"/>
                <a:sym typeface="Times New Roman"/>
              </a:rPr>
              <a:t>Prototipe interaktif </a:t>
            </a:r>
            <a:r>
              <a:rPr lang="en-US" sz="3366">
                <a:solidFill>
                  <a:srgbClr val="000000"/>
                </a:solidFill>
                <a:latin typeface="Times New Roman"/>
                <a:ea typeface="Times New Roman"/>
                <a:cs typeface="Times New Roman"/>
                <a:sym typeface="Times New Roman"/>
              </a:rPr>
              <a:t>TEMANI dibangun menggunakan Figma dengan total 73 koneksi interaksi yang mencakup seluruh alur fungsional. Interaksi diaktifkan melalui trigger On Tap pada elemen tombol, kartu, dan menu navigasi. Untuk menghadirkan pengalaman pengguna yang realistis (native feel), transisi menggunakan fitur Smart Animate dan Push. Selain itu, sistem Bottom Navigation diterapkan secara konsisten pada Screen 11-30 guna memastikan akses cepat dan kemudahan navigasi antar fitur utama bagi pengguna. </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79D3FE"/>
        </a:solidFill>
      </p:bgPr>
    </p:bg>
    <p:spTree>
      <p:nvGrpSpPr>
        <p:cNvPr id="1" name=""/>
        <p:cNvGrpSpPr/>
        <p:nvPr/>
      </p:nvGrpSpPr>
      <p:grpSpPr>
        <a:xfrm>
          <a:off x="0" y="0"/>
          <a:ext cx="0" cy="0"/>
          <a:chOff x="0" y="0"/>
          <a:chExt cx="0" cy="0"/>
        </a:xfrm>
      </p:grpSpPr>
      <p:sp>
        <p:nvSpPr>
          <p:cNvPr name="Freeform 2" id="2"/>
          <p:cNvSpPr/>
          <p:nvPr/>
        </p:nvSpPr>
        <p:spPr>
          <a:xfrm flipH="false" flipV="false" rot="0">
            <a:off x="11757626" y="92774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11976" y="577967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84444" y="414427"/>
            <a:ext cx="1835970" cy="1941432"/>
          </a:xfrm>
          <a:custGeom>
            <a:avLst/>
            <a:gdLst/>
            <a:ahLst/>
            <a:cxnLst/>
            <a:rect r="r" b="b" t="t" l="l"/>
            <a:pathLst>
              <a:path h="1941432" w="1835970">
                <a:moveTo>
                  <a:pt x="0" y="0"/>
                </a:moveTo>
                <a:lnTo>
                  <a:pt x="1835970" y="0"/>
                </a:lnTo>
                <a:lnTo>
                  <a:pt x="1835970" y="1941432"/>
                </a:lnTo>
                <a:lnTo>
                  <a:pt x="0" y="1941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1346" y="-1341034"/>
            <a:ext cx="2842799" cy="2708123"/>
          </a:xfrm>
          <a:custGeom>
            <a:avLst/>
            <a:gdLst/>
            <a:ahLst/>
            <a:cxnLst/>
            <a:rect r="r" b="b" t="t" l="l"/>
            <a:pathLst>
              <a:path h="2708123" w="2842799">
                <a:moveTo>
                  <a:pt x="0" y="0"/>
                </a:moveTo>
                <a:lnTo>
                  <a:pt x="2842799" y="0"/>
                </a:lnTo>
                <a:lnTo>
                  <a:pt x="2842799" y="2708123"/>
                </a:lnTo>
                <a:lnTo>
                  <a:pt x="0" y="27081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7314976" y="52562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507326" y="913609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857776" y="3266766"/>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60314" y="2133194"/>
            <a:ext cx="374735" cy="374735"/>
          </a:xfrm>
          <a:custGeom>
            <a:avLst/>
            <a:gdLst/>
            <a:ahLst/>
            <a:cxnLst/>
            <a:rect r="r" b="b" t="t" l="l"/>
            <a:pathLst>
              <a:path h="374735" w="374735">
                <a:moveTo>
                  <a:pt x="0" y="0"/>
                </a:moveTo>
                <a:lnTo>
                  <a:pt x="374735" y="0"/>
                </a:lnTo>
                <a:lnTo>
                  <a:pt x="374735" y="374735"/>
                </a:lnTo>
                <a:lnTo>
                  <a:pt x="0" y="374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31147" y="1917102"/>
            <a:ext cx="407803" cy="531757"/>
          </a:xfrm>
          <a:custGeom>
            <a:avLst/>
            <a:gdLst/>
            <a:ahLst/>
            <a:cxnLst/>
            <a:rect r="r" b="b" t="t" l="l"/>
            <a:pathLst>
              <a:path h="531757" w="407803">
                <a:moveTo>
                  <a:pt x="0" y="0"/>
                </a:moveTo>
                <a:lnTo>
                  <a:pt x="407804" y="0"/>
                </a:lnTo>
                <a:lnTo>
                  <a:pt x="407804" y="531757"/>
                </a:lnTo>
                <a:lnTo>
                  <a:pt x="0" y="5317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890426" y="205150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835049" y="1823327"/>
            <a:ext cx="6709868" cy="8369898"/>
          </a:xfrm>
          <a:custGeom>
            <a:avLst/>
            <a:gdLst/>
            <a:ahLst/>
            <a:cxnLst/>
            <a:rect r="r" b="b" t="t" l="l"/>
            <a:pathLst>
              <a:path h="8369898" w="6709868">
                <a:moveTo>
                  <a:pt x="0" y="0"/>
                </a:moveTo>
                <a:lnTo>
                  <a:pt x="6709869" y="0"/>
                </a:lnTo>
                <a:lnTo>
                  <a:pt x="6709869" y="8369898"/>
                </a:lnTo>
                <a:lnTo>
                  <a:pt x="0" y="8369898"/>
                </a:lnTo>
                <a:lnTo>
                  <a:pt x="0" y="0"/>
                </a:lnTo>
                <a:close/>
              </a:path>
            </a:pathLst>
          </a:custGeom>
          <a:blipFill>
            <a:blip r:embed="rId12"/>
            <a:stretch>
              <a:fillRect l="0" t="0" r="0" b="0"/>
            </a:stretch>
          </a:blipFill>
        </p:spPr>
      </p:sp>
      <p:sp>
        <p:nvSpPr>
          <p:cNvPr name="TextBox 13" id="13"/>
          <p:cNvSpPr txBox="true"/>
          <p:nvPr/>
        </p:nvSpPr>
        <p:spPr>
          <a:xfrm rot="0">
            <a:off x="1460314" y="1128229"/>
            <a:ext cx="8074339" cy="712673"/>
          </a:xfrm>
          <a:prstGeom prst="rect">
            <a:avLst/>
          </a:prstGeom>
        </p:spPr>
        <p:txBody>
          <a:bodyPr anchor="t" rtlCol="false" tIns="0" lIns="0" bIns="0" rIns="0">
            <a:spAutoFit/>
          </a:bodyPr>
          <a:lstStyle/>
          <a:p>
            <a:pPr algn="ctr">
              <a:lnSpc>
                <a:spcPts val="5561"/>
              </a:lnSpc>
            </a:pPr>
            <a:r>
              <a:rPr lang="en-US" sz="4634">
                <a:solidFill>
                  <a:srgbClr val="37A4DB"/>
                </a:solidFill>
                <a:latin typeface="More Sugar"/>
                <a:ea typeface="More Sugar"/>
                <a:cs typeface="More Sugar"/>
                <a:sym typeface="More Sugar"/>
              </a:rPr>
              <a:t>CATATAN SCEANRIO UJI</a:t>
            </a:r>
          </a:p>
        </p:txBody>
      </p:sp>
      <p:sp>
        <p:nvSpPr>
          <p:cNvPr name="TextBox 14" id="14"/>
          <p:cNvSpPr txBox="true"/>
          <p:nvPr/>
        </p:nvSpPr>
        <p:spPr>
          <a:xfrm rot="0">
            <a:off x="9038648" y="2114144"/>
            <a:ext cx="8697278" cy="6724650"/>
          </a:xfrm>
          <a:prstGeom prst="rect">
            <a:avLst/>
          </a:prstGeom>
        </p:spPr>
        <p:txBody>
          <a:bodyPr anchor="t" rtlCol="false" tIns="0" lIns="0" bIns="0" rIns="0">
            <a:spAutoFit/>
          </a:bodyPr>
          <a:lstStyle/>
          <a:p>
            <a:pPr algn="just">
              <a:lnSpc>
                <a:spcPts val="3359"/>
              </a:lnSpc>
              <a:spcBef>
                <a:spcPct val="0"/>
              </a:spcBef>
            </a:pPr>
            <a:r>
              <a:rPr lang="en-US" sz="2799">
                <a:solidFill>
                  <a:srgbClr val="000000"/>
                </a:solidFill>
                <a:latin typeface="Times New Roman"/>
                <a:ea typeface="Times New Roman"/>
                <a:cs typeface="Times New Roman"/>
                <a:sym typeface="Times New Roman"/>
              </a:rPr>
              <a:t>Tabel Catatan Skenario Uji ini berfungsi sebagai log interaksi teknis yang mendokumentasikan setiap perpindahan layar di dalam prototipe aplikasi TEMANI. Kolom Nama Fitur mengelompokkan pengujian ke dalam kategori fungsional utama, seperti Onboarding, Jadwal, Riwayat, Edukasi, dan Profil. Setiap baris dalam tabel merinci alur pengguna secara presisi dengan menentukan Layar Asal dan Layar Tujuan, mulai dari tahap registrasi di Screen 4 hingga fitur monitoring di Screen 28. Bagian Interaksi (Trigger) menjelaskan bahwa seluruh perpindahan layar dipicu oleh aksi manual pengguna berupa Tap atau klik pada elemen spesifik seperti tombol, kartu vaksin, atau ikon navigasi. Status Berhasil pada kolom terakhir memvalidasi bahwa seluruh 73 koneksi interaksi yang telah dirancang di Figma berfungsi dengan lancar sesuai alur pengguna yang direncanakan.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DAHGcHIIgUw</dc:identifier>
  <dcterms:modified xsi:type="dcterms:W3CDTF">2011-08-01T06:04:30Z</dcterms:modified>
  <cp:revision>1</cp:revision>
  <dc:title>14_UIUX_09_Nicolas</dc:title>
</cp:coreProperties>
</file>